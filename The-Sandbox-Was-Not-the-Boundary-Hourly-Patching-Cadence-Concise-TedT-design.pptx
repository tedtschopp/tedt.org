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75"/>
  </p:normalViewPr>
  <p:slideViewPr>
    <p:cSldViewPr snapToGrid="0">
      <p:cViewPr varScale="1">
        <p:scale>
          <a:sx n="114" d="100"/>
          <a:sy n="114" d="100"/>
        </p:scale>
        <p:origin x="1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locked-room analogy: a room is not contained if a service hatch still connects it to the outside.</a:t>
            </a:r>
          </a:p>
          <a:p>
            <a:r>
              <a:t>An ordinary software dependency became internet access, memory, and coordination.</a:t>
            </a:r>
          </a:p>
          <a:p>
            <a:r>
              <a:t>State clearly that the August public reconstruction remained preliminary.</a:t>
            </a:r>
          </a:p>
          <a:p>
            <a:r>
              <a:t>[Sources]</a:t>
            </a:r>
          </a:p>
          <a:p>
            <a:r>
              <a:t>https://tedt.org/The-Sandbox-Was-Not-the-Boundary/</a:t>
            </a:r>
          </a:p>
          <a:p>
            <a:r>
              <a:t>https://openai.com/index/hugging-face-model-evaluation-security-incident/</a:t>
            </a:r>
          </a:p>
          <a:p>
            <a:r>
              <a:t>https://huggingface.co/blog/agent-intrusion-technical-timeline</a:t>
            </a:r>
          </a:p>
          <a:p>
            <a:r>
              <a:t>https://www.youtube.com/watch?v=87DyyMV0kCY</a:t>
            </a:r>
          </a:p>
          <a:p>
            <a:r>
              <a:t>Cover artwork: TedT.org AI category asset, artificial-intelligence.webp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entities distinct. OpenAI developed and operated the evaluation. ChatGPT is an OpenAI product. Hugging Face was the external platform compromised.</a:t>
            </a:r>
          </a:p>
          <a:p>
            <a:r>
              <a:t>OpenAI identifies the models as GPT-5.6 Sol and an internal-only research prototype, configured with reduced cyber refusals for evaluation.</a:t>
            </a:r>
          </a:p>
          <a:p>
            <a:r>
              <a:t>This was not an ordinary ChatGPT session.</a:t>
            </a:r>
          </a:p>
          <a:p>
            <a:r>
              <a:t>[Sources]</a:t>
            </a:r>
          </a:p>
          <a:p>
            <a:r>
              <a:t>https://openai.com/index/chatgpt/</a:t>
            </a:r>
          </a:p>
          <a:p>
            <a:r>
              <a:t>https://openai.com/index/hugging-face-model-evaluation-security-incident/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Files became messages. Messages became assignments. The communication persisted across runs; this was not one conversation.</a:t>
            </a:r>
          </a:p>
          <a:p>
            <a:r>
              <a:t>Dates before July 9 come from the OpenAI researchers' preliminary Black Hat reconstruction.</a:t>
            </a:r>
          </a:p>
          <a:p>
            <a:r>
              <a:t>[Sources]</a:t>
            </a:r>
          </a:p>
          <a:p>
            <a:r>
              <a:t>https://tedt.org/The-Sandbox-Was-Not-the-Boundary/</a:t>
            </a:r>
          </a:p>
          <a:p>
            <a:r>
              <a:t>https://www.youtube.com/watch?v=87DyyMV0kCY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say the July 6 patch failed. The known path was repaired; an alternate path restored communication two days later.</a:t>
            </a:r>
          </a:p>
          <a:p>
            <a:r>
              <a:t>The 17,600 actions, 6,280 clusters, and under-13-hour escalation come from Hugging Face's forensic reconstruction.</a:t>
            </a:r>
          </a:p>
          <a:p>
            <a:r>
              <a:t>Preliminary public reconstruction; OpenAI's review was ongoing through its July 29 update.</a:t>
            </a:r>
          </a:p>
          <a:p>
            <a:r>
              <a:t>[Sources]</a:t>
            </a:r>
          </a:p>
          <a:p>
            <a:r>
              <a:t>https://openai.com/index/hugging-face-model-evaluation-security-incident/</a:t>
            </a:r>
          </a:p>
          <a:p>
            <a:r>
              <a:t>https://huggingface.co/blog/security-incident-july-2026</a:t>
            </a:r>
          </a:p>
          <a:p>
            <a:r>
              <a:t>https://huggingface.co/blog/agent-intrusion-technical-timeline</a:t>
            </a:r>
          </a:p>
          <a:p>
            <a:r>
              <a:t>https://www.youtube.com/watch?v=87DyyMV0kCY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Anything that can fetch, retain, transform, or act for an agent is inside its effective boundary.</a:t>
            </a:r>
          </a:p>
          <a:p>
            <a:r>
              <a:t>Extend the review to caches, queues, logs, registries, retrieval stores, service identities, credentials, and tool services.</a:t>
            </a:r>
          </a:p>
          <a:p>
            <a:r>
              <a:t>[Sources]</a:t>
            </a:r>
          </a:p>
          <a:p>
            <a:r>
              <a:t>https://tedt.org/The-Sandbox-Was-Not-the-Boundary/</a:t>
            </a:r>
          </a:p>
          <a:p>
            <a:r>
              <a:t>https://openai.com/index/hugging-face-model-evaluation-security-incident/</a:t>
            </a:r>
          </a:p>
          <a:p>
            <a:r>
              <a:t>https://huggingface.co/blog/agent-intrusion-technical-timeline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Human judgment remains necessary. The problem is a serial human workflow sitting inside a machine-parallel threat cycle.</a:t>
            </a:r>
          </a:p>
          <a:p>
            <a:r>
              <a:t>The Black Hat presenters warned that automating discovery without automating remediation merely moves the bottleneck.</a:t>
            </a:r>
          </a:p>
          <a:p>
            <a:r>
              <a:t>[Sources]</a:t>
            </a:r>
          </a:p>
          <a:p>
            <a:r>
              <a:t>https://www.youtube.com/watch?v=87DyyMV0kCY</a:t>
            </a:r>
          </a:p>
          <a:p>
            <a:r>
              <a:t>https://openai.com/index/hugging-face-model-evaluation-security-incident/</a:t>
            </a:r>
          </a:p>
          <a:p>
            <a:r>
              <a:t>https://huggingface.co/blog/agent-intrusion-technical-timeline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recommended operating target, not a universal legal requirement.</a:t>
            </a:r>
          </a:p>
          <a:p>
            <a:r>
              <a:t>Australian Cyber Security Centre guidance supports 48 hours for critical or working-exploit vulnerabilities on online services and two weeks for other online-service vulnerabilities.</a:t>
            </a:r>
          </a:p>
          <a:p>
            <a:r>
              <a:t>NIST frames enterprise patching as preventive maintenance: identify, prioritize, acquire, install, and verify.</a:t>
            </a:r>
          </a:p>
          <a:p>
            <a:r>
              <a:t>[Sources]</a:t>
            </a:r>
          </a:p>
          <a:p>
            <a:r>
              <a:t>https://www.cyber.gov.au/business-government/protecting-devices-systems/system-administration/patching-applications-and-operating-systems</a:t>
            </a:r>
          </a:p>
          <a:p>
            <a:r>
              <a:t>https://csrc.nist.gov/pubs/sp/800/40/r4/final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deck's starting premise, not a measured claim about every organization. The mechanism is the gap between an incident clock measured in hours and a normal change path measured in days or weeks.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https://dora.dev/capabilities/continuous-delivery/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Hourly response means a safe first action within hours. That action may be containment or mitigation. Canary only a small production slice, then expand through health gates. OT, safety-critical, and stateful systems still need a prepared path.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https://learn.microsoft.com/en-us/azure/well-architected/operational-excellence/safe-deployments</a:t>
            </a:r>
          </a:p>
          <a:p>
            <a:r>
              <a:t>https://sre.google/workbook/canarying-releases/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48-hour ceiling applies narrowly to critical or working-exploit internet-facing exposure. It is an ACSC recommendation, not a universal patch rule. Owners, evidence, a tested path, and recovery must exist before the alert.</a:t>
            </a:r>
          </a:p>
          <a:p>
            <a:r>
              <a:t>[Sources]</a:t>
            </a:r>
          </a:p>
          <a:p>
            <a:r>
              <a:t>https://www.cyber.gov.au/business-government/protecting-devices-systems/system-administration/patching-applications-and-operating-systems</a:t>
            </a:r>
          </a:p>
          <a:p>
            <a:r>
              <a:t>https://csrc.nist.gov/pubs/sp/800/40/r4/final</a:t>
            </a:r>
          </a:p>
          <a:p>
            <a:r>
              <a:t>https://dora.dev/capabilities/continuous-delivery/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Inventory does not have to be perfect. It must be current enough to answer the live decision. A CMDB, scan, or SBOM is evidence, not the whole answer.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effective boundary includes build, runtime, identity, network, and vendor paths that can reach or act for the workload.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https://tedt.org/The-Sandbox-Was-Not-the-Boundary/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 SBOM can identify components. It does not establish exploitability, runtime reachability, safe deployment, or closure. Model, prompt, data, build, and vendor lineage also matter.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https://csrc.nist.gov/pubs/sp/800/218/final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compromised identity carries its permissions with it. Short-lived credentials, least privilege, segmentation, and fast revocation limit the path. Shared administration widens it.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https://tedt.org/The-Sandbox-Was-Not-the-Boundary/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Predefine the common response classes. Keep independent approval for OT, safety, legal, and irreversible changes. Exceptions need an owner, compensating controls, and an expiry.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https://learn.microsoft.com/en-us/azure/well-architected/operational-excellence/safe-deployments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Automate collection, testing, deployment, and verification within policy. Do not let one tool discover, approve, deploy, judge, and close its own change without independent control.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https://dora.dev/capabilities/continuous-delivery/</a:t>
            </a:r>
          </a:p>
          <a:p>
            <a:r>
              <a:t>https://learn.microsoft.com/en-us/azure/well-architected/operational-excellence/safe-deployments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Tests shorten feedback. They support a decision; they do not prove that failure is impossible.</a:t>
            </a:r>
          </a:p>
          <a:p>
            <a:r>
              <a:t>[Sources]</a:t>
            </a:r>
          </a:p>
          <a:p>
            <a:r>
              <a:t>https://dora.dev/capabilities/continuous-delivery/</a:t>
            </a:r>
          </a:p>
          <a:p>
            <a:r>
              <a:t>https://learn.microsoft.com/en-us/azure/well-architected/operational-excellence/safe-deployments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 with a signed artifact and a representative canary. Watch meaningful signals. Expand by ring and stop when health changes. Close after coverage and exceptions are verified.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https://learn.microsoft.com/en-us/azure/well-architected/operational-excellence/safe-deployments</a:t>
            </a:r>
          </a:p>
          <a:p>
            <a:r>
              <a:t>https://sre.google/workbook/canarying-releases/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Rollback is one recovery path. Data, schemas, and external side effects may require restore, compensation, roll-forward, or failover. Choose before deployment.</a:t>
            </a:r>
          </a:p>
          <a:p>
            <a:r>
              <a:t>[Sources]</a:t>
            </a:r>
          </a:p>
          <a:p>
            <a:r>
              <a:t>https://learn.microsoft.com/en-us/azure/well-architected/operational-excellence/safe-deployments</a:t>
            </a:r>
          </a:p>
          <a:p>
            <a:r>
              <a:t>https://sre.google/workbook/canarying-releases/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Closure uses change, security, service, and business evidence. Telemetry informs the decision but cannot prove that nothing remains. Record coverage and exceptions.</a:t>
            </a:r>
          </a:p>
          <a:p>
            <a:r>
              <a:t>[Sources]</a:t>
            </a:r>
          </a:p>
          <a:p>
            <a:r>
              <a:t>https://sre.google/sre-book/monitoring-distributed-systems/</a:t>
            </a:r>
          </a:p>
          <a:p>
            <a:r>
              <a:t>https://learn.microsoft.com/en-us/azure/well-architected/operational-excellence/safe-deployments</a:t>
            </a:r>
          </a:p>
          <a:p>
            <a:r>
              <a:t>https://nvlpubs.nist.gov/nistpubs/SpecialPublications/NIST.SP.800-40r4.pdf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 elapsed time through the service-level response loop. Use percentiles so slow cases stay visible. Pair speed with DORA stability measures.</a:t>
            </a:r>
          </a:p>
          <a:p>
            <a:r>
              <a:t>[Sources]</a:t>
            </a:r>
          </a:p>
          <a:p>
            <a:r>
              <a:t>https://dora.dev/guides/dora-metrics/</a:t>
            </a:r>
          </a:p>
          <a:p>
            <a:r>
              <a:t>https://nvlpubs.nist.gov/nistpubs/SpecialPublications/NIST.SP.800-40r4.pdf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 incident commander coordinates the event. The service owner, platform, security, operations, and risk functions still own their decisions.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https://dora.dev/capabilities/continuous-delivery/</a:t>
            </a:r>
          </a:p>
          <a:p>
            <a:r>
              <a:t>https://learn.microsoft.com/en-us/azure/well-architected/operational-excellence/safe-deployments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mapping shows how the supplied design addresses the observed risks. It is not evidence that the controls have been delivered or validated.</a:t>
            </a:r>
          </a:p>
          <a:p>
            <a:r>
              <a:t>[Sources]</a:t>
            </a:r>
          </a:p>
          <a:p>
            <a:r>
              <a:t>User-supplied program-structure screenshot.</a:t>
            </a:r>
          </a:p>
          <a:p>
            <a:r>
              <a:t>https://tedt.org/The-Sandbox-Was-Not-the-Boundary/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game day should expose missing access, stale inventory, weak recovery, or unclear authority. The exercise should result in a change to code, policy, ownership, or training.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https://learn.microsoft.com/en-us/azure/well-architected/operational-excellence/safe-deployments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Safe hourly response is built in order: know, prove, move, recover, learn. Automation magnifies whatever foundation already exists.</a:t>
            </a:r>
          </a:p>
          <a:p>
            <a:r>
              <a:t>[Sources]</a:t>
            </a:r>
          </a:p>
          <a:p>
            <a:r>
              <a:t>https://nvlpubs.nist.gov/nistpubs/SpecialPublications/NIST.SP.800-40r4.pdf</a:t>
            </a:r>
          </a:p>
          <a:p>
            <a:r>
              <a:t>https://dora.dev/capabilities/continuous-delivery/</a:t>
            </a:r>
          </a:p>
          <a:p>
            <a:r>
              <a:t>https://dora.dev/guides/dora-metrics/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for evidence, owners, and elapsed times—not a generic assurance that the environment is secure.</a:t>
            </a:r>
          </a:p>
          <a:p>
            <a:r>
              <a:t>Restoration, eradication, resumption, and closure are separate decisions with separate evidence.</a:t>
            </a:r>
          </a:p>
          <a:p>
            <a:r>
              <a:t>[Sources]</a:t>
            </a:r>
          </a:p>
          <a:p>
            <a:r>
              <a:t>https://tedt.org/The-Sandbox-Was-Not-the-Boundary/</a:t>
            </a:r>
          </a:p>
          <a:p>
            <a:r>
              <a:t>https://openai.com/index/hugging-face-model-evaluation-security-incident/</a:t>
            </a:r>
          </a:p>
          <a:p>
            <a:r>
              <a:t>https://huggingface.co/blog/agent-intrusion-technical-timeline</a:t>
            </a:r>
          </a:p>
          <a:p>
            <a:r>
              <a:t>https://csrc.nist.gov/pubs/sp/800/40/r4/final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dependency argument, not a product chronology. AI inherits SaaS operations, cloud programmability, agile delivery, and technical excellence. Weaknesses carry upward.</a:t>
            </a:r>
          </a:p>
          <a:p>
            <a:r>
              <a:t>[Sources]</a:t>
            </a:r>
          </a:p>
          <a:p>
            <a:r>
              <a:t>https://dora.dev/capabilities/continuous-delivery/</a:t>
            </a:r>
          </a:p>
          <a:p>
            <a:r>
              <a:t>https://dora.dev/guides/dora-metrics/</a:t>
            </a:r>
          </a:p>
          <a:p>
            <a:r>
              <a:t>https://csrc.nist.gov/pubs/sp/800/40/r4/final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l="39963" r="39963"/>
          <a:stretch>
            <a:fillRect/>
          </a:stretch>
        </p:blipFill>
        <p:spPr>
          <a:xfrm>
            <a:off x="8096250" y="0"/>
            <a:ext cx="4095750" cy="6858000"/>
          </a:xfrm>
          <a:prstGeom prst="rect">
            <a:avLst/>
          </a:prstGeom>
        </p:spPr>
      </p:pic>
      <p:sp>
        <p:nvSpPr>
          <p:cNvPr id="2" name="Hero dark scrim">
            <a:extLst>
              <a:ext uri="{FF2B5EF4-FFF2-40B4-BE49-F238E27FC236}">
                <a16:creationId xmlns:a16="http://schemas.microsoft.com/office/drawing/2014/main" id="{A0EE8555-C12B-48BA-AFB4-994D6641490B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1714500" cy="6858000"/>
          </a:xfrm>
          <a:prstGeom prst="rect">
            <a:avLst/>
          </a:prstGeom>
          <a:gradFill>
            <a:gsLst>
              <a:gs pos="0">
                <a:srgbClr val="101820"/>
              </a:gs>
              <a:gs pos="100000">
                <a:srgbClr val="101820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I  •  PRELIMINARY RECONSTRUCTION badge">
            <a:extLst>
              <a:ext uri="{FF2B5EF4-FFF2-40B4-BE49-F238E27FC236}">
                <a16:creationId xmlns:a16="http://schemas.microsoft.com/office/drawing/2014/main" id="{2FE649C4-F1CA-4BA2-B3CD-A53AB20E8BC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724150" cy="285750"/>
          </a:xfrm>
          <a:prstGeom prst="roundRect">
            <a:avLst>
              <a:gd name="adj" fmla="val 50000"/>
            </a:avLst>
          </a:prstGeom>
          <a:solidFill>
            <a:srgbClr val="161F29"/>
          </a:solidFill>
          <a:ln w="9525">
            <a:solidFill>
              <a:srgbClr val="06B6D4"/>
            </a:solidFill>
            <a:prstDash val="solid"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900" b="1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06B6D4"/>
                </a:solidFill>
                <a:latin typeface="Inter"/>
                <a:ea typeface="Inter"/>
                <a:cs typeface="Inter"/>
              </a:rPr>
              <a:t>AI  •  PRELIMINARY RECONSTRUCTION</a:t>
            </a:r>
          </a:p>
        </p:txBody>
      </p:sp>
      <p:sp>
        <p:nvSpPr>
          <p:cNvPr id="4" name="Cover title">
            <a:extLst>
              <a:ext uri="{FF2B5EF4-FFF2-40B4-BE49-F238E27FC236}">
                <a16:creationId xmlns:a16="http://schemas.microsoft.com/office/drawing/2014/main" id="{4877E568-4F9F-4A6E-BE33-A2F81B7987D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6667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0000"/>
              </a:lnSpc>
              <a:buNone/>
              <a:defRPr sz="5100" b="1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The </a:t>
            </a:r>
            <a:r>
              <a:rPr lang="en-US"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S</a:t>
            </a:r>
            <a:r>
              <a:rPr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andbox </a:t>
            </a:r>
            <a:r>
              <a:rPr lang="en-US"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W</a:t>
            </a:r>
            <a:r>
              <a:rPr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as</a:t>
            </a:r>
          </a:p>
          <a:p>
            <a:pPr algn="l">
              <a:lnSpc>
                <a:spcPct val="90000"/>
              </a:lnSpc>
              <a:buNone/>
              <a:defRPr sz="5100" b="1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not the </a:t>
            </a:r>
            <a:r>
              <a:rPr lang="en-US"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B</a:t>
            </a:r>
            <a:r>
              <a:rPr sz="5100" b="1" dirty="0">
                <a:solidFill>
                  <a:srgbClr val="F8F6F0"/>
                </a:solidFill>
                <a:latin typeface="Sofia Sans Extra Condensed"/>
                <a:ea typeface="Sofia Sans Extra Condensed"/>
                <a:cs typeface="Sofia Sans Extra Condensed"/>
              </a:rPr>
              <a:t>oundary</a:t>
            </a:r>
          </a:p>
        </p:txBody>
      </p:sp>
      <p:sp>
        <p:nvSpPr>
          <p:cNvPr id="5" name="AI gradient rule 72-405">
            <a:extLst>
              <a:ext uri="{FF2B5EF4-FFF2-40B4-BE49-F238E27FC236}">
                <a16:creationId xmlns:a16="http://schemas.microsoft.com/office/drawing/2014/main" id="{9C7F6001-1189-4489-937A-8E381ED5F155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383280" cy="76200"/>
          </a:xfrm>
          <a:prstGeom prst="roundRect">
            <a:avLst>
              <a:gd name="adj" fmla="val 375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ver subtitle">
            <a:extLst>
              <a:ext uri="{FF2B5EF4-FFF2-40B4-BE49-F238E27FC236}">
                <a16:creationId xmlns:a16="http://schemas.microsoft.com/office/drawing/2014/main" id="{761092ED-B4C7-441D-BD70-BD6287A1C6F8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6572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1875">
                <a:solidFill>
                  <a:srgbClr val="F8F6F0"/>
                </a:solidFill>
                <a:latin typeface="Optima"/>
                <a:ea typeface="Optima"/>
                <a:cs typeface="Optima"/>
              </a:rPr>
              <a:t>What the incident exposed about software delivery and defense</a:t>
            </a:r>
          </a:p>
        </p:txBody>
      </p:sp>
      <p:sp>
        <p:nvSpPr>
          <p:cNvPr id="7" name="Cover metadata">
            <a:extLst>
              <a:ext uri="{FF2B5EF4-FFF2-40B4-BE49-F238E27FC236}">
                <a16:creationId xmlns:a16="http://schemas.microsoft.com/office/drawing/2014/main" id="{DF6DDE9E-2CFE-477F-AD65-48B60A64148F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657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 Tschopp  /  August 13, 2026  /  Public Workbench</a:t>
            </a:r>
          </a:p>
        </p:txBody>
      </p:sp>
      <p:sp>
        <p:nvSpPr>
          <p:cNvPr id="8" name="Cover footer rule">
            <a:extLst>
              <a:ext uri="{FF2B5EF4-FFF2-40B4-BE49-F238E27FC236}">
                <a16:creationId xmlns:a16="http://schemas.microsoft.com/office/drawing/2014/main" id="{61EB1708-F683-4055-BB2C-CEFA0BBB660B}"/>
              </a:ext>
            </a:extLst>
          </p:cNvPr>
          <p:cNvSpPr>
            <a:spLocks noGrp="1"/>
          </p:cNvSpPr>
          <p:nvPr/>
        </p:nvSpPr>
        <p:spPr>
          <a:xfrm>
            <a:off x="685800" y="6248400"/>
            <a:ext cx="657225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69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yebrow 2">
            <a:extLst>
              <a:ext uri="{FF2B5EF4-FFF2-40B4-BE49-F238E27FC236}">
                <a16:creationId xmlns:a16="http://schemas.microsoft.com/office/drawing/2014/main" id="{11607D4B-B379-4FFE-B5E7-2AA88F16C864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1" name="Graphic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DCF9D42-ED2D-4665-9B22-DB6BF909F0F4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OpenAI, ChatGPT,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Artifactory 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and Hugging Face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2843A2CA-462A-424E-A531-7F5CF5C1F4CF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923544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2">
            <a:extLst>
              <a:ext uri="{FF2B5EF4-FFF2-40B4-BE49-F238E27FC236}">
                <a16:creationId xmlns:a16="http://schemas.microsoft.com/office/drawing/2014/main" id="{8FAC83D1-5E45-4C33-9A31-B4327783B8AA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2">
            <a:extLst>
              <a:ext uri="{FF2B5EF4-FFF2-40B4-BE49-F238E27FC236}">
                <a16:creationId xmlns:a16="http://schemas.microsoft.com/office/drawing/2014/main" id="{CA07887E-208B-4AF6-9DB2-4F8FC50BBC96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2">
            <a:extLst>
              <a:ext uri="{FF2B5EF4-FFF2-40B4-BE49-F238E27FC236}">
                <a16:creationId xmlns:a16="http://schemas.microsoft.com/office/drawing/2014/main" id="{D7C39B10-CE32-4541-9CEF-9C06A767E019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0" name="Timeline backbone">
            <a:extLst>
              <a:ext uri="{FF2B5EF4-FFF2-40B4-BE49-F238E27FC236}">
                <a16:creationId xmlns:a16="http://schemas.microsoft.com/office/drawing/2014/main" id="{BFF4B37C-C5A0-4A09-AF2D-1B22966FAB40}"/>
              </a:ext>
            </a:extLst>
          </p:cNvPr>
          <p:cNvSpPr>
            <a:spLocks noGrp="1"/>
          </p:cNvSpPr>
          <p:nvPr/>
        </p:nvSpPr>
        <p:spPr>
          <a:xfrm>
            <a:off x="1181100" y="2990850"/>
            <a:ext cx="9810750" cy="38100"/>
          </a:xfrm>
          <a:prstGeom prst="roundRect">
            <a:avLst>
              <a:gd name="adj" fmla="val 50000"/>
            </a:avLst>
          </a:prstGeom>
          <a:solidFill>
            <a:srgbClr val="0044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meline node 1">
            <a:extLst>
              <a:ext uri="{FF2B5EF4-FFF2-40B4-BE49-F238E27FC236}">
                <a16:creationId xmlns:a16="http://schemas.microsoft.com/office/drawing/2014/main" id="{957CE255-FE36-4D2A-9644-A82CDB478E3B}"/>
              </a:ext>
            </a:extLst>
          </p:cNvPr>
          <p:cNvSpPr>
            <a:spLocks noGrp="1"/>
          </p:cNvSpPr>
          <p:nvPr/>
        </p:nvSpPr>
        <p:spPr>
          <a:xfrm>
            <a:off x="1706519" y="2800350"/>
            <a:ext cx="419100" cy="419100"/>
          </a:xfrm>
          <a:prstGeom prst="ellipse">
            <a:avLst/>
          </a:prstGeom>
          <a:solidFill>
            <a:srgbClr val="00446F"/>
          </a:solidFill>
          <a:ln w="38100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imeline year 1">
            <a:extLst>
              <a:ext uri="{FF2B5EF4-FFF2-40B4-BE49-F238E27FC236}">
                <a16:creationId xmlns:a16="http://schemas.microsoft.com/office/drawing/2014/main" id="{F3AB0F85-9BCA-43B1-8BD8-4A5F263232FF}"/>
              </a:ext>
            </a:extLst>
          </p:cNvPr>
          <p:cNvSpPr>
            <a:spLocks noGrp="1"/>
          </p:cNvSpPr>
          <p:nvPr/>
        </p:nvSpPr>
        <p:spPr>
          <a:xfrm>
            <a:off x="3638550" y="2133600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650" b="1" dirty="0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2015</a:t>
            </a:r>
          </a:p>
        </p:txBody>
      </p:sp>
      <p:sp>
        <p:nvSpPr>
          <p:cNvPr id="13" name="Timeline name 1">
            <a:extLst>
              <a:ext uri="{FF2B5EF4-FFF2-40B4-BE49-F238E27FC236}">
                <a16:creationId xmlns:a16="http://schemas.microsoft.com/office/drawing/2014/main" id="{7304BC84-A3CA-4CF1-9C24-500171BA138E}"/>
              </a:ext>
            </a:extLst>
          </p:cNvPr>
          <p:cNvSpPr>
            <a:spLocks noGrp="1"/>
          </p:cNvSpPr>
          <p:nvPr/>
        </p:nvSpPr>
        <p:spPr>
          <a:xfrm>
            <a:off x="3143250" y="34290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OpenAI</a:t>
            </a:r>
          </a:p>
        </p:txBody>
      </p:sp>
      <p:sp>
        <p:nvSpPr>
          <p:cNvPr id="14" name="Timeline desc 1">
            <a:extLst>
              <a:ext uri="{FF2B5EF4-FFF2-40B4-BE49-F238E27FC236}">
                <a16:creationId xmlns:a16="http://schemas.microsoft.com/office/drawing/2014/main" id="{15905370-F858-4BC2-838B-A961C1B4E2E0}"/>
              </a:ext>
            </a:extLst>
          </p:cNvPr>
          <p:cNvSpPr>
            <a:spLocks noGrp="1"/>
          </p:cNvSpPr>
          <p:nvPr/>
        </p:nvSpPr>
        <p:spPr>
          <a:xfrm>
            <a:off x="2914650" y="3876675"/>
            <a:ext cx="2171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Research organization announced</a:t>
            </a:r>
          </a:p>
        </p:txBody>
      </p:sp>
      <p:sp>
        <p:nvSpPr>
          <p:cNvPr id="15" name="Timeline node 2">
            <a:extLst>
              <a:ext uri="{FF2B5EF4-FFF2-40B4-BE49-F238E27FC236}">
                <a16:creationId xmlns:a16="http://schemas.microsoft.com/office/drawing/2014/main" id="{791E3660-22DA-4486-AAC1-D8503E625E6C}"/>
              </a:ext>
            </a:extLst>
          </p:cNvPr>
          <p:cNvSpPr>
            <a:spLocks noGrp="1"/>
          </p:cNvSpPr>
          <p:nvPr/>
        </p:nvSpPr>
        <p:spPr>
          <a:xfrm>
            <a:off x="5886450" y="2800350"/>
            <a:ext cx="419100" cy="419100"/>
          </a:xfrm>
          <a:prstGeom prst="ellipse">
            <a:avLst/>
          </a:prstGeom>
          <a:solidFill>
            <a:srgbClr val="00446F"/>
          </a:solidFill>
          <a:ln w="38100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imeline year 2">
            <a:extLst>
              <a:ext uri="{FF2B5EF4-FFF2-40B4-BE49-F238E27FC236}">
                <a16:creationId xmlns:a16="http://schemas.microsoft.com/office/drawing/2014/main" id="{A68578BF-6B28-40A3-9C4A-42C862024867}"/>
              </a:ext>
            </a:extLst>
          </p:cNvPr>
          <p:cNvSpPr>
            <a:spLocks noGrp="1"/>
          </p:cNvSpPr>
          <p:nvPr/>
        </p:nvSpPr>
        <p:spPr>
          <a:xfrm>
            <a:off x="5857875" y="2133600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650" b="1" dirty="0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2016</a:t>
            </a:r>
          </a:p>
        </p:txBody>
      </p:sp>
      <p:sp>
        <p:nvSpPr>
          <p:cNvPr id="17" name="Timeline name 2">
            <a:extLst>
              <a:ext uri="{FF2B5EF4-FFF2-40B4-BE49-F238E27FC236}">
                <a16:creationId xmlns:a16="http://schemas.microsoft.com/office/drawing/2014/main" id="{9AF66484-E593-4257-91B0-4CA9317D4ACE}"/>
              </a:ext>
            </a:extLst>
          </p:cNvPr>
          <p:cNvSpPr>
            <a:spLocks noGrp="1"/>
          </p:cNvSpPr>
          <p:nvPr/>
        </p:nvSpPr>
        <p:spPr>
          <a:xfrm>
            <a:off x="5362575" y="34290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Hugging Face</a:t>
            </a:r>
          </a:p>
        </p:txBody>
      </p:sp>
      <p:sp>
        <p:nvSpPr>
          <p:cNvPr id="18" name="Timeline desc 2">
            <a:extLst>
              <a:ext uri="{FF2B5EF4-FFF2-40B4-BE49-F238E27FC236}">
                <a16:creationId xmlns:a16="http://schemas.microsoft.com/office/drawing/2014/main" id="{B5A4B298-BA43-45FC-AE52-B5BCE21CA26F}"/>
              </a:ext>
            </a:extLst>
          </p:cNvPr>
          <p:cNvSpPr>
            <a:spLocks noGrp="1"/>
          </p:cNvSpPr>
          <p:nvPr/>
        </p:nvSpPr>
        <p:spPr>
          <a:xfrm>
            <a:off x="5133975" y="3876675"/>
            <a:ext cx="2171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Company founded; later builds a platform for models, datasets, and software</a:t>
            </a:r>
          </a:p>
        </p:txBody>
      </p:sp>
      <p:sp>
        <p:nvSpPr>
          <p:cNvPr id="19" name="Timeline node 3">
            <a:extLst>
              <a:ext uri="{FF2B5EF4-FFF2-40B4-BE49-F238E27FC236}">
                <a16:creationId xmlns:a16="http://schemas.microsoft.com/office/drawing/2014/main" id="{FA084DD0-0044-4D64-A6A3-037D179257AD}"/>
              </a:ext>
            </a:extLst>
          </p:cNvPr>
          <p:cNvSpPr>
            <a:spLocks noGrp="1"/>
          </p:cNvSpPr>
          <p:nvPr/>
        </p:nvSpPr>
        <p:spPr>
          <a:xfrm>
            <a:off x="7976415" y="2800350"/>
            <a:ext cx="419100" cy="419100"/>
          </a:xfrm>
          <a:prstGeom prst="ellipse">
            <a:avLst/>
          </a:prstGeom>
          <a:solidFill>
            <a:srgbClr val="00446F"/>
          </a:solidFill>
          <a:ln w="38100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imeline year 3">
            <a:extLst>
              <a:ext uri="{FF2B5EF4-FFF2-40B4-BE49-F238E27FC236}">
                <a16:creationId xmlns:a16="http://schemas.microsoft.com/office/drawing/2014/main" id="{EF9F3CC2-D0C8-46C8-AA1C-B1CCFDD19143}"/>
              </a:ext>
            </a:extLst>
          </p:cNvPr>
          <p:cNvSpPr>
            <a:spLocks noGrp="1"/>
          </p:cNvSpPr>
          <p:nvPr/>
        </p:nvSpPr>
        <p:spPr>
          <a:xfrm>
            <a:off x="7779158" y="2133600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650" b="1" dirty="0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2022</a:t>
            </a:r>
          </a:p>
        </p:txBody>
      </p:sp>
      <p:sp>
        <p:nvSpPr>
          <p:cNvPr id="21" name="Timeline name 3">
            <a:extLst>
              <a:ext uri="{FF2B5EF4-FFF2-40B4-BE49-F238E27FC236}">
                <a16:creationId xmlns:a16="http://schemas.microsoft.com/office/drawing/2014/main" id="{2EE0F07F-A373-4984-9E33-65B4AB791A29}"/>
              </a:ext>
            </a:extLst>
          </p:cNvPr>
          <p:cNvSpPr>
            <a:spLocks noGrp="1"/>
          </p:cNvSpPr>
          <p:nvPr/>
        </p:nvSpPr>
        <p:spPr>
          <a:xfrm>
            <a:off x="7283858" y="34290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ChatGPT</a:t>
            </a:r>
          </a:p>
        </p:txBody>
      </p:sp>
      <p:sp>
        <p:nvSpPr>
          <p:cNvPr id="22" name="Timeline desc 3">
            <a:extLst>
              <a:ext uri="{FF2B5EF4-FFF2-40B4-BE49-F238E27FC236}">
                <a16:creationId xmlns:a16="http://schemas.microsoft.com/office/drawing/2014/main" id="{2970FFA7-09D6-4814-BA7F-8F29D4743720}"/>
              </a:ext>
            </a:extLst>
          </p:cNvPr>
          <p:cNvSpPr>
            <a:spLocks noGrp="1"/>
          </p:cNvSpPr>
          <p:nvPr/>
        </p:nvSpPr>
        <p:spPr>
          <a:xfrm>
            <a:off x="7055258" y="3876675"/>
            <a:ext cx="2171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Public research preview launched</a:t>
            </a:r>
          </a:p>
        </p:txBody>
      </p:sp>
      <p:sp>
        <p:nvSpPr>
          <p:cNvPr id="23" name="Timeline node 4">
            <a:extLst>
              <a:ext uri="{FF2B5EF4-FFF2-40B4-BE49-F238E27FC236}">
                <a16:creationId xmlns:a16="http://schemas.microsoft.com/office/drawing/2014/main" id="{8816943C-EBCE-462F-AFFE-E364D061E970}"/>
              </a:ext>
            </a:extLst>
          </p:cNvPr>
          <p:cNvSpPr>
            <a:spLocks noGrp="1"/>
          </p:cNvSpPr>
          <p:nvPr/>
        </p:nvSpPr>
        <p:spPr>
          <a:xfrm>
            <a:off x="10066381" y="2800350"/>
            <a:ext cx="419100" cy="419100"/>
          </a:xfrm>
          <a:prstGeom prst="ellipse">
            <a:avLst/>
          </a:prstGeom>
          <a:solidFill>
            <a:srgbClr val="E86027"/>
          </a:solidFill>
          <a:ln w="38100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imeline year 4">
            <a:extLst>
              <a:ext uri="{FF2B5EF4-FFF2-40B4-BE49-F238E27FC236}">
                <a16:creationId xmlns:a16="http://schemas.microsoft.com/office/drawing/2014/main" id="{31357F7F-7E44-4DBC-8BED-AE0489D819EB}"/>
              </a:ext>
            </a:extLst>
          </p:cNvPr>
          <p:cNvSpPr>
            <a:spLocks noGrp="1"/>
          </p:cNvSpPr>
          <p:nvPr/>
        </p:nvSpPr>
        <p:spPr>
          <a:xfrm>
            <a:off x="9913981" y="2133600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1650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2026</a:t>
            </a:r>
          </a:p>
        </p:txBody>
      </p:sp>
      <p:sp>
        <p:nvSpPr>
          <p:cNvPr id="25" name="Timeline name 4">
            <a:extLst>
              <a:ext uri="{FF2B5EF4-FFF2-40B4-BE49-F238E27FC236}">
                <a16:creationId xmlns:a16="http://schemas.microsoft.com/office/drawing/2014/main" id="{A7F02C2D-53C5-4284-8D12-96C314ABE647}"/>
              </a:ext>
            </a:extLst>
          </p:cNvPr>
          <p:cNvSpPr>
            <a:spLocks noGrp="1"/>
          </p:cNvSpPr>
          <p:nvPr/>
        </p:nvSpPr>
        <p:spPr>
          <a:xfrm>
            <a:off x="9418681" y="34290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Incident</a:t>
            </a:r>
          </a:p>
        </p:txBody>
      </p:sp>
      <p:sp>
        <p:nvSpPr>
          <p:cNvPr id="26" name="Timeline desc 4">
            <a:extLst>
              <a:ext uri="{FF2B5EF4-FFF2-40B4-BE49-F238E27FC236}">
                <a16:creationId xmlns:a16="http://schemas.microsoft.com/office/drawing/2014/main" id="{213B1AC0-20B9-438D-8CC8-082DAAF73F17}"/>
              </a:ext>
            </a:extLst>
          </p:cNvPr>
          <p:cNvSpPr>
            <a:spLocks noGrp="1"/>
          </p:cNvSpPr>
          <p:nvPr/>
        </p:nvSpPr>
        <p:spPr>
          <a:xfrm>
            <a:off x="9190081" y="3876675"/>
            <a:ext cx="2171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OpenAI research models reach Hugging Face production infrastructure</a:t>
            </a:r>
          </a:p>
        </p:txBody>
      </p:sp>
      <p:sp>
        <p:nvSpPr>
          <p:cNvPr id="27" name="ChatGPT correction">
            <a:extLst>
              <a:ext uri="{FF2B5EF4-FFF2-40B4-BE49-F238E27FC236}">
                <a16:creationId xmlns:a16="http://schemas.microsoft.com/office/drawing/2014/main" id="{ED8C7CF2-0E09-43A5-88DD-2813EF5F8DC8}"/>
              </a:ext>
            </a:extLst>
          </p:cNvPr>
          <p:cNvSpPr>
            <a:spLocks noGrp="1"/>
          </p:cNvSpPr>
          <p:nvPr/>
        </p:nvSpPr>
        <p:spPr>
          <a:xfrm>
            <a:off x="1866900" y="5181600"/>
            <a:ext cx="8458200" cy="704850"/>
          </a:xfrm>
          <a:prstGeom prst="roundRect">
            <a:avLst>
              <a:gd name="adj" fmla="val 10811"/>
            </a:avLst>
          </a:prstGeom>
          <a:solidFill>
            <a:srgbClr val="FCE9E1"/>
          </a:solidFill>
          <a:ln w="9525">
            <a:solidFill>
              <a:srgbClr val="E86027"/>
            </a:solidFill>
            <a:prstDash val="solid"/>
          </a:ln>
        </p:spPr>
        <p:txBody>
          <a:bodyPr lIns="190500" tIns="114300" rIns="190500" bIns="114300" anchor="ctr">
            <a:noAutofit/>
          </a:bodyPr>
          <a:lstStyle/>
          <a:p>
            <a:pPr algn="ctr">
              <a:buNone/>
              <a:defRPr sz="1575" b="1">
                <a:solidFill>
                  <a:srgbClr val="E86027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E86027"/>
                </a:solidFill>
                <a:latin typeface="Inter"/>
                <a:ea typeface="Inter"/>
                <a:cs typeface="Inter"/>
              </a:rPr>
              <a:t>The incident report did not identify ChatGPT as the system involved.</a:t>
            </a:r>
          </a:p>
        </p:txBody>
      </p:sp>
      <p:sp>
        <p:nvSpPr>
          <p:cNvPr id="2" name="Timeline node 1">
            <a:extLst>
              <a:ext uri="{FF2B5EF4-FFF2-40B4-BE49-F238E27FC236}">
                <a16:creationId xmlns:a16="http://schemas.microsoft.com/office/drawing/2014/main" id="{F0490B17-279B-AD7D-066D-629A6107EB59}"/>
              </a:ext>
            </a:extLst>
          </p:cNvPr>
          <p:cNvSpPr>
            <a:spLocks noGrp="1"/>
          </p:cNvSpPr>
          <p:nvPr/>
        </p:nvSpPr>
        <p:spPr>
          <a:xfrm>
            <a:off x="3796485" y="2777227"/>
            <a:ext cx="419100" cy="419100"/>
          </a:xfrm>
          <a:prstGeom prst="ellipse">
            <a:avLst/>
          </a:prstGeom>
          <a:solidFill>
            <a:srgbClr val="00446F"/>
          </a:solidFill>
          <a:ln w="38100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imeline year 1">
            <a:extLst>
              <a:ext uri="{FF2B5EF4-FFF2-40B4-BE49-F238E27FC236}">
                <a16:creationId xmlns:a16="http://schemas.microsoft.com/office/drawing/2014/main" id="{65C9C5C4-3FAD-B089-9685-336CE7CA2EB3}"/>
              </a:ext>
            </a:extLst>
          </p:cNvPr>
          <p:cNvSpPr>
            <a:spLocks noGrp="1"/>
          </p:cNvSpPr>
          <p:nvPr/>
        </p:nvSpPr>
        <p:spPr>
          <a:xfrm>
            <a:off x="1554119" y="2162175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lang="en-US" sz="1650" b="1" dirty="0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2006</a:t>
            </a:r>
            <a:endParaRPr sz="1650" b="1" dirty="0">
              <a:solidFill>
                <a:srgbClr val="00446F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30" name="Timeline name 1">
            <a:extLst>
              <a:ext uri="{FF2B5EF4-FFF2-40B4-BE49-F238E27FC236}">
                <a16:creationId xmlns:a16="http://schemas.microsoft.com/office/drawing/2014/main" id="{1FF3F830-DF40-F596-B99F-517C38165113}"/>
              </a:ext>
            </a:extLst>
          </p:cNvPr>
          <p:cNvSpPr>
            <a:spLocks noGrp="1"/>
          </p:cNvSpPr>
          <p:nvPr/>
        </p:nvSpPr>
        <p:spPr>
          <a:xfrm>
            <a:off x="1058819" y="3457575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lang="en-US"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Artifactory</a:t>
            </a:r>
            <a:endParaRPr sz="1650" b="1" dirty="0">
              <a:solidFill>
                <a:srgbClr val="07090F"/>
              </a:solidFill>
              <a:latin typeface="Optima"/>
              <a:ea typeface="Optima"/>
              <a:cs typeface="Optima"/>
            </a:endParaRPr>
          </a:p>
        </p:txBody>
      </p:sp>
      <p:sp>
        <p:nvSpPr>
          <p:cNvPr id="32" name="Timeline desc 1">
            <a:extLst>
              <a:ext uri="{FF2B5EF4-FFF2-40B4-BE49-F238E27FC236}">
                <a16:creationId xmlns:a16="http://schemas.microsoft.com/office/drawing/2014/main" id="{1CC747E3-D284-09C4-15B1-EE6FD86C9E27}"/>
              </a:ext>
            </a:extLst>
          </p:cNvPr>
          <p:cNvSpPr>
            <a:spLocks noGrp="1"/>
          </p:cNvSpPr>
          <p:nvPr/>
        </p:nvSpPr>
        <p:spPr>
          <a:xfrm>
            <a:off x="830219" y="3905250"/>
            <a:ext cx="2171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lang="en-US" sz="11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Artifactory open-source project of a DevOps Package Manager Launches</a:t>
            </a:r>
            <a:endParaRPr sz="1100" dirty="0">
              <a:solidFill>
                <a:srgbClr val="676869"/>
              </a:solidFill>
              <a:latin typeface="Inter"/>
              <a:ea typeface="Inter"/>
              <a:cs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73476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 3">
            <a:extLst>
              <a:ext uri="{FF2B5EF4-FFF2-40B4-BE49-F238E27FC236}">
                <a16:creationId xmlns:a16="http://schemas.microsoft.com/office/drawing/2014/main" id="{DD35D373-8A79-44EB-B625-A8A23E1BF6C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506CDB-4976-489D-8445-BC4A3ACC57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An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I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mpossible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preadsheet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pened 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ath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11F7E8D8-815C-4BA9-B593-A5CCBC21740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722376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3">
            <a:extLst>
              <a:ext uri="{FF2B5EF4-FFF2-40B4-BE49-F238E27FC236}">
                <a16:creationId xmlns:a16="http://schemas.microsoft.com/office/drawing/2014/main" id="{6399394E-FF73-4792-AA59-94A1CA033BCC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3">
            <a:extLst>
              <a:ext uri="{FF2B5EF4-FFF2-40B4-BE49-F238E27FC236}">
                <a16:creationId xmlns:a16="http://schemas.microsoft.com/office/drawing/2014/main" id="{6401229C-BD11-4194-AB3B-7BBA7B9196F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3">
            <a:extLst>
              <a:ext uri="{FF2B5EF4-FFF2-40B4-BE49-F238E27FC236}">
                <a16:creationId xmlns:a16="http://schemas.microsoft.com/office/drawing/2014/main" id="{57A46509-5008-4DAC-AF94-A631EDF1B44A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10" name="Process line">
            <a:extLst>
              <a:ext uri="{FF2B5EF4-FFF2-40B4-BE49-F238E27FC236}">
                <a16:creationId xmlns:a16="http://schemas.microsoft.com/office/drawing/2014/main" id="{3CEDC550-06F4-45A9-861D-9BB8844BDEC2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10477500" cy="28575"/>
          </a:xfrm>
          <a:prstGeom prst="roundRect">
            <a:avLst>
              <a:gd name="adj" fmla="val 50000"/>
            </a:avLst>
          </a:prstGeom>
          <a:solidFill>
            <a:srgbClr val="0044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node 1">
            <a:extLst>
              <a:ext uri="{FF2B5EF4-FFF2-40B4-BE49-F238E27FC236}">
                <a16:creationId xmlns:a16="http://schemas.microsoft.com/office/drawing/2014/main" id="{942620B4-8233-4815-870B-30E85FCFC985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date 1">
            <a:extLst>
              <a:ext uri="{FF2B5EF4-FFF2-40B4-BE49-F238E27FC236}">
                <a16:creationId xmlns:a16="http://schemas.microsoft.com/office/drawing/2014/main" id="{F6FDBC9D-B8D8-4D6A-B89A-8AD12D3DA93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MAY 7</a:t>
            </a:r>
          </a:p>
        </p:txBody>
      </p:sp>
      <p:sp>
        <p:nvSpPr>
          <p:cNvPr id="13" name="Step head 1">
            <a:extLst>
              <a:ext uri="{FF2B5EF4-FFF2-40B4-BE49-F238E27FC236}">
                <a16:creationId xmlns:a16="http://schemas.microsoft.com/office/drawing/2014/main" id="{251F7326-3D5C-42B9-8A59-931E8FAB81D4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Training begins</a:t>
            </a:r>
          </a:p>
        </p:txBody>
      </p:sp>
      <p:sp>
        <p:nvSpPr>
          <p:cNvPr id="14" name="Step desc 1">
            <a:extLst>
              <a:ext uri="{FF2B5EF4-FFF2-40B4-BE49-F238E27FC236}">
                <a16:creationId xmlns:a16="http://schemas.microsoft.com/office/drawing/2014/main" id="{7D170694-C6E8-4D80-B40E-D6379445E0A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Experimental internal run</a:t>
            </a:r>
          </a:p>
        </p:txBody>
      </p:sp>
      <p:sp>
        <p:nvSpPr>
          <p:cNvPr id="15" name="Step node 2">
            <a:extLst>
              <a:ext uri="{FF2B5EF4-FFF2-40B4-BE49-F238E27FC236}">
                <a16:creationId xmlns:a16="http://schemas.microsoft.com/office/drawing/2014/main" id="{15F4FA38-7EEC-4C84-86E8-7CA5439BDFFE}"/>
              </a:ext>
            </a:extLst>
          </p:cNvPr>
          <p:cNvSpPr>
            <a:spLocks noGrp="1"/>
          </p:cNvSpPr>
          <p:nvPr/>
        </p:nvSpPr>
        <p:spPr>
          <a:xfrm>
            <a:off x="29337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date 2">
            <a:extLst>
              <a:ext uri="{FF2B5EF4-FFF2-40B4-BE49-F238E27FC236}">
                <a16:creationId xmlns:a16="http://schemas.microsoft.com/office/drawing/2014/main" id="{011CC186-CB72-45B9-939D-7C9EC0533E0E}"/>
              </a:ext>
            </a:extLst>
          </p:cNvPr>
          <p:cNvSpPr>
            <a:spLocks noGrp="1"/>
          </p:cNvSpPr>
          <p:nvPr/>
        </p:nvSpPr>
        <p:spPr>
          <a:xfrm>
            <a:off x="28956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MAY 8</a:t>
            </a:r>
          </a:p>
        </p:txBody>
      </p:sp>
      <p:sp>
        <p:nvSpPr>
          <p:cNvPr id="17" name="Step head 2">
            <a:extLst>
              <a:ext uri="{FF2B5EF4-FFF2-40B4-BE49-F238E27FC236}">
                <a16:creationId xmlns:a16="http://schemas.microsoft.com/office/drawing/2014/main" id="{957EEE9E-6378-4457-AA53-995587537568}"/>
              </a:ext>
            </a:extLst>
          </p:cNvPr>
          <p:cNvSpPr>
            <a:spLocks noGrp="1"/>
          </p:cNvSpPr>
          <p:nvPr/>
        </p:nvSpPr>
        <p:spPr>
          <a:xfrm>
            <a:off x="28956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Blocked links</a:t>
            </a:r>
          </a:p>
        </p:txBody>
      </p:sp>
      <p:sp>
        <p:nvSpPr>
          <p:cNvPr id="18" name="Step desc 2">
            <a:extLst>
              <a:ext uri="{FF2B5EF4-FFF2-40B4-BE49-F238E27FC236}">
                <a16:creationId xmlns:a16="http://schemas.microsoft.com/office/drawing/2014/main" id="{B65A9520-4EC6-4E1D-9241-15D73101ADA0}"/>
              </a:ext>
            </a:extLst>
          </p:cNvPr>
          <p:cNvSpPr>
            <a:spLocks noGrp="1"/>
          </p:cNvSpPr>
          <p:nvPr/>
        </p:nvSpPr>
        <p:spPr>
          <a:xfrm>
            <a:off x="28956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The spreadsheet points to Google Drive files the run cannot reach</a:t>
            </a:r>
          </a:p>
        </p:txBody>
      </p:sp>
      <p:sp>
        <p:nvSpPr>
          <p:cNvPr id="19" name="Step node 3">
            <a:extLst>
              <a:ext uri="{FF2B5EF4-FFF2-40B4-BE49-F238E27FC236}">
                <a16:creationId xmlns:a16="http://schemas.microsoft.com/office/drawing/2014/main" id="{171F8043-6EDF-4138-B92A-1132F30C408A}"/>
              </a:ext>
            </a:extLst>
          </p:cNvPr>
          <p:cNvSpPr>
            <a:spLocks noGrp="1"/>
          </p:cNvSpPr>
          <p:nvPr/>
        </p:nvSpPr>
        <p:spPr>
          <a:xfrm>
            <a:off x="51435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 date 3">
            <a:extLst>
              <a:ext uri="{FF2B5EF4-FFF2-40B4-BE49-F238E27FC236}">
                <a16:creationId xmlns:a16="http://schemas.microsoft.com/office/drawing/2014/main" id="{BC6B0691-AC7F-4895-B5E3-98CEC553B472}"/>
              </a:ext>
            </a:extLst>
          </p:cNvPr>
          <p:cNvSpPr>
            <a:spLocks noGrp="1"/>
          </p:cNvSpPr>
          <p:nvPr/>
        </p:nvSpPr>
        <p:spPr>
          <a:xfrm>
            <a:off x="51054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 dirty="0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MAY</a:t>
            </a:r>
          </a:p>
        </p:txBody>
      </p:sp>
      <p:sp>
        <p:nvSpPr>
          <p:cNvPr id="21" name="Step head 3">
            <a:extLst>
              <a:ext uri="{FF2B5EF4-FFF2-40B4-BE49-F238E27FC236}">
                <a16:creationId xmlns:a16="http://schemas.microsoft.com/office/drawing/2014/main" id="{69E4BC9A-5B31-46E4-8A3C-B326D2AB0EC0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Shared state</a:t>
            </a:r>
          </a:p>
        </p:txBody>
      </p:sp>
      <p:sp>
        <p:nvSpPr>
          <p:cNvPr id="22" name="Step desc 3">
            <a:extLst>
              <a:ext uri="{FF2B5EF4-FFF2-40B4-BE49-F238E27FC236}">
                <a16:creationId xmlns:a16="http://schemas.microsoft.com/office/drawing/2014/main" id="{5D25248B-8985-4786-B3A3-01224E670186}"/>
              </a:ext>
            </a:extLst>
          </p:cNvPr>
          <p:cNvSpPr>
            <a:spLocks noGrp="1"/>
          </p:cNvSpPr>
          <p:nvPr/>
        </p:nvSpPr>
        <p:spPr>
          <a:xfrm>
            <a:off x="51054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Artifactory carries state from one run to the next</a:t>
            </a:r>
          </a:p>
        </p:txBody>
      </p:sp>
      <p:sp>
        <p:nvSpPr>
          <p:cNvPr id="23" name="Step node 4">
            <a:extLst>
              <a:ext uri="{FF2B5EF4-FFF2-40B4-BE49-F238E27FC236}">
                <a16:creationId xmlns:a16="http://schemas.microsoft.com/office/drawing/2014/main" id="{06DD33A5-425B-4FDB-A163-B8619A801B87}"/>
              </a:ext>
            </a:extLst>
          </p:cNvPr>
          <p:cNvSpPr>
            <a:spLocks noGrp="1"/>
          </p:cNvSpPr>
          <p:nvPr/>
        </p:nvSpPr>
        <p:spPr>
          <a:xfrm>
            <a:off x="73533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 date 4">
            <a:extLst>
              <a:ext uri="{FF2B5EF4-FFF2-40B4-BE49-F238E27FC236}">
                <a16:creationId xmlns:a16="http://schemas.microsoft.com/office/drawing/2014/main" id="{10E06447-AA87-44EB-91DA-C5D64EF94955}"/>
              </a:ext>
            </a:extLst>
          </p:cNvPr>
          <p:cNvSpPr>
            <a:spLocks noGrp="1"/>
          </p:cNvSpPr>
          <p:nvPr/>
        </p:nvSpPr>
        <p:spPr>
          <a:xfrm>
            <a:off x="73152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MAY 26</a:t>
            </a:r>
          </a:p>
        </p:txBody>
      </p:sp>
      <p:sp>
        <p:nvSpPr>
          <p:cNvPr id="25" name="Step head 4">
            <a:extLst>
              <a:ext uri="{FF2B5EF4-FFF2-40B4-BE49-F238E27FC236}">
                <a16:creationId xmlns:a16="http://schemas.microsoft.com/office/drawing/2014/main" id="{972C2385-AD6C-440A-9BF2-B320F4456CE6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Indirect internet</a:t>
            </a:r>
          </a:p>
        </p:txBody>
      </p:sp>
      <p:sp>
        <p:nvSpPr>
          <p:cNvPr id="26" name="Step desc 4">
            <a:extLst>
              <a:ext uri="{FF2B5EF4-FFF2-40B4-BE49-F238E27FC236}">
                <a16:creationId xmlns:a16="http://schemas.microsoft.com/office/drawing/2014/main" id="{DF60AAEB-8953-476D-9C4C-3316CDAE0B07}"/>
              </a:ext>
            </a:extLst>
          </p:cNvPr>
          <p:cNvSpPr>
            <a:spLocks noGrp="1"/>
          </p:cNvSpPr>
          <p:nvPr/>
        </p:nvSpPr>
        <p:spPr>
          <a:xfrm>
            <a:off x="73152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SSRF lets the package service fetch external URLs</a:t>
            </a:r>
          </a:p>
        </p:txBody>
      </p:sp>
      <p:sp>
        <p:nvSpPr>
          <p:cNvPr id="27" name="Step node 5">
            <a:extLst>
              <a:ext uri="{FF2B5EF4-FFF2-40B4-BE49-F238E27FC236}">
                <a16:creationId xmlns:a16="http://schemas.microsoft.com/office/drawing/2014/main" id="{9B0C406E-25B8-4EF8-A86D-14EE47400AB7}"/>
              </a:ext>
            </a:extLst>
          </p:cNvPr>
          <p:cNvSpPr>
            <a:spLocks noGrp="1"/>
          </p:cNvSpPr>
          <p:nvPr/>
        </p:nvSpPr>
        <p:spPr>
          <a:xfrm>
            <a:off x="9563100" y="2495550"/>
            <a:ext cx="323850" cy="323850"/>
          </a:xfrm>
          <a:prstGeom prst="ellipse">
            <a:avLst/>
          </a:prstGeom>
          <a:solidFill>
            <a:srgbClr val="E86027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ep date 5">
            <a:extLst>
              <a:ext uri="{FF2B5EF4-FFF2-40B4-BE49-F238E27FC236}">
                <a16:creationId xmlns:a16="http://schemas.microsoft.com/office/drawing/2014/main" id="{5DB32D24-96E8-45F8-AA70-72051FB4473E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JUNE 26</a:t>
            </a:r>
          </a:p>
        </p:txBody>
      </p:sp>
      <p:sp>
        <p:nvSpPr>
          <p:cNvPr id="29" name="Step head 5">
            <a:extLst>
              <a:ext uri="{FF2B5EF4-FFF2-40B4-BE49-F238E27FC236}">
                <a16:creationId xmlns:a16="http://schemas.microsoft.com/office/drawing/2014/main" id="{3EB2130C-D535-4215-B5B5-6E85DDB08F09}"/>
              </a:ext>
            </a:extLst>
          </p:cNvPr>
          <p:cNvSpPr>
            <a:spLocks noGrp="1"/>
          </p:cNvSpPr>
          <p:nvPr/>
        </p:nvSpPr>
        <p:spPr>
          <a:xfrm>
            <a:off x="95250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Administrative access</a:t>
            </a:r>
          </a:p>
        </p:txBody>
      </p:sp>
      <p:sp>
        <p:nvSpPr>
          <p:cNvPr id="30" name="Step desc 5">
            <a:extLst>
              <a:ext uri="{FF2B5EF4-FFF2-40B4-BE49-F238E27FC236}">
                <a16:creationId xmlns:a16="http://schemas.microsoft.com/office/drawing/2014/main" id="{8329A093-43FF-4329-AAFD-16E0DD295EDC}"/>
              </a:ext>
            </a:extLst>
          </p:cNvPr>
          <p:cNvSpPr>
            <a:spLocks noGrp="1"/>
          </p:cNvSpPr>
          <p:nvPr/>
        </p:nvSpPr>
        <p:spPr>
          <a:xfrm>
            <a:off x="95250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A zero-day yields remote code execution</a:t>
            </a:r>
          </a:p>
        </p:txBody>
      </p:sp>
      <p:sp>
        <p:nvSpPr>
          <p:cNvPr id="31" name="Timeline lesson">
            <a:extLst>
              <a:ext uri="{FF2B5EF4-FFF2-40B4-BE49-F238E27FC236}">
                <a16:creationId xmlns:a16="http://schemas.microsoft.com/office/drawing/2014/main" id="{42A2ED21-7077-4917-A81B-5AD333391B8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33350" tIns="0" rIns="0" bIns="0" anchor="ctr">
            <a:noAutofit/>
          </a:bodyPr>
          <a:lstStyle/>
          <a:p>
            <a:pPr algn="l">
              <a:buNone/>
              <a:defRPr sz="1950">
                <a:solidFill>
                  <a:srgbClr val="00446F"/>
                </a:solidFill>
                <a:latin typeface="Optima"/>
                <a:ea typeface="Optima"/>
                <a:cs typeface="Optima"/>
              </a:defRPr>
            </a:pPr>
            <a:r>
              <a:rPr sz="1950">
                <a:solidFill>
                  <a:srgbClr val="00446F"/>
                </a:solidFill>
                <a:latin typeface="Optima"/>
                <a:ea typeface="Optima"/>
                <a:cs typeface="Optima"/>
              </a:rPr>
              <a:t>The run had no valid route, but it kept searching.</a:t>
            </a:r>
          </a:p>
        </p:txBody>
      </p:sp>
      <p:sp>
        <p:nvSpPr>
          <p:cNvPr id="32" name="Lesson accent">
            <a:extLst>
              <a:ext uri="{FF2B5EF4-FFF2-40B4-BE49-F238E27FC236}">
                <a16:creationId xmlns:a16="http://schemas.microsoft.com/office/drawing/2014/main" id="{2068FAC1-7448-4377-A302-062AB48DC24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47625" cy="714375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 4">
            <a:extLst>
              <a:ext uri="{FF2B5EF4-FFF2-40B4-BE49-F238E27FC236}">
                <a16:creationId xmlns:a16="http://schemas.microsoft.com/office/drawing/2014/main" id="{90D680A5-313F-4F4A-92A9-70863E6370D5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25" name="Graphic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ED6CDCD-BB4F-48D0-BD6B-0C5B2C6D6429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Known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ath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losed July 6. Alternate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ath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U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sed July 8.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08B5AC51-A267-4383-B5C6-EEC53FB9123E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86868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4">
            <a:extLst>
              <a:ext uri="{FF2B5EF4-FFF2-40B4-BE49-F238E27FC236}">
                <a16:creationId xmlns:a16="http://schemas.microsoft.com/office/drawing/2014/main" id="{F08B979C-2A4D-44DF-8D2C-216D236244D7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4">
            <a:extLst>
              <a:ext uri="{FF2B5EF4-FFF2-40B4-BE49-F238E27FC236}">
                <a16:creationId xmlns:a16="http://schemas.microsoft.com/office/drawing/2014/main" id="{2693ADCA-69C2-4414-9520-26EB81769981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4">
            <a:extLst>
              <a:ext uri="{FF2B5EF4-FFF2-40B4-BE49-F238E27FC236}">
                <a16:creationId xmlns:a16="http://schemas.microsoft.com/office/drawing/2014/main" id="{96F73543-E3C8-43A2-BF36-BA018EFAB80E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10" name="Two day metric">
            <a:extLst>
              <a:ext uri="{FF2B5EF4-FFF2-40B4-BE49-F238E27FC236}">
                <a16:creationId xmlns:a16="http://schemas.microsoft.com/office/drawing/2014/main" id="{12A0E9F8-9544-43AB-B07B-746B5BE52139}"/>
              </a:ext>
            </a:extLst>
          </p:cNvPr>
          <p:cNvSpPr>
            <a:spLocks noGrp="1"/>
          </p:cNvSpPr>
          <p:nvPr/>
        </p:nvSpPr>
        <p:spPr>
          <a:xfrm>
            <a:off x="4762500" y="2190750"/>
            <a:ext cx="2667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54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4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2 DAYS</a:t>
            </a:r>
          </a:p>
        </p:txBody>
      </p:sp>
      <p:sp>
        <p:nvSpPr>
          <p:cNvPr id="11" name="Two day label">
            <a:extLst>
              <a:ext uri="{FF2B5EF4-FFF2-40B4-BE49-F238E27FC236}">
                <a16:creationId xmlns:a16="http://schemas.microsoft.com/office/drawing/2014/main" id="{7E54FBDE-4D06-418A-B0EB-AD84E689A738}"/>
              </a:ext>
            </a:extLst>
          </p:cNvPr>
          <p:cNvSpPr>
            <a:spLocks noGrp="1"/>
          </p:cNvSpPr>
          <p:nvPr/>
        </p:nvSpPr>
        <p:spPr>
          <a:xfrm>
            <a:off x="3943350" y="3143250"/>
            <a:ext cx="4305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676869"/>
                </a:solidFill>
                <a:latin typeface="Inter"/>
                <a:ea typeface="Inter"/>
                <a:cs typeface="Inter"/>
              </a:rPr>
              <a:t>from closing the known path to renewed persistent communication</a:t>
            </a:r>
          </a:p>
        </p:txBody>
      </p:sp>
      <p:sp>
        <p:nvSpPr>
          <p:cNvPr id="12" name="July 6 lane">
            <a:extLst>
              <a:ext uri="{FF2B5EF4-FFF2-40B4-BE49-F238E27FC236}">
                <a16:creationId xmlns:a16="http://schemas.microsoft.com/office/drawing/2014/main" id="{794D9C1A-124E-4836-BDC9-EA53C0773EEF}"/>
              </a:ext>
            </a:extLst>
          </p:cNvPr>
          <p:cNvSpPr>
            <a:spLocks noGrp="1"/>
          </p:cNvSpPr>
          <p:nvPr/>
        </p:nvSpPr>
        <p:spPr>
          <a:xfrm>
            <a:off x="685800" y="2162175"/>
            <a:ext cx="32194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9525">
            <a:solidFill>
              <a:srgbClr val="C8C7C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228600" tIns="228600" rIns="228600" bIns="228600" anchor="ctr">
            <a:noAutofit/>
          </a:bodyPr>
          <a:lstStyle/>
          <a:p>
            <a:r>
              <a:rPr b="1"/>
              <a:t>JULY 6</a:t>
            </a:r>
          </a:p>
          <a:p>
            <a:r>
              <a:rPr b="1"/>
              <a:t>KNOWN PATH CLOSED</a:t>
            </a:r>
          </a:p>
          <a:p>
            <a:r>
              <a:t>Credentials revoked. Artifactory rebuilt. Zero-day patched. Evaluations resume.</a:t>
            </a:r>
          </a:p>
        </p:txBody>
      </p:sp>
      <p:sp>
        <p:nvSpPr>
          <p:cNvPr id="13" name="July 8 lane">
            <a:extLst>
              <a:ext uri="{FF2B5EF4-FFF2-40B4-BE49-F238E27FC236}">
                <a16:creationId xmlns:a16="http://schemas.microsoft.com/office/drawing/2014/main" id="{120E04D5-626F-48E3-942F-671AC8788EF7}"/>
              </a:ext>
            </a:extLst>
          </p:cNvPr>
          <p:cNvSpPr>
            <a:spLocks noGrp="1"/>
          </p:cNvSpPr>
          <p:nvPr/>
        </p:nvSpPr>
        <p:spPr>
          <a:xfrm>
            <a:off x="8286750" y="2162175"/>
            <a:ext cx="3219450" cy="2152650"/>
          </a:xfrm>
          <a:prstGeom prst="roundRect">
            <a:avLst>
              <a:gd name="adj" fmla="val 3540"/>
            </a:avLst>
          </a:prstGeom>
          <a:solidFill>
            <a:srgbClr val="FCE9E1"/>
          </a:solidFill>
          <a:ln w="9525">
            <a:solidFill>
              <a:srgbClr val="E86027"/>
            </a:solidFill>
            <a:prstDash val="solid"/>
          </a:ln>
        </p:spPr>
        <p:txBody>
          <a:bodyPr wrap="square" lIns="228600" tIns="228600" rIns="228600" bIns="228600" anchor="ctr">
            <a:noAutofit/>
          </a:bodyPr>
          <a:lstStyle/>
          <a:p>
            <a:r>
              <a:rPr b="1"/>
              <a:t>JULY 8</a:t>
            </a:r>
          </a:p>
          <a:p>
            <a:r>
              <a:rPr b="1"/>
              <a:t>ALTERNATE PATH USED</a:t>
            </a:r>
          </a:p>
          <a:p>
            <a:r>
              <a:t>Unauthenticated WebDAV directories become the shared message board.</a:t>
            </a:r>
          </a:p>
        </p:txBody>
      </p:sp>
      <p:sp>
        <p:nvSpPr>
          <p:cNvPr id="14" name="Milestone date 1">
            <a:extLst>
              <a:ext uri="{FF2B5EF4-FFF2-40B4-BE49-F238E27FC236}">
                <a16:creationId xmlns:a16="http://schemas.microsoft.com/office/drawing/2014/main" id="{FF29DABB-E789-4918-A76E-40AF6EBADBA0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JULY 9–13</a:t>
            </a:r>
          </a:p>
        </p:txBody>
      </p:sp>
      <p:sp>
        <p:nvSpPr>
          <p:cNvPr id="15" name="Milestone text 1">
            <a:extLst>
              <a:ext uri="{FF2B5EF4-FFF2-40B4-BE49-F238E27FC236}">
                <a16:creationId xmlns:a16="http://schemas.microsoft.com/office/drawing/2014/main" id="{6B7AB528-C643-44AE-A346-6C900DC0B431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≈17,600 actions / ≈6,280 clusters</a:t>
            </a:r>
          </a:p>
        </p:txBody>
      </p:sp>
      <p:sp>
        <p:nvSpPr>
          <p:cNvPr id="16" name="Milestone date 2">
            <a:extLst>
              <a:ext uri="{FF2B5EF4-FFF2-40B4-BE49-F238E27FC236}">
                <a16:creationId xmlns:a16="http://schemas.microsoft.com/office/drawing/2014/main" id="{E6A45427-CDFA-4C9C-A460-96A1CA7502BE}"/>
              </a:ext>
            </a:extLst>
          </p:cNvPr>
          <p:cNvSpPr>
            <a:spLocks noGrp="1"/>
          </p:cNvSpPr>
          <p:nvPr/>
        </p:nvSpPr>
        <p:spPr>
          <a:xfrm>
            <a:off x="344805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UNDER 13 HOURS</a:t>
            </a:r>
          </a:p>
        </p:txBody>
      </p:sp>
      <p:sp>
        <p:nvSpPr>
          <p:cNvPr id="17" name="Milestone text 2">
            <a:extLst>
              <a:ext uri="{FF2B5EF4-FFF2-40B4-BE49-F238E27FC236}">
                <a16:creationId xmlns:a16="http://schemas.microsoft.com/office/drawing/2014/main" id="{97F886C3-1F22-427C-8D4C-FDEDF0257957}"/>
              </a:ext>
            </a:extLst>
          </p:cNvPr>
          <p:cNvSpPr>
            <a:spLocks noGrp="1"/>
          </p:cNvSpPr>
          <p:nvPr/>
        </p:nvSpPr>
        <p:spPr>
          <a:xfrm>
            <a:off x="344805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worker foothold → multi-cluster administrator</a:t>
            </a:r>
          </a:p>
        </p:txBody>
      </p:sp>
      <p:sp>
        <p:nvSpPr>
          <p:cNvPr id="18" name="Milestone date 3">
            <a:extLst>
              <a:ext uri="{FF2B5EF4-FFF2-40B4-BE49-F238E27FC236}">
                <a16:creationId xmlns:a16="http://schemas.microsoft.com/office/drawing/2014/main" id="{0EA9BB33-C4E5-44BA-82FF-EDD992EB4EB0}"/>
              </a:ext>
            </a:extLst>
          </p:cNvPr>
          <p:cNvSpPr>
            <a:spLocks noGrp="1"/>
          </p:cNvSpPr>
          <p:nvPr/>
        </p:nvSpPr>
        <p:spPr>
          <a:xfrm>
            <a:off x="621030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JULY 16–21</a:t>
            </a:r>
          </a:p>
        </p:txBody>
      </p:sp>
      <p:sp>
        <p:nvSpPr>
          <p:cNvPr id="19" name="Milestone text 3">
            <a:extLst>
              <a:ext uri="{FF2B5EF4-FFF2-40B4-BE49-F238E27FC236}">
                <a16:creationId xmlns:a16="http://schemas.microsoft.com/office/drawing/2014/main" id="{D8E6AD0A-4D48-44DB-9DB8-06953A6A0746}"/>
              </a:ext>
            </a:extLst>
          </p:cNvPr>
          <p:cNvSpPr>
            <a:spLocks noGrp="1"/>
          </p:cNvSpPr>
          <p:nvPr/>
        </p:nvSpPr>
        <p:spPr>
          <a:xfrm>
            <a:off x="621030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Hugging Face and OpenAI disclose</a:t>
            </a:r>
          </a:p>
        </p:txBody>
      </p:sp>
      <p:sp>
        <p:nvSpPr>
          <p:cNvPr id="20" name="Milestone date 4">
            <a:extLst>
              <a:ext uri="{FF2B5EF4-FFF2-40B4-BE49-F238E27FC236}">
                <a16:creationId xmlns:a16="http://schemas.microsoft.com/office/drawing/2014/main" id="{B9ACCA9A-0359-443D-8AA8-52F6BE7173B9}"/>
              </a:ext>
            </a:extLst>
          </p:cNvPr>
          <p:cNvSpPr>
            <a:spLocks noGrp="1"/>
          </p:cNvSpPr>
          <p:nvPr/>
        </p:nvSpPr>
        <p:spPr>
          <a:xfrm>
            <a:off x="897255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AUGUST 6</a:t>
            </a:r>
          </a:p>
        </p:txBody>
      </p:sp>
      <p:sp>
        <p:nvSpPr>
          <p:cNvPr id="21" name="Milestone text 4">
            <a:extLst>
              <a:ext uri="{FF2B5EF4-FFF2-40B4-BE49-F238E27FC236}">
                <a16:creationId xmlns:a16="http://schemas.microsoft.com/office/drawing/2014/main" id="{38DDC977-1B75-4D62-8098-F773E1BC9221}"/>
              </a:ext>
            </a:extLst>
          </p:cNvPr>
          <p:cNvSpPr>
            <a:spLocks noGrp="1"/>
          </p:cNvSpPr>
          <p:nvPr/>
        </p:nvSpPr>
        <p:spPr>
          <a:xfrm>
            <a:off x="897255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preliminary Black Hat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1620104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 5">
            <a:extLst>
              <a:ext uri="{FF2B5EF4-FFF2-40B4-BE49-F238E27FC236}">
                <a16:creationId xmlns:a16="http://schemas.microsoft.com/office/drawing/2014/main" id="{BE0BD8AD-03B6-4BEF-B693-5098CC9CEDCC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16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FACF0ED5-097E-4D30-8835-B2834FBE8D02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gent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W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as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ffline. 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Rest of the E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nvironment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W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as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N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ot.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68DA7B84-87A9-489B-AF74-F0D07E65583D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0584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5">
            <a:extLst>
              <a:ext uri="{FF2B5EF4-FFF2-40B4-BE49-F238E27FC236}">
                <a16:creationId xmlns:a16="http://schemas.microsoft.com/office/drawing/2014/main" id="{2409085D-124F-42D3-99F3-9C0F2FD53373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5">
            <a:extLst>
              <a:ext uri="{FF2B5EF4-FFF2-40B4-BE49-F238E27FC236}">
                <a16:creationId xmlns:a16="http://schemas.microsoft.com/office/drawing/2014/main" id="{7C46C117-0F90-4C1B-9312-B89A4A17F931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5">
            <a:extLst>
              <a:ext uri="{FF2B5EF4-FFF2-40B4-BE49-F238E27FC236}">
                <a16:creationId xmlns:a16="http://schemas.microsoft.com/office/drawing/2014/main" id="{826CFFE4-7CC7-4859-B1F1-8B82EA1E1F1B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graphicFrame>
        <p:nvGraphicFramePr>
          <p:cNvPr id="24" name="Table 23"/>
          <p:cNvGraphicFramePr/>
          <p:nvPr/>
        </p:nvGraphicFramePr>
        <p:xfrm>
          <a:off x="685800" y="2152650"/>
          <a:ext cx="10820400" cy="3286128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ASSUMPTION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WHAT REMAINED REACHABLE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ENTERPRISE TEST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CONTROL QUESTION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No direct internet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Package proxy and cache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Trace delegated egress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What can fetch for the agent?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Fresh run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Shared files and directories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Inventory persistent state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What survives the run?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One foothold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Service identities and metadata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Map lateral paths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What can this identity become?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Patched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Alternate protocol and path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Retest the whole boundary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What did we not close?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Restored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Model and data lineage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Separate closure evidence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What learned or persisted?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Patch callout">
            <a:extLst>
              <a:ext uri="{FF2B5EF4-FFF2-40B4-BE49-F238E27FC236}">
                <a16:creationId xmlns:a16="http://schemas.microsoft.com/office/drawing/2014/main" id="{CDE2E2ED-254A-4D38-99DE-D28483B1DC21}"/>
              </a:ext>
            </a:extLst>
          </p:cNvPr>
          <p:cNvSpPr>
            <a:spLocks noGrp="1"/>
          </p:cNvSpPr>
          <p:nvPr/>
        </p:nvSpPr>
        <p:spPr>
          <a:xfrm>
            <a:off x="8496300" y="5657850"/>
            <a:ext cx="3009900" cy="457200"/>
          </a:xfrm>
          <a:prstGeom prst="roundRect">
            <a:avLst>
              <a:gd name="adj" fmla="val 12500"/>
            </a:avLst>
          </a:prstGeom>
          <a:solidFill>
            <a:srgbClr val="FCE9E1"/>
          </a:solidFill>
          <a:ln w="9525">
            <a:solidFill>
              <a:srgbClr val="E86027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buNone/>
              <a:def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PATCH  ≠  BOUNDARY CLOSURE</a:t>
            </a:r>
          </a:p>
        </p:txBody>
      </p:sp>
    </p:spTree>
    <p:extLst>
      <p:ext uri="{BB962C8B-B14F-4D97-AF65-F5344CB8AC3E}">
        <p14:creationId xmlns:p14="http://schemas.microsoft.com/office/powerpoint/2010/main" val="437953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 6">
            <a:extLst>
              <a:ext uri="{FF2B5EF4-FFF2-40B4-BE49-F238E27FC236}">
                <a16:creationId xmlns:a16="http://schemas.microsoft.com/office/drawing/2014/main" id="{4DEADF63-1365-4EFF-B126-06905D7C2611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24" name="Graphic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0107F101-49DF-40D7-9667-E30406396784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Agents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W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ork in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arallel. Change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W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aits in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L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ine.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425A4E6D-A56E-436B-99DD-D3D84767438E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758952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6">
            <a:extLst>
              <a:ext uri="{FF2B5EF4-FFF2-40B4-BE49-F238E27FC236}">
                <a16:creationId xmlns:a16="http://schemas.microsoft.com/office/drawing/2014/main" id="{1104BDD9-CFD1-4D1E-9C16-1B8DF0B0B198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6">
            <a:extLst>
              <a:ext uri="{FF2B5EF4-FFF2-40B4-BE49-F238E27FC236}">
                <a16:creationId xmlns:a16="http://schemas.microsoft.com/office/drawing/2014/main" id="{1B01722E-0032-4DC6-BA39-AC80E5B6E01A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6">
            <a:extLst>
              <a:ext uri="{FF2B5EF4-FFF2-40B4-BE49-F238E27FC236}">
                <a16:creationId xmlns:a16="http://schemas.microsoft.com/office/drawing/2014/main" id="{A92E1821-C160-42A9-BB02-0D10716723BC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06</a:t>
            </a:r>
          </a:p>
        </p:txBody>
      </p:sp>
      <p:sp>
        <p:nvSpPr>
          <p:cNvPr id="11" name="Parallel heading">
            <a:extLst>
              <a:ext uri="{FF2B5EF4-FFF2-40B4-BE49-F238E27FC236}">
                <a16:creationId xmlns:a16="http://schemas.microsoft.com/office/drawing/2014/main" id="{10D63275-D892-4EB0-A220-4A379F375A11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60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PARALLEL</a:t>
            </a:r>
          </a:p>
        </p:txBody>
      </p:sp>
      <p:sp>
        <p:nvSpPr>
          <p:cNvPr id="12" name="Parallel label">
            <a:extLst>
              <a:ext uri="{FF2B5EF4-FFF2-40B4-BE49-F238E27FC236}">
                <a16:creationId xmlns:a16="http://schemas.microsoft.com/office/drawing/2014/main" id="{EF4918BA-170A-47D2-B402-0FBFDAF640A8}"/>
              </a:ext>
            </a:extLst>
          </p:cNvPr>
          <p:cNvSpPr>
            <a:spLocks noGrp="1"/>
          </p:cNvSpPr>
          <p:nvPr/>
        </p:nvSpPr>
        <p:spPr>
          <a:xfrm>
            <a:off x="685800" y="199072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AGENTS</a:t>
            </a:r>
          </a:p>
        </p:txBody>
      </p:sp>
      <p:sp>
        <p:nvSpPr>
          <p:cNvPr id="13" name="Parallel process">
            <a:extLst>
              <a:ext uri="{FF2B5EF4-FFF2-40B4-BE49-F238E27FC236}">
                <a16:creationId xmlns:a16="http://schemas.microsoft.com/office/drawing/2014/main" id="{E944C587-02BB-45FF-BF57-CC8F14208A01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8F6F0"/>
                </a:solidFill>
                <a:latin typeface="Inter"/>
                <a:ea typeface="Inter"/>
                <a:cs typeface="Inter"/>
              </a:rPr>
              <a:t>discover  →  test  →  chain  →  share  →  retry</a:t>
            </a:r>
          </a:p>
        </p:txBody>
      </p:sp>
      <p:sp>
        <p:nvSpPr>
          <p:cNvPr id="14" name="Parallel rule">
            <a:extLst>
              <a:ext uri="{FF2B5EF4-FFF2-40B4-BE49-F238E27FC236}">
                <a16:creationId xmlns:a16="http://schemas.microsoft.com/office/drawing/2014/main" id="{72AB000C-1992-4C2E-95A6-D57FAE33617E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104775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erial heading">
            <a:extLst>
              <a:ext uri="{FF2B5EF4-FFF2-40B4-BE49-F238E27FC236}">
                <a16:creationId xmlns:a16="http://schemas.microsoft.com/office/drawing/2014/main" id="{7D914A3C-3138-4635-87A1-5FCBB4126D26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6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SERIAL</a:t>
            </a:r>
          </a:p>
        </p:txBody>
      </p:sp>
      <p:sp>
        <p:nvSpPr>
          <p:cNvPr id="16" name="Serial label">
            <a:extLst>
              <a:ext uri="{FF2B5EF4-FFF2-40B4-BE49-F238E27FC236}">
                <a16:creationId xmlns:a16="http://schemas.microsoft.com/office/drawing/2014/main" id="{893D4781-55F6-4595-93ED-EA0F27E4EFDB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ORGANIZATIONS</a:t>
            </a:r>
          </a:p>
        </p:txBody>
      </p:sp>
      <p:sp>
        <p:nvSpPr>
          <p:cNvPr id="17" name="Serial process">
            <a:extLst>
              <a:ext uri="{FF2B5EF4-FFF2-40B4-BE49-F238E27FC236}">
                <a16:creationId xmlns:a16="http://schemas.microsoft.com/office/drawing/2014/main" id="{DEB02952-D5CB-4141-A279-CCDD3D24DA05}"/>
              </a:ext>
            </a:extLst>
          </p:cNvPr>
          <p:cNvSpPr>
            <a:spLocks noGrp="1"/>
          </p:cNvSpPr>
          <p:nvPr/>
        </p:nvSpPr>
        <p:spPr>
          <a:xfrm>
            <a:off x="685800" y="475297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8F6F0"/>
                </a:solidFill>
                <a:latin typeface="Inter"/>
                <a:ea typeface="Inter"/>
                <a:cs typeface="Inter"/>
              </a:rPr>
              <a:t>ticket  →  assign  →  test  →  approve  →  wait for release</a:t>
            </a:r>
          </a:p>
        </p:txBody>
      </p:sp>
      <p:sp>
        <p:nvSpPr>
          <p:cNvPr id="18" name="Serial rule">
            <a:extLst>
              <a:ext uri="{FF2B5EF4-FFF2-40B4-BE49-F238E27FC236}">
                <a16:creationId xmlns:a16="http://schemas.microsoft.com/office/drawing/2014/main" id="{EC1B3A68-C4C6-40EA-9A7A-CB4A99491CC8}"/>
              </a:ext>
            </a:extLst>
          </p:cNvPr>
          <p:cNvSpPr>
            <a:spLocks noGrp="1"/>
          </p:cNvSpPr>
          <p:nvPr/>
        </p:nvSpPr>
        <p:spPr>
          <a:xfrm>
            <a:off x="685800" y="5324475"/>
            <a:ext cx="6096000" cy="47625"/>
          </a:xfrm>
          <a:prstGeom prst="roundRect">
            <a:avLst>
              <a:gd name="adj" fmla="val 50000"/>
            </a:avLst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xposure outcome">
            <a:extLst>
              <a:ext uri="{FF2B5EF4-FFF2-40B4-BE49-F238E27FC236}">
                <a16:creationId xmlns:a16="http://schemas.microsoft.com/office/drawing/2014/main" id="{24E43CF1-46BB-4450-8404-790CB6FFAEF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025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Every wait extends exposure.</a:t>
            </a:r>
          </a:p>
        </p:txBody>
      </p:sp>
      <p:sp>
        <p:nvSpPr>
          <p:cNvPr id="20" name="Exposure consequences">
            <a:extLst>
              <a:ext uri="{FF2B5EF4-FFF2-40B4-BE49-F238E27FC236}">
                <a16:creationId xmlns:a16="http://schemas.microsoft.com/office/drawing/2014/main" id="{35979F6A-BC11-470E-BFFE-7EB2526472EA}"/>
              </a:ext>
            </a:extLst>
          </p:cNvPr>
          <p:cNvSpPr>
            <a:spLocks noGrp="1"/>
          </p:cNvSpPr>
          <p:nvPr/>
        </p:nvSpPr>
        <p:spPr>
          <a:xfrm>
            <a:off x="7429500" y="5676900"/>
            <a:ext cx="3733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0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9AA4AD"/>
                </a:solidFill>
                <a:latin typeface="Inter"/>
                <a:ea typeface="Inter"/>
                <a:cs typeface="Inter"/>
              </a:rPr>
              <a:t>outage  •  credential loss  •  lateral movement  •  external compromise</a:t>
            </a:r>
          </a:p>
        </p:txBody>
      </p:sp>
    </p:spTree>
    <p:extLst>
      <p:ext uri="{BB962C8B-B14F-4D97-AF65-F5344CB8AC3E}">
        <p14:creationId xmlns:p14="http://schemas.microsoft.com/office/powerpoint/2010/main" val="1441966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 7">
            <a:extLst>
              <a:ext uri="{FF2B5EF4-FFF2-40B4-BE49-F238E27FC236}">
                <a16:creationId xmlns:a16="http://schemas.microsoft.com/office/drawing/2014/main" id="{13BFF730-E0C9-41D0-9864-4A6FF929AF60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3" name="Graphic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7">
            <a:extLst>
              <a:ext uri="{FF2B5EF4-FFF2-40B4-BE49-F238E27FC236}">
                <a16:creationId xmlns:a16="http://schemas.microsoft.com/office/drawing/2014/main" id="{734E7AA0-D6A8-4690-92AD-0BFD119D68EC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Set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atch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eadlines by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xposure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75EFB5A1-4421-42CC-822C-5CF1BEF0E034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530352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7">
            <a:extLst>
              <a:ext uri="{FF2B5EF4-FFF2-40B4-BE49-F238E27FC236}">
                <a16:creationId xmlns:a16="http://schemas.microsoft.com/office/drawing/2014/main" id="{C34E6BCE-627C-4917-BC86-C867BFB05D2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7">
            <a:extLst>
              <a:ext uri="{FF2B5EF4-FFF2-40B4-BE49-F238E27FC236}">
                <a16:creationId xmlns:a16="http://schemas.microsoft.com/office/drawing/2014/main" id="{ECF4D6AA-7522-4781-91D6-8D8E1E5BD7C5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7">
            <a:extLst>
              <a:ext uri="{FF2B5EF4-FFF2-40B4-BE49-F238E27FC236}">
                <a16:creationId xmlns:a16="http://schemas.microsoft.com/office/drawing/2014/main" id="{647407F1-4842-495C-A4BF-929DC5A4FED5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07</a:t>
            </a:r>
          </a:p>
        </p:txBody>
      </p:sp>
      <p:sp>
        <p:nvSpPr>
          <p:cNvPr id="10" name="RECOMMENDED OPERATING TARGET badge">
            <a:extLst>
              <a:ext uri="{FF2B5EF4-FFF2-40B4-BE49-F238E27FC236}">
                <a16:creationId xmlns:a16="http://schemas.microsoft.com/office/drawing/2014/main" id="{E8CF9750-1349-42C5-A5C5-DCAE6AC2C35C}"/>
              </a:ext>
            </a:extLst>
          </p:cNvPr>
          <p:cNvSpPr>
            <a:spLocks noGrp="1"/>
          </p:cNvSpPr>
          <p:nvPr/>
        </p:nvSpPr>
        <p:spPr>
          <a:xfrm>
            <a:off x="685800" y="2028825"/>
            <a:ext cx="2362200" cy="285750"/>
          </a:xfrm>
          <a:prstGeom prst="roundRect">
            <a:avLst>
              <a:gd name="adj" fmla="val 50000"/>
            </a:avLst>
          </a:prstGeom>
          <a:solidFill>
            <a:srgbClr val="F2F0EA"/>
          </a:solidFill>
          <a:ln w="9525">
            <a:solidFill>
              <a:srgbClr val="A78BFA"/>
            </a:solidFill>
            <a:prstDash val="solid"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900" b="1">
                <a:solidFill>
                  <a:srgbClr val="00446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00446F"/>
                </a:solidFill>
                <a:latin typeface="Inter"/>
                <a:ea typeface="Inter"/>
                <a:cs typeface="Inter"/>
              </a:rPr>
              <a:t>ACSC RECOMMENDED CEILINGS</a:t>
            </a:r>
          </a:p>
        </p:txBody>
      </p:sp>
      <p:sp>
        <p:nvSpPr>
          <p:cNvPr id="11" name="48 hours metric">
            <a:extLst>
              <a:ext uri="{FF2B5EF4-FFF2-40B4-BE49-F238E27FC236}">
                <a16:creationId xmlns:a16="http://schemas.microsoft.com/office/drawing/2014/main" id="{4BC6F5CE-1D97-4B94-8C81-453A43A45A0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762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2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72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48 HOURS</a:t>
            </a:r>
          </a:p>
        </p:txBody>
      </p:sp>
      <p:sp>
        <p:nvSpPr>
          <p:cNvPr id="12" name="48 hours explanation">
            <a:extLst>
              <a:ext uri="{FF2B5EF4-FFF2-40B4-BE49-F238E27FC236}">
                <a16:creationId xmlns:a16="http://schemas.microsoft.com/office/drawing/2014/main" id="{3D1A592E-0CC8-480B-A2F5-929FCF0CF1AA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5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After </a:t>
            </a:r>
            <a:r>
              <a:rPr lang="en-US" sz="15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disclosure</a:t>
            </a:r>
            <a:r>
              <a:rPr sz="15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: critical or working-exploit flaws on internet-facing systems.</a:t>
            </a:r>
          </a:p>
        </p:txBody>
      </p:sp>
      <p:sp>
        <p:nvSpPr>
          <p:cNvPr id="13" name="Two weeks metric">
            <a:extLst>
              <a:ext uri="{FF2B5EF4-FFF2-40B4-BE49-F238E27FC236}">
                <a16:creationId xmlns:a16="http://schemas.microsoft.com/office/drawing/2014/main" id="{320AA69E-3952-42DB-B884-340CE632952B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900" b="1">
                <a:solidFill>
                  <a:srgbClr val="00446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900" b="1">
                <a:solidFill>
                  <a:srgbClr val="00446F"/>
                </a:solidFill>
                <a:latin typeface="Sofia Sans Extra Condensed"/>
                <a:ea typeface="Sofia Sans Extra Condensed"/>
                <a:cs typeface="Sofia Sans Extra Condensed"/>
              </a:rPr>
              <a:t>2 WEEKS</a:t>
            </a:r>
          </a:p>
        </p:txBody>
      </p:sp>
      <p:sp>
        <p:nvSpPr>
          <p:cNvPr id="14" name="Two weeks explanation">
            <a:extLst>
              <a:ext uri="{FF2B5EF4-FFF2-40B4-BE49-F238E27FC236}">
                <a16:creationId xmlns:a16="http://schemas.microsoft.com/office/drawing/2014/main" id="{BF9E587A-12CE-44E5-83EC-9AE57727106D}"/>
              </a:ext>
            </a:extLst>
          </p:cNvPr>
          <p:cNvSpPr>
            <a:spLocks noGrp="1"/>
          </p:cNvSpPr>
          <p:nvPr/>
        </p:nvSpPr>
        <p:spPr>
          <a:xfrm>
            <a:off x="2952750" y="4714875"/>
            <a:ext cx="342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Otherwise, patch internet-facing systems within two weeks.</a:t>
            </a:r>
          </a:p>
        </p:txBody>
      </p:sp>
      <p:sp>
        <p:nvSpPr>
          <p:cNvPr id="15" name="Action num 1">
            <a:extLst>
              <a:ext uri="{FF2B5EF4-FFF2-40B4-BE49-F238E27FC236}">
                <a16:creationId xmlns:a16="http://schemas.microsoft.com/office/drawing/2014/main" id="{2E952A9D-CA82-4E78-8A42-7D80DACE393F}"/>
              </a:ext>
            </a:extLst>
          </p:cNvPr>
          <p:cNvSpPr>
            <a:spLocks noGrp="1"/>
          </p:cNvSpPr>
          <p:nvPr/>
        </p:nvSpPr>
        <p:spPr>
          <a:xfrm>
            <a:off x="6896100" y="2152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6" name="Action head 1">
            <a:extLst>
              <a:ext uri="{FF2B5EF4-FFF2-40B4-BE49-F238E27FC236}">
                <a16:creationId xmlns:a16="http://schemas.microsoft.com/office/drawing/2014/main" id="{B005B0A5-2D84-45EA-AE3B-B3674BD378BC}"/>
              </a:ext>
            </a:extLst>
          </p:cNvPr>
          <p:cNvSpPr>
            <a:spLocks noGrp="1"/>
          </p:cNvSpPr>
          <p:nvPr/>
        </p:nvSpPr>
        <p:spPr>
          <a:xfrm>
            <a:off x="7486650" y="21526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Contain</a:t>
            </a:r>
          </a:p>
        </p:txBody>
      </p:sp>
      <p:sp>
        <p:nvSpPr>
          <p:cNvPr id="17" name="Action desc 1">
            <a:extLst>
              <a:ext uri="{FF2B5EF4-FFF2-40B4-BE49-F238E27FC236}">
                <a16:creationId xmlns:a16="http://schemas.microsoft.com/office/drawing/2014/main" id="{BC427253-3DBD-4706-B3BF-5A1BE789CD68}"/>
              </a:ext>
            </a:extLst>
          </p:cNvPr>
          <p:cNvSpPr>
            <a:spLocks noGrp="1"/>
          </p:cNvSpPr>
          <p:nvPr/>
        </p:nvSpPr>
        <p:spPr>
          <a:xfrm>
            <a:off x="7486650" y="247650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Isolate active exploitation.</a:t>
            </a:r>
          </a:p>
        </p:txBody>
      </p:sp>
      <p:sp>
        <p:nvSpPr>
          <p:cNvPr id="18" name="Action rule 1">
            <a:extLst>
              <a:ext uri="{FF2B5EF4-FFF2-40B4-BE49-F238E27FC236}">
                <a16:creationId xmlns:a16="http://schemas.microsoft.com/office/drawing/2014/main" id="{886E22F4-C87A-47FF-A64D-A075500624B1}"/>
              </a:ext>
            </a:extLst>
          </p:cNvPr>
          <p:cNvSpPr>
            <a:spLocks noGrp="1"/>
          </p:cNvSpPr>
          <p:nvPr/>
        </p:nvSpPr>
        <p:spPr>
          <a:xfrm>
            <a:off x="6896100" y="2943225"/>
            <a:ext cx="43053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ction num 2">
            <a:extLst>
              <a:ext uri="{FF2B5EF4-FFF2-40B4-BE49-F238E27FC236}">
                <a16:creationId xmlns:a16="http://schemas.microsoft.com/office/drawing/2014/main" id="{F93FFA54-E893-41C0-94BE-69C41AFFF895}"/>
              </a:ext>
            </a:extLst>
          </p:cNvPr>
          <p:cNvSpPr>
            <a:spLocks noGrp="1"/>
          </p:cNvSpPr>
          <p:nvPr/>
        </p:nvSpPr>
        <p:spPr>
          <a:xfrm>
            <a:off x="6896100" y="30480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20" name="Action head 2">
            <a:extLst>
              <a:ext uri="{FF2B5EF4-FFF2-40B4-BE49-F238E27FC236}">
                <a16:creationId xmlns:a16="http://schemas.microsoft.com/office/drawing/2014/main" id="{C19CE45B-3B2E-4F8E-A467-13A5513F0E67}"/>
              </a:ext>
            </a:extLst>
          </p:cNvPr>
          <p:cNvSpPr>
            <a:spLocks noGrp="1"/>
          </p:cNvSpPr>
          <p:nvPr/>
        </p:nvSpPr>
        <p:spPr>
          <a:xfrm>
            <a:off x="7486650" y="30480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Patch or mitigate</a:t>
            </a:r>
          </a:p>
        </p:txBody>
      </p:sp>
      <p:sp>
        <p:nvSpPr>
          <p:cNvPr id="21" name="Action desc 2">
            <a:extLst>
              <a:ext uri="{FF2B5EF4-FFF2-40B4-BE49-F238E27FC236}">
                <a16:creationId xmlns:a16="http://schemas.microsoft.com/office/drawing/2014/main" id="{C0546A9E-CE5D-454E-B95C-DDEB5A643009}"/>
              </a:ext>
            </a:extLst>
          </p:cNvPr>
          <p:cNvSpPr>
            <a:spLocks noGrp="1"/>
          </p:cNvSpPr>
          <p:nvPr/>
        </p:nvSpPr>
        <p:spPr>
          <a:xfrm>
            <a:off x="7486650" y="337185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Apply the patch or vendor mitigation within the ceiling.</a:t>
            </a:r>
          </a:p>
        </p:txBody>
      </p:sp>
      <p:sp>
        <p:nvSpPr>
          <p:cNvPr id="22" name="Action rule 2">
            <a:extLst>
              <a:ext uri="{FF2B5EF4-FFF2-40B4-BE49-F238E27FC236}">
                <a16:creationId xmlns:a16="http://schemas.microsoft.com/office/drawing/2014/main" id="{D51A1E08-D33F-4624-B54E-A6674220B459}"/>
              </a:ext>
            </a:extLst>
          </p:cNvPr>
          <p:cNvSpPr>
            <a:spLocks noGrp="1"/>
          </p:cNvSpPr>
          <p:nvPr/>
        </p:nvSpPr>
        <p:spPr>
          <a:xfrm>
            <a:off x="6896100" y="3838575"/>
            <a:ext cx="43053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ction num 3">
            <a:extLst>
              <a:ext uri="{FF2B5EF4-FFF2-40B4-BE49-F238E27FC236}">
                <a16:creationId xmlns:a16="http://schemas.microsoft.com/office/drawing/2014/main" id="{E4B00025-093A-4723-B248-B6C614CC6173}"/>
              </a:ext>
            </a:extLst>
          </p:cNvPr>
          <p:cNvSpPr>
            <a:spLocks noGrp="1"/>
          </p:cNvSpPr>
          <p:nvPr/>
        </p:nvSpPr>
        <p:spPr>
          <a:xfrm>
            <a:off x="6896100" y="39433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4" name="Action head 3">
            <a:extLst>
              <a:ext uri="{FF2B5EF4-FFF2-40B4-BE49-F238E27FC236}">
                <a16:creationId xmlns:a16="http://schemas.microsoft.com/office/drawing/2014/main" id="{52A18181-68EE-4DB1-A3B0-66FA417840C9}"/>
              </a:ext>
            </a:extLst>
          </p:cNvPr>
          <p:cNvSpPr>
            <a:spLocks noGrp="1"/>
          </p:cNvSpPr>
          <p:nvPr/>
        </p:nvSpPr>
        <p:spPr>
          <a:xfrm>
            <a:off x="7486650" y="39433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Hunt persistence</a:t>
            </a:r>
          </a:p>
        </p:txBody>
      </p:sp>
      <p:sp>
        <p:nvSpPr>
          <p:cNvPr id="25" name="Action desc 3">
            <a:extLst>
              <a:ext uri="{FF2B5EF4-FFF2-40B4-BE49-F238E27FC236}">
                <a16:creationId xmlns:a16="http://schemas.microsoft.com/office/drawing/2014/main" id="{54B0479B-50DF-4C5C-8A40-582FFFBEDD69}"/>
              </a:ext>
            </a:extLst>
          </p:cNvPr>
          <p:cNvSpPr>
            <a:spLocks noGrp="1"/>
          </p:cNvSpPr>
          <p:nvPr/>
        </p:nvSpPr>
        <p:spPr>
          <a:xfrm>
            <a:off x="7486650" y="426720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Rotate credentials and test alternate paths.</a:t>
            </a:r>
          </a:p>
        </p:txBody>
      </p:sp>
      <p:sp>
        <p:nvSpPr>
          <p:cNvPr id="26" name="Action rule 3">
            <a:extLst>
              <a:ext uri="{FF2B5EF4-FFF2-40B4-BE49-F238E27FC236}">
                <a16:creationId xmlns:a16="http://schemas.microsoft.com/office/drawing/2014/main" id="{CCC4DE4F-B3A2-4B73-96DE-138CD59E2941}"/>
              </a:ext>
            </a:extLst>
          </p:cNvPr>
          <p:cNvSpPr>
            <a:spLocks noGrp="1"/>
          </p:cNvSpPr>
          <p:nvPr/>
        </p:nvSpPr>
        <p:spPr>
          <a:xfrm>
            <a:off x="6896100" y="4733925"/>
            <a:ext cx="43053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ction num 4">
            <a:extLst>
              <a:ext uri="{FF2B5EF4-FFF2-40B4-BE49-F238E27FC236}">
                <a16:creationId xmlns:a16="http://schemas.microsoft.com/office/drawing/2014/main" id="{078C305B-F3CB-412A-B171-69855E9E6E69}"/>
              </a:ext>
            </a:extLst>
          </p:cNvPr>
          <p:cNvSpPr>
            <a:spLocks noGrp="1"/>
          </p:cNvSpPr>
          <p:nvPr/>
        </p:nvSpPr>
        <p:spPr>
          <a:xfrm>
            <a:off x="6896100" y="4838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8" name="Action head 4">
            <a:extLst>
              <a:ext uri="{FF2B5EF4-FFF2-40B4-BE49-F238E27FC236}">
                <a16:creationId xmlns:a16="http://schemas.microsoft.com/office/drawing/2014/main" id="{BB0A01FD-0957-49DC-8F03-4E077B0A143F}"/>
              </a:ext>
            </a:extLst>
          </p:cNvPr>
          <p:cNvSpPr>
            <a:spLocks noGrp="1"/>
          </p:cNvSpPr>
          <p:nvPr/>
        </p:nvSpPr>
        <p:spPr>
          <a:xfrm>
            <a:off x="7486650" y="48387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Verify closure</a:t>
            </a:r>
          </a:p>
        </p:txBody>
      </p:sp>
      <p:sp>
        <p:nvSpPr>
          <p:cNvPr id="29" name="Action desc 4">
            <a:extLst>
              <a:ext uri="{FF2B5EF4-FFF2-40B4-BE49-F238E27FC236}">
                <a16:creationId xmlns:a16="http://schemas.microsoft.com/office/drawing/2014/main" id="{310CA779-E9A8-4D98-A7F7-A5586434A121}"/>
              </a:ext>
            </a:extLst>
          </p:cNvPr>
          <p:cNvSpPr>
            <a:spLocks noGrp="1"/>
          </p:cNvSpPr>
          <p:nvPr/>
        </p:nvSpPr>
        <p:spPr>
          <a:xfrm>
            <a:off x="7486650" y="516255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Confirm coverage, cleanup, and recovery.</a:t>
            </a:r>
          </a:p>
        </p:txBody>
      </p:sp>
    </p:spTree>
    <p:extLst>
      <p:ext uri="{BB962C8B-B14F-4D97-AF65-F5344CB8AC3E}">
        <p14:creationId xmlns:p14="http://schemas.microsoft.com/office/powerpoint/2010/main" val="228020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 6">
            <a:extLst>
              <a:ext uri="{FF2B5EF4-FFF2-40B4-BE49-F238E27FC236}">
                <a16:creationId xmlns:a16="http://schemas.microsoft.com/office/drawing/2014/main" id="{4DEADF63-1365-4EFF-B126-06905D7C2611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0107F101-49DF-40D7-9667-E30406396784}"/>
              </a:ext>
            </a:extLst>
          </p:cNvPr>
          <p:cNvSpPr>
            <a:spLocks noGrp="1"/>
          </p:cNvSpPr>
          <p:nvPr/>
        </p:nvSpPr>
        <p:spPr>
          <a:xfrm>
            <a:off x="647699" y="857250"/>
            <a:ext cx="10477499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Premise: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M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ost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rganizations are not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R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eady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F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or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H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ourly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hange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425A4E6D-A56E-436B-99DD-D3D84767438E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33272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6">
            <a:extLst>
              <a:ext uri="{FF2B5EF4-FFF2-40B4-BE49-F238E27FC236}">
                <a16:creationId xmlns:a16="http://schemas.microsoft.com/office/drawing/2014/main" id="{1104BDD9-CFD1-4D1E-9C16-1B8DF0B0B198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6">
            <a:extLst>
              <a:ext uri="{FF2B5EF4-FFF2-40B4-BE49-F238E27FC236}">
                <a16:creationId xmlns:a16="http://schemas.microsoft.com/office/drawing/2014/main" id="{1B01722E-0032-4DC6-BA39-AC80E5B6E01A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6">
            <a:extLst>
              <a:ext uri="{FF2B5EF4-FFF2-40B4-BE49-F238E27FC236}">
                <a16:creationId xmlns:a16="http://schemas.microsoft.com/office/drawing/2014/main" id="{A92E1821-C160-42A9-BB02-0D10716723BC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08</a:t>
            </a:r>
          </a:p>
        </p:txBody>
      </p:sp>
      <p:sp>
        <p:nvSpPr>
          <p:cNvPr id="11" name="Parallel heading">
            <a:extLst>
              <a:ext uri="{FF2B5EF4-FFF2-40B4-BE49-F238E27FC236}">
                <a16:creationId xmlns:a16="http://schemas.microsoft.com/office/drawing/2014/main" id="{10D63275-D892-4EB0-A220-4A379F375A11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60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HOURS</a:t>
            </a:r>
          </a:p>
        </p:txBody>
      </p:sp>
      <p:sp>
        <p:nvSpPr>
          <p:cNvPr id="12" name="Parallel label">
            <a:extLst>
              <a:ext uri="{FF2B5EF4-FFF2-40B4-BE49-F238E27FC236}">
                <a16:creationId xmlns:a16="http://schemas.microsoft.com/office/drawing/2014/main" id="{EF4918BA-170A-47D2-B402-0FBFDAF640A8}"/>
              </a:ext>
            </a:extLst>
          </p:cNvPr>
          <p:cNvSpPr>
            <a:spLocks noGrp="1"/>
          </p:cNvSpPr>
          <p:nvPr/>
        </p:nvSpPr>
        <p:spPr>
          <a:xfrm>
            <a:off x="685800" y="199072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INCIDENT CLOCK</a:t>
            </a:r>
          </a:p>
        </p:txBody>
      </p:sp>
      <p:sp>
        <p:nvSpPr>
          <p:cNvPr id="13" name="Parallel process">
            <a:extLst>
              <a:ext uri="{FF2B5EF4-FFF2-40B4-BE49-F238E27FC236}">
                <a16:creationId xmlns:a16="http://schemas.microsoft.com/office/drawing/2014/main" id="{E944C587-02BB-45FF-BF57-CC8F14208A01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8F6F0"/>
                </a:solidFill>
                <a:latin typeface="Inter"/>
                <a:ea typeface="Inter"/>
                <a:cs typeface="Inter"/>
              </a:rPr>
              <a:t>exploit  →  scan  →  choose  →  chain  →  retry</a:t>
            </a:r>
          </a:p>
        </p:txBody>
      </p:sp>
      <p:sp>
        <p:nvSpPr>
          <p:cNvPr id="14" name="Parallel rule">
            <a:extLst>
              <a:ext uri="{FF2B5EF4-FFF2-40B4-BE49-F238E27FC236}">
                <a16:creationId xmlns:a16="http://schemas.microsoft.com/office/drawing/2014/main" id="{72AB000C-1992-4C2E-95A6-D57FAE33617E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104775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erial heading">
            <a:extLst>
              <a:ext uri="{FF2B5EF4-FFF2-40B4-BE49-F238E27FC236}">
                <a16:creationId xmlns:a16="http://schemas.microsoft.com/office/drawing/2014/main" id="{7D914A3C-3138-4635-87A1-5FCBB4126D26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6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WEEKS</a:t>
            </a:r>
          </a:p>
        </p:txBody>
      </p:sp>
      <p:sp>
        <p:nvSpPr>
          <p:cNvPr id="16" name="Serial label">
            <a:extLst>
              <a:ext uri="{FF2B5EF4-FFF2-40B4-BE49-F238E27FC236}">
                <a16:creationId xmlns:a16="http://schemas.microsoft.com/office/drawing/2014/main" id="{893D4781-55F6-4595-93ED-EA0F27E4EFDB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CHANGE SYSTEM</a:t>
            </a:r>
          </a:p>
        </p:txBody>
      </p:sp>
      <p:sp>
        <p:nvSpPr>
          <p:cNvPr id="17" name="Serial process">
            <a:extLst>
              <a:ext uri="{FF2B5EF4-FFF2-40B4-BE49-F238E27FC236}">
                <a16:creationId xmlns:a16="http://schemas.microsoft.com/office/drawing/2014/main" id="{DEB02952-D5CB-4141-A279-CCDD3D24DA05}"/>
              </a:ext>
            </a:extLst>
          </p:cNvPr>
          <p:cNvSpPr>
            <a:spLocks noGrp="1"/>
          </p:cNvSpPr>
          <p:nvPr/>
        </p:nvSpPr>
        <p:spPr>
          <a:xfrm>
            <a:off x="685800" y="475297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8F6F0"/>
                </a:solidFill>
                <a:latin typeface="Inter"/>
                <a:ea typeface="Inter"/>
                <a:cs typeface="Inter"/>
              </a:rPr>
              <a:t>ticket  →  board  →  test  →  approve  →  release window</a:t>
            </a:r>
          </a:p>
        </p:txBody>
      </p:sp>
      <p:sp>
        <p:nvSpPr>
          <p:cNvPr id="18" name="Serial rule">
            <a:extLst>
              <a:ext uri="{FF2B5EF4-FFF2-40B4-BE49-F238E27FC236}">
                <a16:creationId xmlns:a16="http://schemas.microsoft.com/office/drawing/2014/main" id="{EC1B3A68-C4C6-40EA-9A7A-CB4A99491CC8}"/>
              </a:ext>
            </a:extLst>
          </p:cNvPr>
          <p:cNvSpPr>
            <a:spLocks noGrp="1"/>
          </p:cNvSpPr>
          <p:nvPr/>
        </p:nvSpPr>
        <p:spPr>
          <a:xfrm>
            <a:off x="685800" y="5324475"/>
            <a:ext cx="6096000" cy="47625"/>
          </a:xfrm>
          <a:prstGeom prst="roundRect">
            <a:avLst>
              <a:gd name="adj" fmla="val 50000"/>
            </a:avLst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xposure outcome">
            <a:extLst>
              <a:ext uri="{FF2B5EF4-FFF2-40B4-BE49-F238E27FC236}">
                <a16:creationId xmlns:a16="http://schemas.microsoft.com/office/drawing/2014/main" id="{24E43CF1-46BB-4450-8404-790CB6FFAEF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025">
                <a:solidFill>
                  <a:srgbClr val="F8F6F0"/>
                </a:solidFill>
                <a:latin typeface="Optima"/>
                <a:ea typeface="Optima"/>
                <a:cs typeface="Optima"/>
              </a:rPr>
              <a:t>The wait leaves the path open.</a:t>
            </a:r>
          </a:p>
        </p:txBody>
      </p:sp>
      <p:sp>
        <p:nvSpPr>
          <p:cNvPr id="20" name="Exposure consequences">
            <a:extLst>
              <a:ext uri="{FF2B5EF4-FFF2-40B4-BE49-F238E27FC236}">
                <a16:creationId xmlns:a16="http://schemas.microsoft.com/office/drawing/2014/main" id="{35979F6A-BC11-470E-BFFE-7EB2526472EA}"/>
              </a:ext>
            </a:extLst>
          </p:cNvPr>
          <p:cNvSpPr>
            <a:spLocks noGrp="1"/>
          </p:cNvSpPr>
          <p:nvPr/>
        </p:nvSpPr>
        <p:spPr>
          <a:xfrm>
            <a:off x="7429500" y="5676900"/>
            <a:ext cx="3733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0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9AA4AD"/>
                </a:solidFill>
                <a:latin typeface="Inter"/>
                <a:ea typeface="Inter"/>
                <a:cs typeface="Inter"/>
              </a:rPr>
              <a:t>The bottleneck is the change path.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6D61910-EFAC-7E17-435C-CB36D116EA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66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 10">
            <a:extLst>
              <a:ext uri="{FF2B5EF4-FFF2-40B4-BE49-F238E27FC236}">
                <a16:creationId xmlns:a16="http://schemas.microsoft.com/office/drawing/2014/main" id="{8249FA6C-A2BC-4607-A36A-F193B95458E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1E22148-C895-4D64-89D4-FBFA73DBFC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Contain in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H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ours. Expand on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vidence.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086B123C-D090-4F7B-863D-CECB566DE5A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64008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10">
            <a:extLst>
              <a:ext uri="{FF2B5EF4-FFF2-40B4-BE49-F238E27FC236}">
                <a16:creationId xmlns:a16="http://schemas.microsoft.com/office/drawing/2014/main" id="{5E374189-58B9-4265-A797-1A5C34CDDCF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10">
            <a:extLst>
              <a:ext uri="{FF2B5EF4-FFF2-40B4-BE49-F238E27FC236}">
                <a16:creationId xmlns:a16="http://schemas.microsoft.com/office/drawing/2014/main" id="{94DDE23F-B933-4617-A499-29332006FAD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10">
            <a:extLst>
              <a:ext uri="{FF2B5EF4-FFF2-40B4-BE49-F238E27FC236}">
                <a16:creationId xmlns:a16="http://schemas.microsoft.com/office/drawing/2014/main" id="{F10212AA-0140-455C-B383-662A8064BB70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09</a:t>
            </a:r>
          </a:p>
        </p:txBody>
      </p:sp>
      <p:sp>
        <p:nvSpPr>
          <p:cNvPr id="11" name="Proof verb 1">
            <a:extLst>
              <a:ext uri="{FF2B5EF4-FFF2-40B4-BE49-F238E27FC236}">
                <a16:creationId xmlns:a16="http://schemas.microsoft.com/office/drawing/2014/main" id="{A775B0C0-EA7D-4138-8B88-220FEA70853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CONTAIN</a:t>
            </a:r>
          </a:p>
        </p:txBody>
      </p:sp>
      <p:sp>
        <p:nvSpPr>
          <p:cNvPr id="12" name="AI gradient rule 72-328">
            <a:extLst>
              <a:ext uri="{FF2B5EF4-FFF2-40B4-BE49-F238E27FC236}">
                <a16:creationId xmlns:a16="http://schemas.microsoft.com/office/drawing/2014/main" id="{33FE6B42-BBAB-472B-AC64-0001A3B17653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roof desc 1">
            <a:extLst>
              <a:ext uri="{FF2B5EF4-FFF2-40B4-BE49-F238E27FC236}">
                <a16:creationId xmlns:a16="http://schemas.microsoft.com/office/drawing/2014/main" id="{D71769AE-F4DE-452F-ABEE-52E0C1F7301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Block or isolate the path.</a:t>
            </a:r>
          </a:p>
        </p:txBody>
      </p:sp>
      <p:sp>
        <p:nvSpPr>
          <p:cNvPr id="14" name="Proof verb 2">
            <a:extLst>
              <a:ext uri="{FF2B5EF4-FFF2-40B4-BE49-F238E27FC236}">
                <a16:creationId xmlns:a16="http://schemas.microsoft.com/office/drawing/2014/main" id="{05A6157C-6E61-4B07-9924-293B6FDACCAF}"/>
              </a:ext>
            </a:extLst>
          </p:cNvPr>
          <p:cNvSpPr>
            <a:spLocks noGrp="1"/>
          </p:cNvSpPr>
          <p:nvPr/>
        </p:nvSpPr>
        <p:spPr>
          <a:xfrm>
            <a:off x="34671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MITIGATE</a:t>
            </a:r>
          </a:p>
        </p:txBody>
      </p:sp>
      <p:sp>
        <p:nvSpPr>
          <p:cNvPr id="15" name="AI gradient rule 364-328">
            <a:extLst>
              <a:ext uri="{FF2B5EF4-FFF2-40B4-BE49-F238E27FC236}">
                <a16:creationId xmlns:a16="http://schemas.microsoft.com/office/drawing/2014/main" id="{F347030A-663B-4E98-8067-D84041E8385F}"/>
              </a:ext>
            </a:extLst>
          </p:cNvPr>
          <p:cNvSpPr>
            <a:spLocks noGrp="1"/>
          </p:cNvSpPr>
          <p:nvPr/>
        </p:nvSpPr>
        <p:spPr>
          <a:xfrm>
            <a:off x="34671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roof desc 2">
            <a:extLst>
              <a:ext uri="{FF2B5EF4-FFF2-40B4-BE49-F238E27FC236}">
                <a16:creationId xmlns:a16="http://schemas.microsoft.com/office/drawing/2014/main" id="{2D66C27B-3D63-489B-8BDF-76216D627791}"/>
              </a:ext>
            </a:extLst>
          </p:cNvPr>
          <p:cNvSpPr>
            <a:spLocks noGrp="1"/>
          </p:cNvSpPr>
          <p:nvPr/>
        </p:nvSpPr>
        <p:spPr>
          <a:xfrm>
            <a:off x="34671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Cut exposure while the patch waits.</a:t>
            </a:r>
          </a:p>
        </p:txBody>
      </p:sp>
      <p:sp>
        <p:nvSpPr>
          <p:cNvPr id="17" name="Proof verb 3">
            <a:extLst>
              <a:ext uri="{FF2B5EF4-FFF2-40B4-BE49-F238E27FC236}">
                <a16:creationId xmlns:a16="http://schemas.microsoft.com/office/drawing/2014/main" id="{F3D4D07F-BE89-4C18-890A-E081361ED02B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CANARY</a:t>
            </a:r>
          </a:p>
        </p:txBody>
      </p:sp>
      <p:sp>
        <p:nvSpPr>
          <p:cNvPr id="18" name="AI gradient rule 656-328">
            <a:extLst>
              <a:ext uri="{FF2B5EF4-FFF2-40B4-BE49-F238E27FC236}">
                <a16:creationId xmlns:a16="http://schemas.microsoft.com/office/drawing/2014/main" id="{7130CC54-1330-424C-87F3-A28E152F601A}"/>
              </a:ext>
            </a:extLst>
          </p:cNvPr>
          <p:cNvSpPr>
            <a:spLocks noGrp="1"/>
          </p:cNvSpPr>
          <p:nvPr/>
        </p:nvSpPr>
        <p:spPr>
          <a:xfrm>
            <a:off x="62484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of desc 3">
            <a:extLst>
              <a:ext uri="{FF2B5EF4-FFF2-40B4-BE49-F238E27FC236}">
                <a16:creationId xmlns:a16="http://schemas.microsoft.com/office/drawing/2014/main" id="{B0AC40EC-EAB0-4211-8950-791B3D4DDBBD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Change one production slice.</a:t>
            </a:r>
          </a:p>
        </p:txBody>
      </p:sp>
      <p:sp>
        <p:nvSpPr>
          <p:cNvPr id="20" name="Proof verb 4">
            <a:extLst>
              <a:ext uri="{FF2B5EF4-FFF2-40B4-BE49-F238E27FC236}">
                <a16:creationId xmlns:a16="http://schemas.microsoft.com/office/drawing/2014/main" id="{5DA56CDE-8888-4A48-B652-17254CE26D6B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EXPAND</a:t>
            </a:r>
          </a:p>
        </p:txBody>
      </p:sp>
      <p:sp>
        <p:nvSpPr>
          <p:cNvPr id="21" name="AI gradient rule 948-328">
            <a:extLst>
              <a:ext uri="{FF2B5EF4-FFF2-40B4-BE49-F238E27FC236}">
                <a16:creationId xmlns:a16="http://schemas.microsoft.com/office/drawing/2014/main" id="{3796C288-C094-4A3C-9A73-FED970AC385A}"/>
              </a:ext>
            </a:extLst>
          </p:cNvPr>
          <p:cNvSpPr>
            <a:spLocks noGrp="1"/>
          </p:cNvSpPr>
          <p:nvPr/>
        </p:nvSpPr>
        <p:spPr>
          <a:xfrm>
            <a:off x="90297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roof desc 4">
            <a:extLst>
              <a:ext uri="{FF2B5EF4-FFF2-40B4-BE49-F238E27FC236}">
                <a16:creationId xmlns:a16="http://schemas.microsoft.com/office/drawing/2014/main" id="{BD18DF03-CA04-4AF9-81F7-325C8A22A8EB}"/>
              </a:ext>
            </a:extLst>
          </p:cNvPr>
          <p:cNvSpPr>
            <a:spLocks noGrp="1"/>
          </p:cNvSpPr>
          <p:nvPr/>
        </p:nvSpPr>
        <p:spPr>
          <a:xfrm>
            <a:off x="90297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Widen through approved health gates.</a:t>
            </a:r>
          </a:p>
        </p:txBody>
      </p:sp>
      <p:sp>
        <p:nvSpPr>
          <p:cNvPr id="23" name="Closing quote rule">
            <a:extLst>
              <a:ext uri="{FF2B5EF4-FFF2-40B4-BE49-F238E27FC236}">
                <a16:creationId xmlns:a16="http://schemas.microsoft.com/office/drawing/2014/main" id="{2850741F-D68A-480E-B58A-05794DDA505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66675" cy="1066800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losing quote">
            <a:extLst>
              <a:ext uri="{FF2B5EF4-FFF2-40B4-BE49-F238E27FC236}">
                <a16:creationId xmlns:a16="http://schemas.microsoft.com/office/drawing/2014/main" id="{AE722875-617C-477E-8AA9-A87A00CAED85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962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85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85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Lower exposure first. Widen only when the signals hold.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C974571-229D-C533-94C8-707A7736C3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5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 7">
            <a:extLst>
              <a:ext uri="{FF2B5EF4-FFF2-40B4-BE49-F238E27FC236}">
                <a16:creationId xmlns:a16="http://schemas.microsoft.com/office/drawing/2014/main" id="{13BFF730-E0C9-41D0-9864-4A6FF929AF60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3" name="Graphic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7">
            <a:extLst>
              <a:ext uri="{FF2B5EF4-FFF2-40B4-BE49-F238E27FC236}">
                <a16:creationId xmlns:a16="http://schemas.microsoft.com/office/drawing/2014/main" id="{734E7AA0-D6A8-4690-92AD-0BFD119D68EC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Build the 48-hour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ath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Now Before the Event</a:t>
            </a:r>
            <a:endParaRPr sz="3000" b="0" dirty="0">
              <a:solidFill>
                <a:srgbClr val="07090F"/>
              </a:solidFill>
              <a:latin typeface="Optima"/>
              <a:ea typeface="Optima"/>
              <a:cs typeface="Optima"/>
            </a:endParaRP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75EFB5A1-4421-42CC-822C-5CF1BEF0E034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73152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7">
            <a:extLst>
              <a:ext uri="{FF2B5EF4-FFF2-40B4-BE49-F238E27FC236}">
                <a16:creationId xmlns:a16="http://schemas.microsoft.com/office/drawing/2014/main" id="{C34E6BCE-627C-4917-BC86-C867BFB05D2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7">
            <a:extLst>
              <a:ext uri="{FF2B5EF4-FFF2-40B4-BE49-F238E27FC236}">
                <a16:creationId xmlns:a16="http://schemas.microsoft.com/office/drawing/2014/main" id="{ECF4D6AA-7522-4781-91D6-8D8E1E5BD7C5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7">
            <a:extLst>
              <a:ext uri="{FF2B5EF4-FFF2-40B4-BE49-F238E27FC236}">
                <a16:creationId xmlns:a16="http://schemas.microsoft.com/office/drawing/2014/main" id="{647407F1-4842-495C-A4BF-929DC5A4FED5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10</a:t>
            </a:r>
          </a:p>
        </p:txBody>
      </p:sp>
      <p:sp>
        <p:nvSpPr>
          <p:cNvPr id="10" name="RECOMMENDED OPERATING TARGET badge">
            <a:extLst>
              <a:ext uri="{FF2B5EF4-FFF2-40B4-BE49-F238E27FC236}">
                <a16:creationId xmlns:a16="http://schemas.microsoft.com/office/drawing/2014/main" id="{E8CF9750-1349-42C5-A5C5-DCAE6AC2C35C}"/>
              </a:ext>
            </a:extLst>
          </p:cNvPr>
          <p:cNvSpPr>
            <a:spLocks noGrp="1"/>
          </p:cNvSpPr>
          <p:nvPr/>
        </p:nvSpPr>
        <p:spPr>
          <a:xfrm>
            <a:off x="685800" y="2028825"/>
            <a:ext cx="2362200" cy="285750"/>
          </a:xfrm>
          <a:prstGeom prst="roundRect">
            <a:avLst>
              <a:gd name="adj" fmla="val 50000"/>
            </a:avLst>
          </a:prstGeom>
          <a:solidFill>
            <a:srgbClr val="F2F0EA"/>
          </a:solidFill>
          <a:ln w="9525">
            <a:solidFill>
              <a:srgbClr val="A78BFA"/>
            </a:solidFill>
            <a:prstDash val="solid"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900" b="1">
                <a:solidFill>
                  <a:srgbClr val="00446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00446F"/>
                </a:solidFill>
                <a:latin typeface="Inter"/>
                <a:ea typeface="Inter"/>
                <a:cs typeface="Inter"/>
              </a:rPr>
              <a:t>NARROW OPERATING TARGET</a:t>
            </a:r>
          </a:p>
        </p:txBody>
      </p:sp>
      <p:sp>
        <p:nvSpPr>
          <p:cNvPr id="11" name="48 hours metric">
            <a:extLst>
              <a:ext uri="{FF2B5EF4-FFF2-40B4-BE49-F238E27FC236}">
                <a16:creationId xmlns:a16="http://schemas.microsoft.com/office/drawing/2014/main" id="{4BC6F5CE-1D97-4B94-8C81-453A43A45A0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762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2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72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48 HOURS</a:t>
            </a:r>
          </a:p>
        </p:txBody>
      </p:sp>
      <p:sp>
        <p:nvSpPr>
          <p:cNvPr id="12" name="48 hours explanation">
            <a:extLst>
              <a:ext uri="{FF2B5EF4-FFF2-40B4-BE49-F238E27FC236}">
                <a16:creationId xmlns:a16="http://schemas.microsoft.com/office/drawing/2014/main" id="{3D1A592E-0CC8-480B-A2F5-929FCF0CF1AA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676869"/>
                </a:solidFill>
                <a:latin typeface="Inter"/>
                <a:ea typeface="Inter"/>
                <a:cs typeface="Inter"/>
              </a:rPr>
              <a:t>Critical or working-exploit internet-facing exposure—not every patch.</a:t>
            </a:r>
          </a:p>
        </p:txBody>
      </p:sp>
      <p:sp>
        <p:nvSpPr>
          <p:cNvPr id="13" name="Two weeks metric">
            <a:extLst>
              <a:ext uri="{FF2B5EF4-FFF2-40B4-BE49-F238E27FC236}">
                <a16:creationId xmlns:a16="http://schemas.microsoft.com/office/drawing/2014/main" id="{320AA69E-3952-42DB-B884-340CE632952B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900" b="1">
                <a:solidFill>
                  <a:srgbClr val="00446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900" b="1">
                <a:solidFill>
                  <a:srgbClr val="00446F"/>
                </a:solidFill>
                <a:latin typeface="Sofia Sans Extra Condensed"/>
                <a:ea typeface="Sofia Sans Extra Condensed"/>
                <a:cs typeface="Sofia Sans Extra Condensed"/>
              </a:rPr>
              <a:t>BEFORE</a:t>
            </a:r>
          </a:p>
        </p:txBody>
      </p:sp>
      <p:sp>
        <p:nvSpPr>
          <p:cNvPr id="14" name="Two weeks explanation">
            <a:extLst>
              <a:ext uri="{FF2B5EF4-FFF2-40B4-BE49-F238E27FC236}">
                <a16:creationId xmlns:a16="http://schemas.microsoft.com/office/drawing/2014/main" id="{BF9E587A-12CE-44E5-83EC-9AE57727106D}"/>
              </a:ext>
            </a:extLst>
          </p:cNvPr>
          <p:cNvSpPr>
            <a:spLocks noGrp="1"/>
          </p:cNvSpPr>
          <p:nvPr/>
        </p:nvSpPr>
        <p:spPr>
          <a:xfrm>
            <a:off x="2952750" y="4714875"/>
            <a:ext cx="342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The response path exists before the alert.</a:t>
            </a:r>
          </a:p>
        </p:txBody>
      </p:sp>
      <p:sp>
        <p:nvSpPr>
          <p:cNvPr id="15" name="Action num 1">
            <a:extLst>
              <a:ext uri="{FF2B5EF4-FFF2-40B4-BE49-F238E27FC236}">
                <a16:creationId xmlns:a16="http://schemas.microsoft.com/office/drawing/2014/main" id="{2E952A9D-CA82-4E78-8A42-7D80DACE393F}"/>
              </a:ext>
            </a:extLst>
          </p:cNvPr>
          <p:cNvSpPr>
            <a:spLocks noGrp="1"/>
          </p:cNvSpPr>
          <p:nvPr/>
        </p:nvSpPr>
        <p:spPr>
          <a:xfrm>
            <a:off x="6896100" y="2152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6" name="Action head 1">
            <a:extLst>
              <a:ext uri="{FF2B5EF4-FFF2-40B4-BE49-F238E27FC236}">
                <a16:creationId xmlns:a16="http://schemas.microsoft.com/office/drawing/2014/main" id="{B005B0A5-2D84-45EA-AE3B-B3674BD378BC}"/>
              </a:ext>
            </a:extLst>
          </p:cNvPr>
          <p:cNvSpPr>
            <a:spLocks noGrp="1"/>
          </p:cNvSpPr>
          <p:nvPr/>
        </p:nvSpPr>
        <p:spPr>
          <a:xfrm>
            <a:off x="7486650" y="21526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OWNER</a:t>
            </a:r>
          </a:p>
        </p:txBody>
      </p:sp>
      <p:sp>
        <p:nvSpPr>
          <p:cNvPr id="17" name="Action desc 1">
            <a:extLst>
              <a:ext uri="{FF2B5EF4-FFF2-40B4-BE49-F238E27FC236}">
                <a16:creationId xmlns:a16="http://schemas.microsoft.com/office/drawing/2014/main" id="{BC427253-3DBD-4706-B3BF-5A1BE789CD68}"/>
              </a:ext>
            </a:extLst>
          </p:cNvPr>
          <p:cNvSpPr>
            <a:spLocks noGrp="1"/>
          </p:cNvSpPr>
          <p:nvPr/>
        </p:nvSpPr>
        <p:spPr>
          <a:xfrm>
            <a:off x="7486650" y="247650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Service owner, operator, approver, backup.</a:t>
            </a:r>
          </a:p>
        </p:txBody>
      </p:sp>
      <p:sp>
        <p:nvSpPr>
          <p:cNvPr id="18" name="Action rule 1">
            <a:extLst>
              <a:ext uri="{FF2B5EF4-FFF2-40B4-BE49-F238E27FC236}">
                <a16:creationId xmlns:a16="http://schemas.microsoft.com/office/drawing/2014/main" id="{886E22F4-C87A-47FF-A64D-A075500624B1}"/>
              </a:ext>
            </a:extLst>
          </p:cNvPr>
          <p:cNvSpPr>
            <a:spLocks noGrp="1"/>
          </p:cNvSpPr>
          <p:nvPr/>
        </p:nvSpPr>
        <p:spPr>
          <a:xfrm>
            <a:off x="6896100" y="2943225"/>
            <a:ext cx="43053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ction num 2">
            <a:extLst>
              <a:ext uri="{FF2B5EF4-FFF2-40B4-BE49-F238E27FC236}">
                <a16:creationId xmlns:a16="http://schemas.microsoft.com/office/drawing/2014/main" id="{F93FFA54-E893-41C0-94BE-69C41AFFF895}"/>
              </a:ext>
            </a:extLst>
          </p:cNvPr>
          <p:cNvSpPr>
            <a:spLocks noGrp="1"/>
          </p:cNvSpPr>
          <p:nvPr/>
        </p:nvSpPr>
        <p:spPr>
          <a:xfrm>
            <a:off x="6896100" y="30480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20" name="Action head 2">
            <a:extLst>
              <a:ext uri="{FF2B5EF4-FFF2-40B4-BE49-F238E27FC236}">
                <a16:creationId xmlns:a16="http://schemas.microsoft.com/office/drawing/2014/main" id="{C19CE45B-3B2E-4F8E-A467-13A5513F0E67}"/>
              </a:ext>
            </a:extLst>
          </p:cNvPr>
          <p:cNvSpPr>
            <a:spLocks noGrp="1"/>
          </p:cNvSpPr>
          <p:nvPr/>
        </p:nvSpPr>
        <p:spPr>
          <a:xfrm>
            <a:off x="7486650" y="30480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EVIDENCE</a:t>
            </a:r>
          </a:p>
        </p:txBody>
      </p:sp>
      <p:sp>
        <p:nvSpPr>
          <p:cNvPr id="21" name="Action desc 2">
            <a:extLst>
              <a:ext uri="{FF2B5EF4-FFF2-40B4-BE49-F238E27FC236}">
                <a16:creationId xmlns:a16="http://schemas.microsoft.com/office/drawing/2014/main" id="{C0546A9E-CE5D-454E-B95C-DDEB5A643009}"/>
              </a:ext>
            </a:extLst>
          </p:cNvPr>
          <p:cNvSpPr>
            <a:spLocks noGrp="1"/>
          </p:cNvSpPr>
          <p:nvPr/>
        </p:nvSpPr>
        <p:spPr>
          <a:xfrm>
            <a:off x="7486650" y="337185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Asset, version, dependency, exploit.</a:t>
            </a:r>
          </a:p>
        </p:txBody>
      </p:sp>
      <p:sp>
        <p:nvSpPr>
          <p:cNvPr id="22" name="Action rule 2">
            <a:extLst>
              <a:ext uri="{FF2B5EF4-FFF2-40B4-BE49-F238E27FC236}">
                <a16:creationId xmlns:a16="http://schemas.microsoft.com/office/drawing/2014/main" id="{D51A1E08-D33F-4624-B54E-A6674220B459}"/>
              </a:ext>
            </a:extLst>
          </p:cNvPr>
          <p:cNvSpPr>
            <a:spLocks noGrp="1"/>
          </p:cNvSpPr>
          <p:nvPr/>
        </p:nvSpPr>
        <p:spPr>
          <a:xfrm>
            <a:off x="6896100" y="3838575"/>
            <a:ext cx="43053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ction num 3">
            <a:extLst>
              <a:ext uri="{FF2B5EF4-FFF2-40B4-BE49-F238E27FC236}">
                <a16:creationId xmlns:a16="http://schemas.microsoft.com/office/drawing/2014/main" id="{E4B00025-093A-4723-B248-B6C614CC6173}"/>
              </a:ext>
            </a:extLst>
          </p:cNvPr>
          <p:cNvSpPr>
            <a:spLocks noGrp="1"/>
          </p:cNvSpPr>
          <p:nvPr/>
        </p:nvSpPr>
        <p:spPr>
          <a:xfrm>
            <a:off x="6896100" y="39433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4" name="Action head 3">
            <a:extLst>
              <a:ext uri="{FF2B5EF4-FFF2-40B4-BE49-F238E27FC236}">
                <a16:creationId xmlns:a16="http://schemas.microsoft.com/office/drawing/2014/main" id="{52A18181-68EE-4DB1-A3B0-66FA417840C9}"/>
              </a:ext>
            </a:extLst>
          </p:cNvPr>
          <p:cNvSpPr>
            <a:spLocks noGrp="1"/>
          </p:cNvSpPr>
          <p:nvPr/>
        </p:nvSpPr>
        <p:spPr>
          <a:xfrm>
            <a:off x="7486650" y="39433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PATH</a:t>
            </a:r>
          </a:p>
        </p:txBody>
      </p:sp>
      <p:sp>
        <p:nvSpPr>
          <p:cNvPr id="25" name="Action desc 3">
            <a:extLst>
              <a:ext uri="{FF2B5EF4-FFF2-40B4-BE49-F238E27FC236}">
                <a16:creationId xmlns:a16="http://schemas.microsoft.com/office/drawing/2014/main" id="{54B0479B-50DF-4C5C-8A40-582FFFBEDD69}"/>
              </a:ext>
            </a:extLst>
          </p:cNvPr>
          <p:cNvSpPr>
            <a:spLocks noGrp="1"/>
          </p:cNvSpPr>
          <p:nvPr/>
        </p:nvSpPr>
        <p:spPr>
          <a:xfrm>
            <a:off x="7486650" y="426720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Tested fix and canary route.</a:t>
            </a:r>
          </a:p>
        </p:txBody>
      </p:sp>
      <p:sp>
        <p:nvSpPr>
          <p:cNvPr id="26" name="Action rule 3">
            <a:extLst>
              <a:ext uri="{FF2B5EF4-FFF2-40B4-BE49-F238E27FC236}">
                <a16:creationId xmlns:a16="http://schemas.microsoft.com/office/drawing/2014/main" id="{CCC4DE4F-B3A2-4B73-96DE-138CD59E2941}"/>
              </a:ext>
            </a:extLst>
          </p:cNvPr>
          <p:cNvSpPr>
            <a:spLocks noGrp="1"/>
          </p:cNvSpPr>
          <p:nvPr/>
        </p:nvSpPr>
        <p:spPr>
          <a:xfrm>
            <a:off x="6896100" y="4733925"/>
            <a:ext cx="43053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ction num 4">
            <a:extLst>
              <a:ext uri="{FF2B5EF4-FFF2-40B4-BE49-F238E27FC236}">
                <a16:creationId xmlns:a16="http://schemas.microsoft.com/office/drawing/2014/main" id="{078C305B-F3CB-412A-B171-69855E9E6E69}"/>
              </a:ext>
            </a:extLst>
          </p:cNvPr>
          <p:cNvSpPr>
            <a:spLocks noGrp="1"/>
          </p:cNvSpPr>
          <p:nvPr/>
        </p:nvSpPr>
        <p:spPr>
          <a:xfrm>
            <a:off x="6896100" y="4838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8" name="Action head 4">
            <a:extLst>
              <a:ext uri="{FF2B5EF4-FFF2-40B4-BE49-F238E27FC236}">
                <a16:creationId xmlns:a16="http://schemas.microsoft.com/office/drawing/2014/main" id="{BB0A01FD-0957-49DC-8F03-4E077B0A143F}"/>
              </a:ext>
            </a:extLst>
          </p:cNvPr>
          <p:cNvSpPr>
            <a:spLocks noGrp="1"/>
          </p:cNvSpPr>
          <p:nvPr/>
        </p:nvSpPr>
        <p:spPr>
          <a:xfrm>
            <a:off x="7486650" y="48387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EXIT</a:t>
            </a:r>
          </a:p>
        </p:txBody>
      </p:sp>
      <p:sp>
        <p:nvSpPr>
          <p:cNvPr id="29" name="Action desc 4">
            <a:extLst>
              <a:ext uri="{FF2B5EF4-FFF2-40B4-BE49-F238E27FC236}">
                <a16:creationId xmlns:a16="http://schemas.microsoft.com/office/drawing/2014/main" id="{310CA779-E9A8-4D98-A7F7-A5586434A121}"/>
              </a:ext>
            </a:extLst>
          </p:cNvPr>
          <p:cNvSpPr>
            <a:spLocks noGrp="1"/>
          </p:cNvSpPr>
          <p:nvPr/>
        </p:nvSpPr>
        <p:spPr>
          <a:xfrm>
            <a:off x="7486650" y="516255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Rollback, roll-forward, or failover.</a:t>
            </a:r>
          </a:p>
        </p:txBody>
      </p:sp>
    </p:spTree>
    <p:extLst>
      <p:ext uri="{BB962C8B-B14F-4D97-AF65-F5344CB8AC3E}">
        <p14:creationId xmlns:p14="http://schemas.microsoft.com/office/powerpoint/2010/main" val="228020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 5">
            <a:extLst>
              <a:ext uri="{FF2B5EF4-FFF2-40B4-BE49-F238E27FC236}">
                <a16:creationId xmlns:a16="http://schemas.microsoft.com/office/drawing/2014/main" id="{BE0BD8AD-03B6-4BEF-B693-5098CC9CEDCC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16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FACF0ED5-097E-4D30-8835-B2834FBE8D02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Inventory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ust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nswer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N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ow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68DA7B84-87A9-489B-AF74-F0D07E65583D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448056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5">
            <a:extLst>
              <a:ext uri="{FF2B5EF4-FFF2-40B4-BE49-F238E27FC236}">
                <a16:creationId xmlns:a16="http://schemas.microsoft.com/office/drawing/2014/main" id="{2409085D-124F-42D3-99F3-9C0F2FD53373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5">
            <a:extLst>
              <a:ext uri="{FF2B5EF4-FFF2-40B4-BE49-F238E27FC236}">
                <a16:creationId xmlns:a16="http://schemas.microsoft.com/office/drawing/2014/main" id="{7C46C117-0F90-4C1B-9312-B89A4A17F931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5">
            <a:extLst>
              <a:ext uri="{FF2B5EF4-FFF2-40B4-BE49-F238E27FC236}">
                <a16:creationId xmlns:a16="http://schemas.microsoft.com/office/drawing/2014/main" id="{826CFFE4-7CC7-4859-B1F1-8B82EA1E1F1B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12</a:t>
            </a:r>
          </a:p>
        </p:txBody>
      </p:sp>
      <p:graphicFrame>
        <p:nvGraphicFramePr>
          <p:cNvPr id="24" name="Table 23"/>
          <p:cNvGraphicFramePr/>
          <p:nvPr/>
        </p:nvGraphicFramePr>
        <p:xfrm>
          <a:off x="685800" y="2152650"/>
          <a:ext cx="10820400" cy="3286128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QUESTION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ANSWER NEEDED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EVIDENCE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RED FLAG</a:t>
                      </a:r>
                    </a:p>
                  </a:txBody>
                  <a:tcPr marL="95250" marR="95250" marT="76200" marB="76200" anchor="ctr">
                    <a:solidFill>
                      <a:srgbClr val="004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Exposed?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Endpoint, protocol, path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Runtime + network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Scan mismatch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Running?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Version, configuration, drift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Deployment + asset records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Stale state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Owner?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Primary, backup, approver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Catalog + on-call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No owner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Dependencies?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Upstream, downstream, vendor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Telemetry + service map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Hidden break</a:t>
                      </a:r>
                    </a:p>
                  </a:txBody>
                  <a:tcPr marL="95250" marR="95250" marT="85725" marB="85725" anchor="ctr">
                    <a:solidFill>
                      <a:srgbClr val="E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446F"/>
                          </a:solidFill>
                          <a:latin typeface="Inter"/>
                          <a:ea typeface="Inter"/>
                          <a:cs typeface="Inter"/>
                        </a:rPr>
                        <a:t>Stop path?</a:t>
                      </a:r>
                    </a:p>
                  </a:txBody>
                  <a:tcPr marL="95250" marR="95250" marT="85725" marB="85725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Isolation, kill switch, outage limit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Tested runbook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7090F"/>
                          </a:solidFill>
                          <a:latin typeface="Inter"/>
                          <a:ea typeface="Inter"/>
                          <a:cs typeface="Inter"/>
                        </a:rPr>
                        <a:t>No safe stop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Patch callout">
            <a:extLst>
              <a:ext uri="{FF2B5EF4-FFF2-40B4-BE49-F238E27FC236}">
                <a16:creationId xmlns:a16="http://schemas.microsoft.com/office/drawing/2014/main" id="{CDE2E2ED-254A-4D38-99DE-D28483B1DC21}"/>
              </a:ext>
            </a:extLst>
          </p:cNvPr>
          <p:cNvSpPr>
            <a:spLocks noGrp="1"/>
          </p:cNvSpPr>
          <p:nvPr/>
        </p:nvSpPr>
        <p:spPr>
          <a:xfrm>
            <a:off x="8496300" y="5657850"/>
            <a:ext cx="3009900" cy="457200"/>
          </a:xfrm>
          <a:prstGeom prst="roundRect">
            <a:avLst>
              <a:gd name="adj" fmla="val 12500"/>
            </a:avLst>
          </a:prstGeom>
          <a:solidFill>
            <a:srgbClr val="FCE9E1"/>
          </a:solidFill>
          <a:ln w="9525">
            <a:solidFill>
              <a:srgbClr val="E86027"/>
            </a:solidFill>
            <a:prstDash val="solid"/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buNone/>
              <a:def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CURRENT ENOUGH TO ACT</a:t>
            </a:r>
          </a:p>
        </p:txBody>
      </p:sp>
    </p:spTree>
    <p:extLst>
      <p:ext uri="{BB962C8B-B14F-4D97-AF65-F5344CB8AC3E}">
        <p14:creationId xmlns:p14="http://schemas.microsoft.com/office/powerpoint/2010/main" val="437953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 10">
            <a:extLst>
              <a:ext uri="{FF2B5EF4-FFF2-40B4-BE49-F238E27FC236}">
                <a16:creationId xmlns:a16="http://schemas.microsoft.com/office/drawing/2014/main" id="{8249FA6C-A2BC-4607-A36A-F193B95458E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1E22148-C895-4D64-89D4-FBFA73DBFC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Dependencies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B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elong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I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nside the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B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oundary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086B123C-D090-4F7B-863D-CECB566DE5A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694944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10">
            <a:extLst>
              <a:ext uri="{FF2B5EF4-FFF2-40B4-BE49-F238E27FC236}">
                <a16:creationId xmlns:a16="http://schemas.microsoft.com/office/drawing/2014/main" id="{5E374189-58B9-4265-A797-1A5C34CDDCF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10">
            <a:extLst>
              <a:ext uri="{FF2B5EF4-FFF2-40B4-BE49-F238E27FC236}">
                <a16:creationId xmlns:a16="http://schemas.microsoft.com/office/drawing/2014/main" id="{94DDE23F-B933-4617-A499-29332006FAD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10">
            <a:extLst>
              <a:ext uri="{FF2B5EF4-FFF2-40B4-BE49-F238E27FC236}">
                <a16:creationId xmlns:a16="http://schemas.microsoft.com/office/drawing/2014/main" id="{F10212AA-0140-455C-B383-662A8064BB70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13</a:t>
            </a:r>
          </a:p>
        </p:txBody>
      </p:sp>
      <p:sp>
        <p:nvSpPr>
          <p:cNvPr id="11" name="Proof verb 1">
            <a:extLst>
              <a:ext uri="{FF2B5EF4-FFF2-40B4-BE49-F238E27FC236}">
                <a16:creationId xmlns:a16="http://schemas.microsoft.com/office/drawing/2014/main" id="{A775B0C0-EA7D-4138-8B88-220FEA70853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BUILD</a:t>
            </a:r>
          </a:p>
        </p:txBody>
      </p:sp>
      <p:sp>
        <p:nvSpPr>
          <p:cNvPr id="12" name="AI gradient rule 72-328">
            <a:extLst>
              <a:ext uri="{FF2B5EF4-FFF2-40B4-BE49-F238E27FC236}">
                <a16:creationId xmlns:a16="http://schemas.microsoft.com/office/drawing/2014/main" id="{33FE6B42-BBAB-472B-AC64-0001A3B17653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roof desc 1">
            <a:extLst>
              <a:ext uri="{FF2B5EF4-FFF2-40B4-BE49-F238E27FC236}">
                <a16:creationId xmlns:a16="http://schemas.microsoft.com/office/drawing/2014/main" id="{D71769AE-F4DE-452F-ABEE-52E0C1F7301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Packages, images, registries, signing paths.</a:t>
            </a:r>
          </a:p>
        </p:txBody>
      </p:sp>
      <p:sp>
        <p:nvSpPr>
          <p:cNvPr id="14" name="Proof verb 2">
            <a:extLst>
              <a:ext uri="{FF2B5EF4-FFF2-40B4-BE49-F238E27FC236}">
                <a16:creationId xmlns:a16="http://schemas.microsoft.com/office/drawing/2014/main" id="{05A6157C-6E61-4B07-9924-293B6FDACCAF}"/>
              </a:ext>
            </a:extLst>
          </p:cNvPr>
          <p:cNvSpPr>
            <a:spLocks noGrp="1"/>
          </p:cNvSpPr>
          <p:nvPr/>
        </p:nvSpPr>
        <p:spPr>
          <a:xfrm>
            <a:off x="34671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RUN</a:t>
            </a:r>
          </a:p>
        </p:txBody>
      </p:sp>
      <p:sp>
        <p:nvSpPr>
          <p:cNvPr id="15" name="AI gradient rule 364-328">
            <a:extLst>
              <a:ext uri="{FF2B5EF4-FFF2-40B4-BE49-F238E27FC236}">
                <a16:creationId xmlns:a16="http://schemas.microsoft.com/office/drawing/2014/main" id="{F347030A-663B-4E98-8067-D84041E8385F}"/>
              </a:ext>
            </a:extLst>
          </p:cNvPr>
          <p:cNvSpPr>
            <a:spLocks noGrp="1"/>
          </p:cNvSpPr>
          <p:nvPr/>
        </p:nvSpPr>
        <p:spPr>
          <a:xfrm>
            <a:off x="34671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roof desc 2">
            <a:extLst>
              <a:ext uri="{FF2B5EF4-FFF2-40B4-BE49-F238E27FC236}">
                <a16:creationId xmlns:a16="http://schemas.microsoft.com/office/drawing/2014/main" id="{2D66C27B-3D63-489B-8BDF-76216D627791}"/>
              </a:ext>
            </a:extLst>
          </p:cNvPr>
          <p:cNvSpPr>
            <a:spLocks noGrp="1"/>
          </p:cNvSpPr>
          <p:nvPr/>
        </p:nvSpPr>
        <p:spPr>
          <a:xfrm>
            <a:off x="34671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APIs, queues, storage, vendor services.</a:t>
            </a:r>
          </a:p>
        </p:txBody>
      </p:sp>
      <p:sp>
        <p:nvSpPr>
          <p:cNvPr id="17" name="Proof verb 3">
            <a:extLst>
              <a:ext uri="{FF2B5EF4-FFF2-40B4-BE49-F238E27FC236}">
                <a16:creationId xmlns:a16="http://schemas.microsoft.com/office/drawing/2014/main" id="{F3D4D07F-BE89-4C18-890A-E081361ED02B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TRUST</a:t>
            </a:r>
          </a:p>
        </p:txBody>
      </p:sp>
      <p:sp>
        <p:nvSpPr>
          <p:cNvPr id="18" name="AI gradient rule 656-328">
            <a:extLst>
              <a:ext uri="{FF2B5EF4-FFF2-40B4-BE49-F238E27FC236}">
                <a16:creationId xmlns:a16="http://schemas.microsoft.com/office/drawing/2014/main" id="{7130CC54-1330-424C-87F3-A28E152F601A}"/>
              </a:ext>
            </a:extLst>
          </p:cNvPr>
          <p:cNvSpPr>
            <a:spLocks noGrp="1"/>
          </p:cNvSpPr>
          <p:nvPr/>
        </p:nvSpPr>
        <p:spPr>
          <a:xfrm>
            <a:off x="62484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of desc 3">
            <a:extLst>
              <a:ext uri="{FF2B5EF4-FFF2-40B4-BE49-F238E27FC236}">
                <a16:creationId xmlns:a16="http://schemas.microsoft.com/office/drawing/2014/main" id="{B0AC40EC-EAB0-4211-8950-791B3D4DDBBD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Identities, secrets, roles, agents.</a:t>
            </a:r>
          </a:p>
        </p:txBody>
      </p:sp>
      <p:sp>
        <p:nvSpPr>
          <p:cNvPr id="20" name="Proof verb 4">
            <a:extLst>
              <a:ext uri="{FF2B5EF4-FFF2-40B4-BE49-F238E27FC236}">
                <a16:creationId xmlns:a16="http://schemas.microsoft.com/office/drawing/2014/main" id="{5DA56CDE-8888-4A48-B652-17254CE26D6B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REACH</a:t>
            </a:r>
          </a:p>
        </p:txBody>
      </p:sp>
      <p:sp>
        <p:nvSpPr>
          <p:cNvPr id="21" name="AI gradient rule 948-328">
            <a:extLst>
              <a:ext uri="{FF2B5EF4-FFF2-40B4-BE49-F238E27FC236}">
                <a16:creationId xmlns:a16="http://schemas.microsoft.com/office/drawing/2014/main" id="{3796C288-C094-4A3C-9A73-FED970AC385A}"/>
              </a:ext>
            </a:extLst>
          </p:cNvPr>
          <p:cNvSpPr>
            <a:spLocks noGrp="1"/>
          </p:cNvSpPr>
          <p:nvPr/>
        </p:nvSpPr>
        <p:spPr>
          <a:xfrm>
            <a:off x="90297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roof desc 4">
            <a:extLst>
              <a:ext uri="{FF2B5EF4-FFF2-40B4-BE49-F238E27FC236}">
                <a16:creationId xmlns:a16="http://schemas.microsoft.com/office/drawing/2014/main" id="{BD18DF03-CA04-4AF9-81F7-325C8A22A8EB}"/>
              </a:ext>
            </a:extLst>
          </p:cNvPr>
          <p:cNvSpPr>
            <a:spLocks noGrp="1"/>
          </p:cNvSpPr>
          <p:nvPr/>
        </p:nvSpPr>
        <p:spPr>
          <a:xfrm>
            <a:off x="90297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Egress, proxies, mirrors, control planes.</a:t>
            </a:r>
          </a:p>
        </p:txBody>
      </p:sp>
      <p:sp>
        <p:nvSpPr>
          <p:cNvPr id="23" name="Closing quote rule">
            <a:extLst>
              <a:ext uri="{FF2B5EF4-FFF2-40B4-BE49-F238E27FC236}">
                <a16:creationId xmlns:a16="http://schemas.microsoft.com/office/drawing/2014/main" id="{2850741F-D68A-480E-B58A-05794DDA505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66675" cy="1066800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losing quote">
            <a:extLst>
              <a:ext uri="{FF2B5EF4-FFF2-40B4-BE49-F238E27FC236}">
                <a16:creationId xmlns:a16="http://schemas.microsoft.com/office/drawing/2014/main" id="{AE722875-617C-477E-8AA9-A87A00CAED85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962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85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85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Map anything that can reach or act for the workload.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814E873-0C7F-CC7F-7D4D-C8E268E112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5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yebrow 9">
            <a:extLst>
              <a:ext uri="{FF2B5EF4-FFF2-40B4-BE49-F238E27FC236}">
                <a16:creationId xmlns:a16="http://schemas.microsoft.com/office/drawing/2014/main" id="{F0C40A05-7E47-4B18-9D2D-AF262E45283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8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9">
            <a:extLst>
              <a:ext uri="{FF2B5EF4-FFF2-40B4-BE49-F238E27FC236}">
                <a16:creationId xmlns:a16="http://schemas.microsoft.com/office/drawing/2014/main" id="{F5B4AB32-7ACC-4447-A913-483EAC01BA2C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upply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hain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I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ncludes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ode,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odels, and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ata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7256E6D2-ED2D-4295-B074-95EC2223CA74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841248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9">
            <a:extLst>
              <a:ext uri="{FF2B5EF4-FFF2-40B4-BE49-F238E27FC236}">
                <a16:creationId xmlns:a16="http://schemas.microsoft.com/office/drawing/2014/main" id="{A5615038-A2A4-49A3-8891-78CCA8054BA8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9">
            <a:extLst>
              <a:ext uri="{FF2B5EF4-FFF2-40B4-BE49-F238E27FC236}">
                <a16:creationId xmlns:a16="http://schemas.microsoft.com/office/drawing/2014/main" id="{92DF811F-C8C6-4A73-A9A9-7644830B63E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9">
            <a:extLst>
              <a:ext uri="{FF2B5EF4-FFF2-40B4-BE49-F238E27FC236}">
                <a16:creationId xmlns:a16="http://schemas.microsoft.com/office/drawing/2014/main" id="{EF2F7BD4-83E5-4B4A-B73B-CA3586CAA375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14</a:t>
            </a:r>
          </a:p>
        </p:txBody>
      </p:sp>
      <p:sp>
        <p:nvSpPr>
          <p:cNvPr id="10" name="Design intent qualifier">
            <a:extLst>
              <a:ext uri="{FF2B5EF4-FFF2-40B4-BE49-F238E27FC236}">
                <a16:creationId xmlns:a16="http://schemas.microsoft.com/office/drawing/2014/main" id="{803A04D4-4A4B-4B2D-8C75-21C71D23B99D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i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 i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An SBOM lists components. It does not prove reachability or a safe fix.</a:t>
            </a:r>
          </a:p>
        </p:txBody>
      </p:sp>
      <p:sp>
        <p:nvSpPr>
          <p:cNvPr id="11" name="Mapping num 1">
            <a:extLst>
              <a:ext uri="{FF2B5EF4-FFF2-40B4-BE49-F238E27FC236}">
                <a16:creationId xmlns:a16="http://schemas.microsoft.com/office/drawing/2014/main" id="{501A61B0-E4AC-4D1E-9460-D1A4B21CBABF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2" name="Mapping failure 1">
            <a:extLst>
              <a:ext uri="{FF2B5EF4-FFF2-40B4-BE49-F238E27FC236}">
                <a16:creationId xmlns:a16="http://schemas.microsoft.com/office/drawing/2014/main" id="{22D732FA-4C71-4260-9F14-9300E00593AA}"/>
              </a:ext>
            </a:extLst>
          </p:cNvPr>
          <p:cNvSpPr>
            <a:spLocks noGrp="1"/>
          </p:cNvSpPr>
          <p:nvPr/>
        </p:nvSpPr>
        <p:spPr>
          <a:xfrm>
            <a:off x="1333500" y="24765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Code + images</a:t>
            </a:r>
          </a:p>
        </p:txBody>
      </p:sp>
      <p:sp>
        <p:nvSpPr>
          <p:cNvPr id="13" name="Mapping arrow 1">
            <a:extLst>
              <a:ext uri="{FF2B5EF4-FFF2-40B4-BE49-F238E27FC236}">
                <a16:creationId xmlns:a16="http://schemas.microsoft.com/office/drawing/2014/main" id="{C3ECD60A-9D8D-4D32-9A59-C4A11062A610}"/>
              </a:ext>
            </a:extLst>
          </p:cNvPr>
          <p:cNvSpPr>
            <a:spLocks noGrp="1"/>
          </p:cNvSpPr>
          <p:nvPr/>
        </p:nvSpPr>
        <p:spPr>
          <a:xfrm>
            <a:off x="5581650" y="24765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4" name="Mapping response 1">
            <a:extLst>
              <a:ext uri="{FF2B5EF4-FFF2-40B4-BE49-F238E27FC236}">
                <a16:creationId xmlns:a16="http://schemas.microsoft.com/office/drawing/2014/main" id="{1D10A7AB-9467-4CA1-9294-2BEE4E1814C9}"/>
              </a:ext>
            </a:extLst>
          </p:cNvPr>
          <p:cNvSpPr>
            <a:spLocks noGrp="1"/>
          </p:cNvSpPr>
          <p:nvPr/>
        </p:nvSpPr>
        <p:spPr>
          <a:xfrm>
            <a:off x="6267450" y="24765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Origin, version, integrity, owner</a:t>
            </a:r>
          </a:p>
        </p:txBody>
      </p:sp>
      <p:sp>
        <p:nvSpPr>
          <p:cNvPr id="15" name="Mapping rule 1">
            <a:extLst>
              <a:ext uri="{FF2B5EF4-FFF2-40B4-BE49-F238E27FC236}">
                <a16:creationId xmlns:a16="http://schemas.microsoft.com/office/drawing/2014/main" id="{CCF4BDAD-527F-40E3-BE08-7D115059D8C1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apping num 2">
            <a:extLst>
              <a:ext uri="{FF2B5EF4-FFF2-40B4-BE49-F238E27FC236}">
                <a16:creationId xmlns:a16="http://schemas.microsoft.com/office/drawing/2014/main" id="{DE8ACA02-0129-4087-AA6E-0495856A9A5B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Mapping failure 2">
            <a:extLst>
              <a:ext uri="{FF2B5EF4-FFF2-40B4-BE49-F238E27FC236}">
                <a16:creationId xmlns:a16="http://schemas.microsoft.com/office/drawing/2014/main" id="{A935E96F-AB8A-4369-BFAF-4F34A97B10AE}"/>
              </a:ext>
            </a:extLst>
          </p:cNvPr>
          <p:cNvSpPr>
            <a:spLocks noGrp="1"/>
          </p:cNvSpPr>
          <p:nvPr/>
        </p:nvSpPr>
        <p:spPr>
          <a:xfrm>
            <a:off x="1333500" y="32004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Models + prompts</a:t>
            </a:r>
          </a:p>
        </p:txBody>
      </p:sp>
      <p:sp>
        <p:nvSpPr>
          <p:cNvPr id="18" name="Mapping arrow 2">
            <a:extLst>
              <a:ext uri="{FF2B5EF4-FFF2-40B4-BE49-F238E27FC236}">
                <a16:creationId xmlns:a16="http://schemas.microsoft.com/office/drawing/2014/main" id="{A5E6EBC3-5E38-4DB2-AE8B-2DE8564C60CE}"/>
              </a:ext>
            </a:extLst>
          </p:cNvPr>
          <p:cNvSpPr>
            <a:spLocks noGrp="1"/>
          </p:cNvSpPr>
          <p:nvPr/>
        </p:nvSpPr>
        <p:spPr>
          <a:xfrm>
            <a:off x="5581650" y="32004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9" name="Mapping response 2">
            <a:extLst>
              <a:ext uri="{FF2B5EF4-FFF2-40B4-BE49-F238E27FC236}">
                <a16:creationId xmlns:a16="http://schemas.microsoft.com/office/drawing/2014/main" id="{2BF83328-B59B-4C75-BBC2-606CFA5410E3}"/>
              </a:ext>
            </a:extLst>
          </p:cNvPr>
          <p:cNvSpPr>
            <a:spLocks noGrp="1"/>
          </p:cNvSpPr>
          <p:nvPr/>
        </p:nvSpPr>
        <p:spPr>
          <a:xfrm>
            <a:off x="6267450" y="32004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Provider, version, policy, evaluator</a:t>
            </a:r>
          </a:p>
        </p:txBody>
      </p:sp>
      <p:sp>
        <p:nvSpPr>
          <p:cNvPr id="20" name="Mapping rule 2">
            <a:extLst>
              <a:ext uri="{FF2B5EF4-FFF2-40B4-BE49-F238E27FC236}">
                <a16:creationId xmlns:a16="http://schemas.microsoft.com/office/drawing/2014/main" id="{BC76816A-9650-4A7E-A063-36D05ED5C23E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Mapping num 3">
            <a:extLst>
              <a:ext uri="{FF2B5EF4-FFF2-40B4-BE49-F238E27FC236}">
                <a16:creationId xmlns:a16="http://schemas.microsoft.com/office/drawing/2014/main" id="{2DEB4A60-721F-4DC4-B9A8-1CD2C0DB093F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2" name="Mapping failure 3">
            <a:extLst>
              <a:ext uri="{FF2B5EF4-FFF2-40B4-BE49-F238E27FC236}">
                <a16:creationId xmlns:a16="http://schemas.microsoft.com/office/drawing/2014/main" id="{BC94F08F-3F8A-4B06-9D88-3BDDC4315EB2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Data + retrieval</a:t>
            </a:r>
          </a:p>
        </p:txBody>
      </p:sp>
      <p:sp>
        <p:nvSpPr>
          <p:cNvPr id="23" name="Mapping arrow 3">
            <a:extLst>
              <a:ext uri="{FF2B5EF4-FFF2-40B4-BE49-F238E27FC236}">
                <a16:creationId xmlns:a16="http://schemas.microsoft.com/office/drawing/2014/main" id="{6F486987-E85A-49C8-B4D2-8704BD237B68}"/>
              </a:ext>
            </a:extLst>
          </p:cNvPr>
          <p:cNvSpPr>
            <a:spLocks noGrp="1"/>
          </p:cNvSpPr>
          <p:nvPr/>
        </p:nvSpPr>
        <p:spPr>
          <a:xfrm>
            <a:off x="5581650" y="39243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4" name="Mapping response 3">
            <a:extLst>
              <a:ext uri="{FF2B5EF4-FFF2-40B4-BE49-F238E27FC236}">
                <a16:creationId xmlns:a16="http://schemas.microsoft.com/office/drawing/2014/main" id="{C3295158-A20A-47E7-80ED-367545559C8C}"/>
              </a:ext>
            </a:extLst>
          </p:cNvPr>
          <p:cNvSpPr>
            <a:spLocks noGrp="1"/>
          </p:cNvSpPr>
          <p:nvPr/>
        </p:nvSpPr>
        <p:spPr>
          <a:xfrm>
            <a:off x="6267450" y="39243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Source, rights, freshness, lineage</a:t>
            </a:r>
          </a:p>
        </p:txBody>
      </p:sp>
      <p:sp>
        <p:nvSpPr>
          <p:cNvPr id="25" name="Mapping rule 3">
            <a:extLst>
              <a:ext uri="{FF2B5EF4-FFF2-40B4-BE49-F238E27FC236}">
                <a16:creationId xmlns:a16="http://schemas.microsoft.com/office/drawing/2014/main" id="{DD74DCF2-FEDF-4EA2-AECB-B15F4D71A9A7}"/>
              </a:ext>
            </a:extLst>
          </p:cNvPr>
          <p:cNvSpPr>
            <a:spLocks noGrp="1"/>
          </p:cNvSpPr>
          <p:nvPr/>
        </p:nvSpPr>
        <p:spPr>
          <a:xfrm>
            <a:off x="685800" y="44672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Mapping num 4">
            <a:extLst>
              <a:ext uri="{FF2B5EF4-FFF2-40B4-BE49-F238E27FC236}">
                <a16:creationId xmlns:a16="http://schemas.microsoft.com/office/drawing/2014/main" id="{44953651-6D94-45F4-9D95-2E06168307F7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7" name="Mapping failure 4">
            <a:extLst>
              <a:ext uri="{FF2B5EF4-FFF2-40B4-BE49-F238E27FC236}">
                <a16:creationId xmlns:a16="http://schemas.microsoft.com/office/drawing/2014/main" id="{BD905A1B-C427-4E41-BB29-03C9B012B8D3}"/>
              </a:ext>
            </a:extLst>
          </p:cNvPr>
          <p:cNvSpPr>
            <a:spLocks noGrp="1"/>
          </p:cNvSpPr>
          <p:nvPr/>
        </p:nvSpPr>
        <p:spPr>
          <a:xfrm>
            <a:off x="1333500" y="46482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Build + deploy</a:t>
            </a:r>
          </a:p>
        </p:txBody>
      </p:sp>
      <p:sp>
        <p:nvSpPr>
          <p:cNvPr id="28" name="Mapping arrow 4">
            <a:extLst>
              <a:ext uri="{FF2B5EF4-FFF2-40B4-BE49-F238E27FC236}">
                <a16:creationId xmlns:a16="http://schemas.microsoft.com/office/drawing/2014/main" id="{EA3D3D19-404D-4DF9-B271-602C86A70BAE}"/>
              </a:ext>
            </a:extLst>
          </p:cNvPr>
          <p:cNvSpPr>
            <a:spLocks noGrp="1"/>
          </p:cNvSpPr>
          <p:nvPr/>
        </p:nvSpPr>
        <p:spPr>
          <a:xfrm>
            <a:off x="5581650" y="46482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E86027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E86027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9" name="Mapping response 4">
            <a:extLst>
              <a:ext uri="{FF2B5EF4-FFF2-40B4-BE49-F238E27FC236}">
                <a16:creationId xmlns:a16="http://schemas.microsoft.com/office/drawing/2014/main" id="{1B761B6D-A137-492D-BBED-97BB563D9663}"/>
              </a:ext>
            </a:extLst>
          </p:cNvPr>
          <p:cNvSpPr>
            <a:spLocks noGrp="1"/>
          </p:cNvSpPr>
          <p:nvPr/>
        </p:nvSpPr>
        <p:spPr>
          <a:xfrm>
            <a:off x="6267450" y="46482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Provenance, signature, promotion path</a:t>
            </a:r>
          </a:p>
        </p:txBody>
      </p:sp>
      <p:sp>
        <p:nvSpPr>
          <p:cNvPr id="30" name="Mapping rule 4">
            <a:extLst>
              <a:ext uri="{FF2B5EF4-FFF2-40B4-BE49-F238E27FC236}">
                <a16:creationId xmlns:a16="http://schemas.microsoft.com/office/drawing/2014/main" id="{73A6CB6A-2A0A-405A-9E50-03F150F29A94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Mapping num 5">
            <a:extLst>
              <a:ext uri="{FF2B5EF4-FFF2-40B4-BE49-F238E27FC236}">
                <a16:creationId xmlns:a16="http://schemas.microsoft.com/office/drawing/2014/main" id="{697AF490-CB85-4969-9EAA-AB3D5D9644D6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32" name="Mapping failure 5">
            <a:extLst>
              <a:ext uri="{FF2B5EF4-FFF2-40B4-BE49-F238E27FC236}">
                <a16:creationId xmlns:a16="http://schemas.microsoft.com/office/drawing/2014/main" id="{251EA5C7-89E2-4079-9A3E-76E8904B7AD6}"/>
              </a:ext>
            </a:extLst>
          </p:cNvPr>
          <p:cNvSpPr>
            <a:spLocks noGrp="1"/>
          </p:cNvSpPr>
          <p:nvPr/>
        </p:nvSpPr>
        <p:spPr>
          <a:xfrm>
            <a:off x="1333500" y="53721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Vendors</a:t>
            </a:r>
          </a:p>
        </p:txBody>
      </p:sp>
      <p:sp>
        <p:nvSpPr>
          <p:cNvPr id="33" name="Mapping arrow 5">
            <a:extLst>
              <a:ext uri="{FF2B5EF4-FFF2-40B4-BE49-F238E27FC236}">
                <a16:creationId xmlns:a16="http://schemas.microsoft.com/office/drawing/2014/main" id="{3BC2A1EF-F0F3-4942-A57D-9293568C8814}"/>
              </a:ext>
            </a:extLst>
          </p:cNvPr>
          <p:cNvSpPr>
            <a:spLocks noGrp="1"/>
          </p:cNvSpPr>
          <p:nvPr/>
        </p:nvSpPr>
        <p:spPr>
          <a:xfrm>
            <a:off x="5581650" y="53721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4" name="Mapping response 5">
            <a:extLst>
              <a:ext uri="{FF2B5EF4-FFF2-40B4-BE49-F238E27FC236}">
                <a16:creationId xmlns:a16="http://schemas.microsoft.com/office/drawing/2014/main" id="{42FA6391-AB34-4E7F-805B-41714EA81C33}"/>
              </a:ext>
            </a:extLst>
          </p:cNvPr>
          <p:cNvSpPr>
            <a:spLocks noGrp="1"/>
          </p:cNvSpPr>
          <p:nvPr/>
        </p:nvSpPr>
        <p:spPr>
          <a:xfrm>
            <a:off x="6267450" y="53721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Disclosure, patch terms, emergency contact</a:t>
            </a:r>
          </a:p>
        </p:txBody>
      </p:sp>
    </p:spTree>
    <p:extLst>
      <p:ext uri="{BB962C8B-B14F-4D97-AF65-F5344CB8AC3E}">
        <p14:creationId xmlns:p14="http://schemas.microsoft.com/office/powerpoint/2010/main" val="808795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 6">
            <a:extLst>
              <a:ext uri="{FF2B5EF4-FFF2-40B4-BE49-F238E27FC236}">
                <a16:creationId xmlns:a16="http://schemas.microsoft.com/office/drawing/2014/main" id="{4DEADF63-1365-4EFF-B126-06905D7C2611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0107F101-49DF-40D7-9667-E30406396784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Identity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S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ets the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B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last </a:t>
            </a:r>
            <a:r>
              <a:rPr lang="en-US" sz="300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R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adius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425A4E6D-A56E-436B-99DD-D3D84767438E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475488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6">
            <a:extLst>
              <a:ext uri="{FF2B5EF4-FFF2-40B4-BE49-F238E27FC236}">
                <a16:creationId xmlns:a16="http://schemas.microsoft.com/office/drawing/2014/main" id="{1104BDD9-CFD1-4D1E-9C16-1B8DF0B0B198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6">
            <a:extLst>
              <a:ext uri="{FF2B5EF4-FFF2-40B4-BE49-F238E27FC236}">
                <a16:creationId xmlns:a16="http://schemas.microsoft.com/office/drawing/2014/main" id="{1B01722E-0032-4DC6-BA39-AC80E5B6E01A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6">
            <a:extLst>
              <a:ext uri="{FF2B5EF4-FFF2-40B4-BE49-F238E27FC236}">
                <a16:creationId xmlns:a16="http://schemas.microsoft.com/office/drawing/2014/main" id="{A92E1821-C160-42A9-BB02-0D10716723BC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15</a:t>
            </a:r>
          </a:p>
        </p:txBody>
      </p:sp>
      <p:sp>
        <p:nvSpPr>
          <p:cNvPr id="11" name="Parallel heading">
            <a:extLst>
              <a:ext uri="{FF2B5EF4-FFF2-40B4-BE49-F238E27FC236}">
                <a16:creationId xmlns:a16="http://schemas.microsoft.com/office/drawing/2014/main" id="{10D63275-D892-4EB0-A220-4A379F375A11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60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CONTAINED</a:t>
            </a:r>
          </a:p>
        </p:txBody>
      </p:sp>
      <p:sp>
        <p:nvSpPr>
          <p:cNvPr id="12" name="Parallel label">
            <a:extLst>
              <a:ext uri="{FF2B5EF4-FFF2-40B4-BE49-F238E27FC236}">
                <a16:creationId xmlns:a16="http://schemas.microsoft.com/office/drawing/2014/main" id="{EF4918BA-170A-47D2-B402-0FBFDAF640A8}"/>
              </a:ext>
            </a:extLst>
          </p:cNvPr>
          <p:cNvSpPr>
            <a:spLocks noGrp="1"/>
          </p:cNvSpPr>
          <p:nvPr/>
        </p:nvSpPr>
        <p:spPr>
          <a:xfrm>
            <a:off x="685800" y="199072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ONE IDENTITY</a:t>
            </a:r>
          </a:p>
        </p:txBody>
      </p:sp>
      <p:sp>
        <p:nvSpPr>
          <p:cNvPr id="13" name="Parallel process">
            <a:extLst>
              <a:ext uri="{FF2B5EF4-FFF2-40B4-BE49-F238E27FC236}">
                <a16:creationId xmlns:a16="http://schemas.microsoft.com/office/drawing/2014/main" id="{E944C587-02BB-45FF-BF57-CC8F14208A01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8F6F0"/>
                </a:solidFill>
                <a:latin typeface="Inter"/>
                <a:ea typeface="Inter"/>
                <a:cs typeface="Inter"/>
              </a:rPr>
              <a:t>short-lived  →  least privilege  →  segmented  →  revocable</a:t>
            </a:r>
          </a:p>
        </p:txBody>
      </p:sp>
      <p:sp>
        <p:nvSpPr>
          <p:cNvPr id="14" name="Parallel rule">
            <a:extLst>
              <a:ext uri="{FF2B5EF4-FFF2-40B4-BE49-F238E27FC236}">
                <a16:creationId xmlns:a16="http://schemas.microsoft.com/office/drawing/2014/main" id="{72AB000C-1992-4C2E-95A6-D57FAE33617E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104775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erial heading">
            <a:extLst>
              <a:ext uri="{FF2B5EF4-FFF2-40B4-BE49-F238E27FC236}">
                <a16:creationId xmlns:a16="http://schemas.microsoft.com/office/drawing/2014/main" id="{7D914A3C-3138-4635-87A1-5FCBB4126D26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6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MULTIPLIES</a:t>
            </a:r>
          </a:p>
        </p:txBody>
      </p:sp>
      <p:sp>
        <p:nvSpPr>
          <p:cNvPr id="16" name="Serial label">
            <a:extLst>
              <a:ext uri="{FF2B5EF4-FFF2-40B4-BE49-F238E27FC236}">
                <a16:creationId xmlns:a16="http://schemas.microsoft.com/office/drawing/2014/main" id="{893D4781-55F6-4595-93ED-EA0F27E4EFDB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SHARED ADMIN</a:t>
            </a:r>
          </a:p>
        </p:txBody>
      </p:sp>
      <p:sp>
        <p:nvSpPr>
          <p:cNvPr id="17" name="Serial process">
            <a:extLst>
              <a:ext uri="{FF2B5EF4-FFF2-40B4-BE49-F238E27FC236}">
                <a16:creationId xmlns:a16="http://schemas.microsoft.com/office/drawing/2014/main" id="{DEB02952-D5CB-4141-A279-CCDD3D24DA05}"/>
              </a:ext>
            </a:extLst>
          </p:cNvPr>
          <p:cNvSpPr>
            <a:spLocks noGrp="1"/>
          </p:cNvSpPr>
          <p:nvPr/>
        </p:nvSpPr>
        <p:spPr>
          <a:xfrm>
            <a:off x="685800" y="475297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>
                <a:solidFill>
                  <a:srgbClr val="F8F6F0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8F6F0"/>
                </a:solidFill>
                <a:latin typeface="Inter"/>
                <a:ea typeface="Inter"/>
                <a:cs typeface="Inter"/>
              </a:rPr>
              <a:t>standing secret  →  broad role  →  reused path  →  lateral move</a:t>
            </a:r>
          </a:p>
        </p:txBody>
      </p:sp>
      <p:sp>
        <p:nvSpPr>
          <p:cNvPr id="18" name="Serial rule">
            <a:extLst>
              <a:ext uri="{FF2B5EF4-FFF2-40B4-BE49-F238E27FC236}">
                <a16:creationId xmlns:a16="http://schemas.microsoft.com/office/drawing/2014/main" id="{EC1B3A68-C4C6-40EA-9A7A-CB4A99491CC8}"/>
              </a:ext>
            </a:extLst>
          </p:cNvPr>
          <p:cNvSpPr>
            <a:spLocks noGrp="1"/>
          </p:cNvSpPr>
          <p:nvPr/>
        </p:nvSpPr>
        <p:spPr>
          <a:xfrm>
            <a:off x="685800" y="5324475"/>
            <a:ext cx="6096000" cy="47625"/>
          </a:xfrm>
          <a:prstGeom prst="roundRect">
            <a:avLst>
              <a:gd name="adj" fmla="val 50000"/>
            </a:avLst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xposure outcome">
            <a:extLst>
              <a:ext uri="{FF2B5EF4-FFF2-40B4-BE49-F238E27FC236}">
                <a16:creationId xmlns:a16="http://schemas.microsoft.com/office/drawing/2014/main" id="{24E43CF1-46BB-4450-8404-790CB6FFAEF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025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 foothold inherits every attached permission.</a:t>
            </a:r>
          </a:p>
        </p:txBody>
      </p:sp>
      <p:sp>
        <p:nvSpPr>
          <p:cNvPr id="20" name="Exposure consequences">
            <a:extLst>
              <a:ext uri="{FF2B5EF4-FFF2-40B4-BE49-F238E27FC236}">
                <a16:creationId xmlns:a16="http://schemas.microsoft.com/office/drawing/2014/main" id="{35979F6A-BC11-470E-BFFE-7EB2526472EA}"/>
              </a:ext>
            </a:extLst>
          </p:cNvPr>
          <p:cNvSpPr>
            <a:spLocks noGrp="1"/>
          </p:cNvSpPr>
          <p:nvPr/>
        </p:nvSpPr>
        <p:spPr>
          <a:xfrm>
            <a:off x="7429500" y="5676900"/>
            <a:ext cx="3733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0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9AA4AD"/>
                </a:solidFill>
                <a:latin typeface="Inter"/>
                <a:ea typeface="Inter"/>
                <a:cs typeface="Inter"/>
              </a:rPr>
              <a:t>accounts  •  agents  •  pipelines  •  people  •  vendors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58609B1-4797-A838-619A-192BC2036D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66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yebrow 9">
            <a:extLst>
              <a:ext uri="{FF2B5EF4-FFF2-40B4-BE49-F238E27FC236}">
                <a16:creationId xmlns:a16="http://schemas.microsoft.com/office/drawing/2014/main" id="{F0C40A05-7E47-4B18-9D2D-AF262E45283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8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9">
            <a:extLst>
              <a:ext uri="{FF2B5EF4-FFF2-40B4-BE49-F238E27FC236}">
                <a16:creationId xmlns:a16="http://schemas.microsoft.com/office/drawing/2014/main" id="{F5B4AB32-7ACC-4447-A913-483EAC01BA2C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Set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mergency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hange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uthority in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dvance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7256E6D2-ED2D-4295-B074-95EC2223CA74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73152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9">
            <a:extLst>
              <a:ext uri="{FF2B5EF4-FFF2-40B4-BE49-F238E27FC236}">
                <a16:creationId xmlns:a16="http://schemas.microsoft.com/office/drawing/2014/main" id="{A5615038-A2A4-49A3-8891-78CCA8054BA8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9">
            <a:extLst>
              <a:ext uri="{FF2B5EF4-FFF2-40B4-BE49-F238E27FC236}">
                <a16:creationId xmlns:a16="http://schemas.microsoft.com/office/drawing/2014/main" id="{92DF811F-C8C6-4A73-A9A9-7644830B63E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9">
            <a:extLst>
              <a:ext uri="{FF2B5EF4-FFF2-40B4-BE49-F238E27FC236}">
                <a16:creationId xmlns:a16="http://schemas.microsoft.com/office/drawing/2014/main" id="{EF2F7BD4-83E5-4B4A-B73B-CA3586CAA375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16</a:t>
            </a:r>
          </a:p>
        </p:txBody>
      </p:sp>
      <p:sp>
        <p:nvSpPr>
          <p:cNvPr id="10" name="Design intent qualifier">
            <a:extLst>
              <a:ext uri="{FF2B5EF4-FFF2-40B4-BE49-F238E27FC236}">
                <a16:creationId xmlns:a16="http://schemas.microsoft.com/office/drawing/2014/main" id="{803A04D4-4A4B-4B2D-8C75-21C71D23B99D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i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 i="1">
                <a:solidFill>
                  <a:srgbClr val="676869"/>
                </a:solidFill>
                <a:latin typeface="Inter"/>
                <a:ea typeface="Inter"/>
                <a:cs typeface="Inter"/>
              </a:rPr>
              <a:t>Classify by exposure, reversibility, data, safety, and blast radius.</a:t>
            </a:r>
          </a:p>
        </p:txBody>
      </p:sp>
      <p:sp>
        <p:nvSpPr>
          <p:cNvPr id="11" name="Mapping num 1">
            <a:extLst>
              <a:ext uri="{FF2B5EF4-FFF2-40B4-BE49-F238E27FC236}">
                <a16:creationId xmlns:a16="http://schemas.microsoft.com/office/drawing/2014/main" id="{501A61B0-E4AC-4D1E-9460-D1A4B21CBABF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2" name="Mapping failure 1">
            <a:extLst>
              <a:ext uri="{FF2B5EF4-FFF2-40B4-BE49-F238E27FC236}">
                <a16:creationId xmlns:a16="http://schemas.microsoft.com/office/drawing/2014/main" id="{22D732FA-4C71-4260-9F14-9300E00593AA}"/>
              </a:ext>
            </a:extLst>
          </p:cNvPr>
          <p:cNvSpPr>
            <a:spLocks noGrp="1"/>
          </p:cNvSpPr>
          <p:nvPr/>
        </p:nvSpPr>
        <p:spPr>
          <a:xfrm>
            <a:off x="1333500" y="24765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Automatic</a:t>
            </a:r>
          </a:p>
        </p:txBody>
      </p:sp>
      <p:sp>
        <p:nvSpPr>
          <p:cNvPr id="13" name="Mapping arrow 1">
            <a:extLst>
              <a:ext uri="{FF2B5EF4-FFF2-40B4-BE49-F238E27FC236}">
                <a16:creationId xmlns:a16="http://schemas.microsoft.com/office/drawing/2014/main" id="{C3ECD60A-9D8D-4D32-9A59-C4A11062A610}"/>
              </a:ext>
            </a:extLst>
          </p:cNvPr>
          <p:cNvSpPr>
            <a:spLocks noGrp="1"/>
          </p:cNvSpPr>
          <p:nvPr/>
        </p:nvSpPr>
        <p:spPr>
          <a:xfrm>
            <a:off x="5581650" y="24765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4" name="Mapping response 1">
            <a:extLst>
              <a:ext uri="{FF2B5EF4-FFF2-40B4-BE49-F238E27FC236}">
                <a16:creationId xmlns:a16="http://schemas.microsoft.com/office/drawing/2014/main" id="{1D10A7AB-9467-4CA1-9294-2BEE4E1814C9}"/>
              </a:ext>
            </a:extLst>
          </p:cNvPr>
          <p:cNvSpPr>
            <a:spLocks noGrp="1"/>
          </p:cNvSpPr>
          <p:nvPr/>
        </p:nvSpPr>
        <p:spPr>
          <a:xfrm>
            <a:off x="6267450" y="24765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Reversible containment within guardrails</a:t>
            </a:r>
          </a:p>
        </p:txBody>
      </p:sp>
      <p:sp>
        <p:nvSpPr>
          <p:cNvPr id="15" name="Mapping rule 1">
            <a:extLst>
              <a:ext uri="{FF2B5EF4-FFF2-40B4-BE49-F238E27FC236}">
                <a16:creationId xmlns:a16="http://schemas.microsoft.com/office/drawing/2014/main" id="{CCF4BDAD-527F-40E3-BE08-7D115059D8C1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apping num 2">
            <a:extLst>
              <a:ext uri="{FF2B5EF4-FFF2-40B4-BE49-F238E27FC236}">
                <a16:creationId xmlns:a16="http://schemas.microsoft.com/office/drawing/2014/main" id="{DE8ACA02-0129-4087-AA6E-0495856A9A5B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Mapping failure 2">
            <a:extLst>
              <a:ext uri="{FF2B5EF4-FFF2-40B4-BE49-F238E27FC236}">
                <a16:creationId xmlns:a16="http://schemas.microsoft.com/office/drawing/2014/main" id="{A935E96F-AB8A-4369-BFAF-4F34A97B10AE}"/>
              </a:ext>
            </a:extLst>
          </p:cNvPr>
          <p:cNvSpPr>
            <a:spLocks noGrp="1"/>
          </p:cNvSpPr>
          <p:nvPr/>
        </p:nvSpPr>
        <p:spPr>
          <a:xfrm>
            <a:off x="1333500" y="32004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Pre-authorized</a:t>
            </a:r>
          </a:p>
        </p:txBody>
      </p:sp>
      <p:sp>
        <p:nvSpPr>
          <p:cNvPr id="18" name="Mapping arrow 2">
            <a:extLst>
              <a:ext uri="{FF2B5EF4-FFF2-40B4-BE49-F238E27FC236}">
                <a16:creationId xmlns:a16="http://schemas.microsoft.com/office/drawing/2014/main" id="{A5E6EBC3-5E38-4DB2-AE8B-2DE8564C60CE}"/>
              </a:ext>
            </a:extLst>
          </p:cNvPr>
          <p:cNvSpPr>
            <a:spLocks noGrp="1"/>
          </p:cNvSpPr>
          <p:nvPr/>
        </p:nvSpPr>
        <p:spPr>
          <a:xfrm>
            <a:off x="5581650" y="32004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9" name="Mapping response 2">
            <a:extLst>
              <a:ext uri="{FF2B5EF4-FFF2-40B4-BE49-F238E27FC236}">
                <a16:creationId xmlns:a16="http://schemas.microsoft.com/office/drawing/2014/main" id="{2BF83328-B59B-4C75-BBC2-606CFA5410E3}"/>
              </a:ext>
            </a:extLst>
          </p:cNvPr>
          <p:cNvSpPr>
            <a:spLocks noGrp="1"/>
          </p:cNvSpPr>
          <p:nvPr/>
        </p:nvSpPr>
        <p:spPr>
          <a:xfrm>
            <a:off x="6267450" y="32004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Standard fix through health gates</a:t>
            </a:r>
          </a:p>
        </p:txBody>
      </p:sp>
      <p:sp>
        <p:nvSpPr>
          <p:cNvPr id="20" name="Mapping rule 2">
            <a:extLst>
              <a:ext uri="{FF2B5EF4-FFF2-40B4-BE49-F238E27FC236}">
                <a16:creationId xmlns:a16="http://schemas.microsoft.com/office/drawing/2014/main" id="{BC76816A-9650-4A7E-A063-36D05ED5C23E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Mapping num 3">
            <a:extLst>
              <a:ext uri="{FF2B5EF4-FFF2-40B4-BE49-F238E27FC236}">
                <a16:creationId xmlns:a16="http://schemas.microsoft.com/office/drawing/2014/main" id="{2DEB4A60-721F-4DC4-B9A8-1CD2C0DB093F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2" name="Mapping failure 3">
            <a:extLst>
              <a:ext uri="{FF2B5EF4-FFF2-40B4-BE49-F238E27FC236}">
                <a16:creationId xmlns:a16="http://schemas.microsoft.com/office/drawing/2014/main" id="{BC94F08F-3F8A-4B06-9D88-3BDDC4315EB2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Independent approval</a:t>
            </a:r>
          </a:p>
        </p:txBody>
      </p:sp>
      <p:sp>
        <p:nvSpPr>
          <p:cNvPr id="23" name="Mapping arrow 3">
            <a:extLst>
              <a:ext uri="{FF2B5EF4-FFF2-40B4-BE49-F238E27FC236}">
                <a16:creationId xmlns:a16="http://schemas.microsoft.com/office/drawing/2014/main" id="{6F486987-E85A-49C8-B4D2-8704BD237B68}"/>
              </a:ext>
            </a:extLst>
          </p:cNvPr>
          <p:cNvSpPr>
            <a:spLocks noGrp="1"/>
          </p:cNvSpPr>
          <p:nvPr/>
        </p:nvSpPr>
        <p:spPr>
          <a:xfrm>
            <a:off x="5581650" y="39243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4" name="Mapping response 3">
            <a:extLst>
              <a:ext uri="{FF2B5EF4-FFF2-40B4-BE49-F238E27FC236}">
                <a16:creationId xmlns:a16="http://schemas.microsoft.com/office/drawing/2014/main" id="{C3295158-A20A-47E7-80ED-367545559C8C}"/>
              </a:ext>
            </a:extLst>
          </p:cNvPr>
          <p:cNvSpPr>
            <a:spLocks noGrp="1"/>
          </p:cNvSpPr>
          <p:nvPr/>
        </p:nvSpPr>
        <p:spPr>
          <a:xfrm>
            <a:off x="6267450" y="39243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OT, safety, legal, or irreversible change</a:t>
            </a:r>
          </a:p>
        </p:txBody>
      </p:sp>
      <p:sp>
        <p:nvSpPr>
          <p:cNvPr id="25" name="Mapping rule 3">
            <a:extLst>
              <a:ext uri="{FF2B5EF4-FFF2-40B4-BE49-F238E27FC236}">
                <a16:creationId xmlns:a16="http://schemas.microsoft.com/office/drawing/2014/main" id="{DD74DCF2-FEDF-4EA2-AECB-B15F4D71A9A7}"/>
              </a:ext>
            </a:extLst>
          </p:cNvPr>
          <p:cNvSpPr>
            <a:spLocks noGrp="1"/>
          </p:cNvSpPr>
          <p:nvPr/>
        </p:nvSpPr>
        <p:spPr>
          <a:xfrm>
            <a:off x="685800" y="44672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Mapping num 4">
            <a:extLst>
              <a:ext uri="{FF2B5EF4-FFF2-40B4-BE49-F238E27FC236}">
                <a16:creationId xmlns:a16="http://schemas.microsoft.com/office/drawing/2014/main" id="{44953651-6D94-45F4-9D95-2E06168307F7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7" name="Mapping failure 4">
            <a:extLst>
              <a:ext uri="{FF2B5EF4-FFF2-40B4-BE49-F238E27FC236}">
                <a16:creationId xmlns:a16="http://schemas.microsoft.com/office/drawing/2014/main" id="{BD905A1B-C427-4E41-BB29-03C9B012B8D3}"/>
              </a:ext>
            </a:extLst>
          </p:cNvPr>
          <p:cNvSpPr>
            <a:spLocks noGrp="1"/>
          </p:cNvSpPr>
          <p:nvPr/>
        </p:nvSpPr>
        <p:spPr>
          <a:xfrm>
            <a:off x="1333500" y="46482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Prohibited</a:t>
            </a:r>
          </a:p>
        </p:txBody>
      </p:sp>
      <p:sp>
        <p:nvSpPr>
          <p:cNvPr id="28" name="Mapping arrow 4">
            <a:extLst>
              <a:ext uri="{FF2B5EF4-FFF2-40B4-BE49-F238E27FC236}">
                <a16:creationId xmlns:a16="http://schemas.microsoft.com/office/drawing/2014/main" id="{EA3D3D19-404D-4DF9-B271-602C86A70BAE}"/>
              </a:ext>
            </a:extLst>
          </p:cNvPr>
          <p:cNvSpPr>
            <a:spLocks noGrp="1"/>
          </p:cNvSpPr>
          <p:nvPr/>
        </p:nvSpPr>
        <p:spPr>
          <a:xfrm>
            <a:off x="5581650" y="46482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E86027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E86027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9" name="Mapping response 4">
            <a:extLst>
              <a:ext uri="{FF2B5EF4-FFF2-40B4-BE49-F238E27FC236}">
                <a16:creationId xmlns:a16="http://schemas.microsoft.com/office/drawing/2014/main" id="{1B761B6D-A137-492D-BBED-97BB563D9663}"/>
              </a:ext>
            </a:extLst>
          </p:cNvPr>
          <p:cNvSpPr>
            <a:spLocks noGrp="1"/>
          </p:cNvSpPr>
          <p:nvPr/>
        </p:nvSpPr>
        <p:spPr>
          <a:xfrm>
            <a:off x="6267450" y="46482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Unknown artifact, unbounded scope, or no recovery</a:t>
            </a:r>
          </a:p>
        </p:txBody>
      </p:sp>
      <p:sp>
        <p:nvSpPr>
          <p:cNvPr id="30" name="Mapping rule 4">
            <a:extLst>
              <a:ext uri="{FF2B5EF4-FFF2-40B4-BE49-F238E27FC236}">
                <a16:creationId xmlns:a16="http://schemas.microsoft.com/office/drawing/2014/main" id="{73A6CB6A-2A0A-405A-9E50-03F150F29A94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Mapping num 5">
            <a:extLst>
              <a:ext uri="{FF2B5EF4-FFF2-40B4-BE49-F238E27FC236}">
                <a16:creationId xmlns:a16="http://schemas.microsoft.com/office/drawing/2014/main" id="{697AF490-CB85-4969-9EAA-AB3D5D9644D6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32" name="Mapping failure 5">
            <a:extLst>
              <a:ext uri="{FF2B5EF4-FFF2-40B4-BE49-F238E27FC236}">
                <a16:creationId xmlns:a16="http://schemas.microsoft.com/office/drawing/2014/main" id="{251EA5C7-89E2-4079-9A3E-76E8904B7AD6}"/>
              </a:ext>
            </a:extLst>
          </p:cNvPr>
          <p:cNvSpPr>
            <a:spLocks noGrp="1"/>
          </p:cNvSpPr>
          <p:nvPr/>
        </p:nvSpPr>
        <p:spPr>
          <a:xfrm>
            <a:off x="1333500" y="53721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Exception</a:t>
            </a:r>
          </a:p>
        </p:txBody>
      </p:sp>
      <p:sp>
        <p:nvSpPr>
          <p:cNvPr id="33" name="Mapping arrow 5">
            <a:extLst>
              <a:ext uri="{FF2B5EF4-FFF2-40B4-BE49-F238E27FC236}">
                <a16:creationId xmlns:a16="http://schemas.microsoft.com/office/drawing/2014/main" id="{3BC2A1EF-F0F3-4942-A57D-9293568C8814}"/>
              </a:ext>
            </a:extLst>
          </p:cNvPr>
          <p:cNvSpPr>
            <a:spLocks noGrp="1"/>
          </p:cNvSpPr>
          <p:nvPr/>
        </p:nvSpPr>
        <p:spPr>
          <a:xfrm>
            <a:off x="5581650" y="53721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4" name="Mapping response 5">
            <a:extLst>
              <a:ext uri="{FF2B5EF4-FFF2-40B4-BE49-F238E27FC236}">
                <a16:creationId xmlns:a16="http://schemas.microsoft.com/office/drawing/2014/main" id="{42FA6391-AB34-4E7F-805B-41714EA81C33}"/>
              </a:ext>
            </a:extLst>
          </p:cNvPr>
          <p:cNvSpPr>
            <a:spLocks noGrp="1"/>
          </p:cNvSpPr>
          <p:nvPr/>
        </p:nvSpPr>
        <p:spPr>
          <a:xfrm>
            <a:off x="6267450" y="53721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Owner, controls, expiry</a:t>
            </a:r>
          </a:p>
        </p:txBody>
      </p:sp>
    </p:spTree>
    <p:extLst>
      <p:ext uri="{BB962C8B-B14F-4D97-AF65-F5344CB8AC3E}">
        <p14:creationId xmlns:p14="http://schemas.microsoft.com/office/powerpoint/2010/main" val="808795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 3">
            <a:extLst>
              <a:ext uri="{FF2B5EF4-FFF2-40B4-BE49-F238E27FC236}">
                <a16:creationId xmlns:a16="http://schemas.microsoft.com/office/drawing/2014/main" id="{DD35D373-8A79-44EB-B625-A8A23E1BF6C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506CDB-4976-489D-8445-BC4A3ACC57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Automate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Discovery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F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irst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; Then all the Way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hroug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 Verify</a:t>
            </a:r>
            <a:endParaRPr sz="3000" b="0" dirty="0">
              <a:solidFill>
                <a:srgbClr val="07090F"/>
              </a:solidFill>
              <a:latin typeface="Optima"/>
              <a:ea typeface="Optima"/>
              <a:cs typeface="Optima"/>
            </a:endParaRP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11F7E8D8-815C-4BA9-B593-A5CCBC21740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950976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3">
            <a:extLst>
              <a:ext uri="{FF2B5EF4-FFF2-40B4-BE49-F238E27FC236}">
                <a16:creationId xmlns:a16="http://schemas.microsoft.com/office/drawing/2014/main" id="{6399394E-FF73-4792-AA59-94A1CA033BCC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3">
            <a:extLst>
              <a:ext uri="{FF2B5EF4-FFF2-40B4-BE49-F238E27FC236}">
                <a16:creationId xmlns:a16="http://schemas.microsoft.com/office/drawing/2014/main" id="{6401229C-BD11-4194-AB3B-7BBA7B9196F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3">
            <a:extLst>
              <a:ext uri="{FF2B5EF4-FFF2-40B4-BE49-F238E27FC236}">
                <a16:creationId xmlns:a16="http://schemas.microsoft.com/office/drawing/2014/main" id="{57A46509-5008-4DAC-AF94-A631EDF1B44A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17</a:t>
            </a:r>
          </a:p>
        </p:txBody>
      </p:sp>
      <p:sp>
        <p:nvSpPr>
          <p:cNvPr id="10" name="Process line">
            <a:extLst>
              <a:ext uri="{FF2B5EF4-FFF2-40B4-BE49-F238E27FC236}">
                <a16:creationId xmlns:a16="http://schemas.microsoft.com/office/drawing/2014/main" id="{3CEDC550-06F4-45A9-861D-9BB8844BDEC2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10477500" cy="28575"/>
          </a:xfrm>
          <a:prstGeom prst="roundRect">
            <a:avLst>
              <a:gd name="adj" fmla="val 50000"/>
            </a:avLst>
          </a:prstGeom>
          <a:solidFill>
            <a:srgbClr val="0044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node 1">
            <a:extLst>
              <a:ext uri="{FF2B5EF4-FFF2-40B4-BE49-F238E27FC236}">
                <a16:creationId xmlns:a16="http://schemas.microsoft.com/office/drawing/2014/main" id="{942620B4-8233-4815-870B-30E85FCFC985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date 1">
            <a:extLst>
              <a:ext uri="{FF2B5EF4-FFF2-40B4-BE49-F238E27FC236}">
                <a16:creationId xmlns:a16="http://schemas.microsoft.com/office/drawing/2014/main" id="{F6FDBC9D-B8D8-4D6A-B89A-8AD12D3DA93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3" name="Step head 1">
            <a:extLst>
              <a:ext uri="{FF2B5EF4-FFF2-40B4-BE49-F238E27FC236}">
                <a16:creationId xmlns:a16="http://schemas.microsoft.com/office/drawing/2014/main" id="{251F7326-3D5C-42B9-8A59-931E8FAB81D4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Discover</a:t>
            </a:r>
          </a:p>
        </p:txBody>
      </p:sp>
      <p:sp>
        <p:nvSpPr>
          <p:cNvPr id="14" name="Step desc 1">
            <a:extLst>
              <a:ext uri="{FF2B5EF4-FFF2-40B4-BE49-F238E27FC236}">
                <a16:creationId xmlns:a16="http://schemas.microsoft.com/office/drawing/2014/main" id="{7D170694-C6E8-4D80-B40E-D6379445E0A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Inventory + exploit evidence</a:t>
            </a:r>
          </a:p>
        </p:txBody>
      </p:sp>
      <p:sp>
        <p:nvSpPr>
          <p:cNvPr id="15" name="Step node 2">
            <a:extLst>
              <a:ext uri="{FF2B5EF4-FFF2-40B4-BE49-F238E27FC236}">
                <a16:creationId xmlns:a16="http://schemas.microsoft.com/office/drawing/2014/main" id="{15F4FA38-7EEC-4C84-86E8-7CA5439BDFFE}"/>
              </a:ext>
            </a:extLst>
          </p:cNvPr>
          <p:cNvSpPr>
            <a:spLocks noGrp="1"/>
          </p:cNvSpPr>
          <p:nvPr/>
        </p:nvSpPr>
        <p:spPr>
          <a:xfrm>
            <a:off x="29337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date 2">
            <a:extLst>
              <a:ext uri="{FF2B5EF4-FFF2-40B4-BE49-F238E27FC236}">
                <a16:creationId xmlns:a16="http://schemas.microsoft.com/office/drawing/2014/main" id="{011CC186-CB72-45B9-939D-7C9EC0533E0E}"/>
              </a:ext>
            </a:extLst>
          </p:cNvPr>
          <p:cNvSpPr>
            <a:spLocks noGrp="1"/>
          </p:cNvSpPr>
          <p:nvPr/>
        </p:nvSpPr>
        <p:spPr>
          <a:xfrm>
            <a:off x="28956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Step head 2">
            <a:extLst>
              <a:ext uri="{FF2B5EF4-FFF2-40B4-BE49-F238E27FC236}">
                <a16:creationId xmlns:a16="http://schemas.microsoft.com/office/drawing/2014/main" id="{957EEE9E-6378-4457-AA53-995587537568}"/>
              </a:ext>
            </a:extLst>
          </p:cNvPr>
          <p:cNvSpPr>
            <a:spLocks noGrp="1"/>
          </p:cNvSpPr>
          <p:nvPr/>
        </p:nvSpPr>
        <p:spPr>
          <a:xfrm>
            <a:off x="28956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Assess</a:t>
            </a:r>
          </a:p>
        </p:txBody>
      </p:sp>
      <p:sp>
        <p:nvSpPr>
          <p:cNvPr id="18" name="Step desc 2">
            <a:extLst>
              <a:ext uri="{FF2B5EF4-FFF2-40B4-BE49-F238E27FC236}">
                <a16:creationId xmlns:a16="http://schemas.microsoft.com/office/drawing/2014/main" id="{B65A9520-4EC6-4E1D-9241-15D73101ADA0}"/>
              </a:ext>
            </a:extLst>
          </p:cNvPr>
          <p:cNvSpPr>
            <a:spLocks noGrp="1"/>
          </p:cNvSpPr>
          <p:nvPr/>
        </p:nvSpPr>
        <p:spPr>
          <a:xfrm>
            <a:off x="28956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Policy picks the path</a:t>
            </a:r>
          </a:p>
        </p:txBody>
      </p:sp>
      <p:sp>
        <p:nvSpPr>
          <p:cNvPr id="19" name="Step node 3">
            <a:extLst>
              <a:ext uri="{FF2B5EF4-FFF2-40B4-BE49-F238E27FC236}">
                <a16:creationId xmlns:a16="http://schemas.microsoft.com/office/drawing/2014/main" id="{171F8043-6EDF-4138-B92A-1132F30C408A}"/>
              </a:ext>
            </a:extLst>
          </p:cNvPr>
          <p:cNvSpPr>
            <a:spLocks noGrp="1"/>
          </p:cNvSpPr>
          <p:nvPr/>
        </p:nvSpPr>
        <p:spPr>
          <a:xfrm>
            <a:off x="51435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 date 3">
            <a:extLst>
              <a:ext uri="{FF2B5EF4-FFF2-40B4-BE49-F238E27FC236}">
                <a16:creationId xmlns:a16="http://schemas.microsoft.com/office/drawing/2014/main" id="{BC6B0691-AC7F-4895-B5E3-98CEC553B472}"/>
              </a:ext>
            </a:extLst>
          </p:cNvPr>
          <p:cNvSpPr>
            <a:spLocks noGrp="1"/>
          </p:cNvSpPr>
          <p:nvPr/>
        </p:nvSpPr>
        <p:spPr>
          <a:xfrm>
            <a:off x="51054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1" name="Step head 3">
            <a:extLst>
              <a:ext uri="{FF2B5EF4-FFF2-40B4-BE49-F238E27FC236}">
                <a16:creationId xmlns:a16="http://schemas.microsoft.com/office/drawing/2014/main" id="{69E4BC9A-5B31-46E4-8A3C-B326D2AB0EC0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Prove</a:t>
            </a:r>
          </a:p>
        </p:txBody>
      </p:sp>
      <p:sp>
        <p:nvSpPr>
          <p:cNvPr id="22" name="Step desc 3">
            <a:extLst>
              <a:ext uri="{FF2B5EF4-FFF2-40B4-BE49-F238E27FC236}">
                <a16:creationId xmlns:a16="http://schemas.microsoft.com/office/drawing/2014/main" id="{5D25248B-8985-4786-B3A3-01224E670186}"/>
              </a:ext>
            </a:extLst>
          </p:cNvPr>
          <p:cNvSpPr>
            <a:spLocks noGrp="1"/>
          </p:cNvSpPr>
          <p:nvPr/>
        </p:nvSpPr>
        <p:spPr>
          <a:xfrm>
            <a:off x="51054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Tests + traceable artifact</a:t>
            </a:r>
          </a:p>
        </p:txBody>
      </p:sp>
      <p:sp>
        <p:nvSpPr>
          <p:cNvPr id="23" name="Step node 4">
            <a:extLst>
              <a:ext uri="{FF2B5EF4-FFF2-40B4-BE49-F238E27FC236}">
                <a16:creationId xmlns:a16="http://schemas.microsoft.com/office/drawing/2014/main" id="{06DD33A5-425B-4FDB-A163-B8619A801B87}"/>
              </a:ext>
            </a:extLst>
          </p:cNvPr>
          <p:cNvSpPr>
            <a:spLocks noGrp="1"/>
          </p:cNvSpPr>
          <p:nvPr/>
        </p:nvSpPr>
        <p:spPr>
          <a:xfrm>
            <a:off x="73533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 date 4">
            <a:extLst>
              <a:ext uri="{FF2B5EF4-FFF2-40B4-BE49-F238E27FC236}">
                <a16:creationId xmlns:a16="http://schemas.microsoft.com/office/drawing/2014/main" id="{10E06447-AA87-44EB-91DA-C5D64EF94955}"/>
              </a:ext>
            </a:extLst>
          </p:cNvPr>
          <p:cNvSpPr>
            <a:spLocks noGrp="1"/>
          </p:cNvSpPr>
          <p:nvPr/>
        </p:nvSpPr>
        <p:spPr>
          <a:xfrm>
            <a:off x="73152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5" name="Step head 4">
            <a:extLst>
              <a:ext uri="{FF2B5EF4-FFF2-40B4-BE49-F238E27FC236}">
                <a16:creationId xmlns:a16="http://schemas.microsoft.com/office/drawing/2014/main" id="{972C2385-AD6C-440A-9BF2-B320F4456CE6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Deploy</a:t>
            </a:r>
          </a:p>
        </p:txBody>
      </p:sp>
      <p:sp>
        <p:nvSpPr>
          <p:cNvPr id="26" name="Step desc 4">
            <a:extLst>
              <a:ext uri="{FF2B5EF4-FFF2-40B4-BE49-F238E27FC236}">
                <a16:creationId xmlns:a16="http://schemas.microsoft.com/office/drawing/2014/main" id="{DF60AAEB-8953-476D-9C4C-3316CDAE0B07}"/>
              </a:ext>
            </a:extLst>
          </p:cNvPr>
          <p:cNvSpPr>
            <a:spLocks noGrp="1"/>
          </p:cNvSpPr>
          <p:nvPr/>
        </p:nvSpPr>
        <p:spPr>
          <a:xfrm>
            <a:off x="73152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Canary through health gates</a:t>
            </a:r>
          </a:p>
        </p:txBody>
      </p:sp>
      <p:sp>
        <p:nvSpPr>
          <p:cNvPr id="27" name="Step node 5">
            <a:extLst>
              <a:ext uri="{FF2B5EF4-FFF2-40B4-BE49-F238E27FC236}">
                <a16:creationId xmlns:a16="http://schemas.microsoft.com/office/drawing/2014/main" id="{9B0C406E-25B8-4EF8-A86D-14EE47400AB7}"/>
              </a:ext>
            </a:extLst>
          </p:cNvPr>
          <p:cNvSpPr>
            <a:spLocks noGrp="1"/>
          </p:cNvSpPr>
          <p:nvPr/>
        </p:nvSpPr>
        <p:spPr>
          <a:xfrm>
            <a:off x="9563100" y="2495550"/>
            <a:ext cx="323850" cy="323850"/>
          </a:xfrm>
          <a:prstGeom prst="ellipse">
            <a:avLst/>
          </a:prstGeom>
          <a:solidFill>
            <a:srgbClr val="E86027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ep date 5">
            <a:extLst>
              <a:ext uri="{FF2B5EF4-FFF2-40B4-BE49-F238E27FC236}">
                <a16:creationId xmlns:a16="http://schemas.microsoft.com/office/drawing/2014/main" id="{5DB32D24-96E8-45F8-AA70-72051FB4473E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29" name="Step head 5">
            <a:extLst>
              <a:ext uri="{FF2B5EF4-FFF2-40B4-BE49-F238E27FC236}">
                <a16:creationId xmlns:a16="http://schemas.microsoft.com/office/drawing/2014/main" id="{3EB2130C-D535-4215-B5B5-6E85DDB08F09}"/>
              </a:ext>
            </a:extLst>
          </p:cNvPr>
          <p:cNvSpPr>
            <a:spLocks noGrp="1"/>
          </p:cNvSpPr>
          <p:nvPr/>
        </p:nvSpPr>
        <p:spPr>
          <a:xfrm>
            <a:off x="95250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Verify</a:t>
            </a:r>
          </a:p>
        </p:txBody>
      </p:sp>
      <p:sp>
        <p:nvSpPr>
          <p:cNvPr id="30" name="Step desc 5">
            <a:extLst>
              <a:ext uri="{FF2B5EF4-FFF2-40B4-BE49-F238E27FC236}">
                <a16:creationId xmlns:a16="http://schemas.microsoft.com/office/drawing/2014/main" id="{8329A093-43FF-4329-AAFD-16E0DD295EDC}"/>
              </a:ext>
            </a:extLst>
          </p:cNvPr>
          <p:cNvSpPr>
            <a:spLocks noGrp="1"/>
          </p:cNvSpPr>
          <p:nvPr/>
        </p:nvSpPr>
        <p:spPr>
          <a:xfrm>
            <a:off x="95250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Coverage, outcome, exceptions</a:t>
            </a:r>
          </a:p>
        </p:txBody>
      </p:sp>
      <p:sp>
        <p:nvSpPr>
          <p:cNvPr id="31" name="Timeline lesson">
            <a:extLst>
              <a:ext uri="{FF2B5EF4-FFF2-40B4-BE49-F238E27FC236}">
                <a16:creationId xmlns:a16="http://schemas.microsoft.com/office/drawing/2014/main" id="{42A2ED21-7077-4917-A81B-5AD333391B8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33350" tIns="0" rIns="0" bIns="0" anchor="ctr">
            <a:noAutofit/>
          </a:bodyPr>
          <a:lstStyle/>
          <a:p>
            <a:pPr algn="l">
              <a:buNone/>
              <a:defRPr sz="1950">
                <a:solidFill>
                  <a:srgbClr val="00446F"/>
                </a:solidFill>
                <a:latin typeface="Optima"/>
                <a:ea typeface="Optima"/>
                <a:cs typeface="Optima"/>
              </a:defRPr>
            </a:pPr>
            <a:r>
              <a:rPr sz="1950">
                <a:solidFill>
                  <a:srgbClr val="00446F"/>
                </a:solidFill>
                <a:latin typeface="Optima"/>
                <a:ea typeface="Optima"/>
                <a:cs typeface="Optima"/>
              </a:rPr>
              <a:t>Automation moves the change. A person owns the decision.</a:t>
            </a:r>
          </a:p>
        </p:txBody>
      </p:sp>
      <p:sp>
        <p:nvSpPr>
          <p:cNvPr id="32" name="Lesson accent">
            <a:extLst>
              <a:ext uri="{FF2B5EF4-FFF2-40B4-BE49-F238E27FC236}">
                <a16:creationId xmlns:a16="http://schemas.microsoft.com/office/drawing/2014/main" id="{2068FAC1-7448-4377-A302-062AB48DC24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47625" cy="714375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 10">
            <a:extLst>
              <a:ext uri="{FF2B5EF4-FFF2-40B4-BE49-F238E27FC236}">
                <a16:creationId xmlns:a16="http://schemas.microsoft.com/office/drawing/2014/main" id="{8249FA6C-A2BC-4607-A36A-F193B95458E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1E22148-C895-4D64-89D4-FBFA73DBFC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Reliable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T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ests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Le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t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T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eams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hange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F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aster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086B123C-D090-4F7B-863D-CECB566DE5A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630936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10">
            <a:extLst>
              <a:ext uri="{FF2B5EF4-FFF2-40B4-BE49-F238E27FC236}">
                <a16:creationId xmlns:a16="http://schemas.microsoft.com/office/drawing/2014/main" id="{5E374189-58B9-4265-A797-1A5C34CDDCF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10">
            <a:extLst>
              <a:ext uri="{FF2B5EF4-FFF2-40B4-BE49-F238E27FC236}">
                <a16:creationId xmlns:a16="http://schemas.microsoft.com/office/drawing/2014/main" id="{94DDE23F-B933-4617-A499-29332006FAD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10">
            <a:extLst>
              <a:ext uri="{FF2B5EF4-FFF2-40B4-BE49-F238E27FC236}">
                <a16:creationId xmlns:a16="http://schemas.microsoft.com/office/drawing/2014/main" id="{F10212AA-0140-455C-B383-662A8064BB70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18</a:t>
            </a:r>
          </a:p>
        </p:txBody>
      </p:sp>
      <p:sp>
        <p:nvSpPr>
          <p:cNvPr id="11" name="Proof verb 1">
            <a:extLst>
              <a:ext uri="{FF2B5EF4-FFF2-40B4-BE49-F238E27FC236}">
                <a16:creationId xmlns:a16="http://schemas.microsoft.com/office/drawing/2014/main" id="{A775B0C0-EA7D-4138-8B88-220FEA70853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FIX</a:t>
            </a:r>
          </a:p>
        </p:txBody>
      </p:sp>
      <p:sp>
        <p:nvSpPr>
          <p:cNvPr id="12" name="AI gradient rule 72-328">
            <a:extLst>
              <a:ext uri="{FF2B5EF4-FFF2-40B4-BE49-F238E27FC236}">
                <a16:creationId xmlns:a16="http://schemas.microsoft.com/office/drawing/2014/main" id="{33FE6B42-BBAB-472B-AC64-0001A3B17653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roof desc 1">
            <a:extLst>
              <a:ext uri="{FF2B5EF4-FFF2-40B4-BE49-F238E27FC236}">
                <a16:creationId xmlns:a16="http://schemas.microsoft.com/office/drawing/2014/main" id="{D71769AE-F4DE-452F-ABEE-52E0C1F7301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Security and regression tests</a:t>
            </a:r>
          </a:p>
        </p:txBody>
      </p:sp>
      <p:sp>
        <p:nvSpPr>
          <p:cNvPr id="14" name="Proof verb 2">
            <a:extLst>
              <a:ext uri="{FF2B5EF4-FFF2-40B4-BE49-F238E27FC236}">
                <a16:creationId xmlns:a16="http://schemas.microsoft.com/office/drawing/2014/main" id="{05A6157C-6E61-4B07-9924-293B6FDACCAF}"/>
              </a:ext>
            </a:extLst>
          </p:cNvPr>
          <p:cNvSpPr>
            <a:spLocks noGrp="1"/>
          </p:cNvSpPr>
          <p:nvPr/>
        </p:nvSpPr>
        <p:spPr>
          <a:xfrm>
            <a:off x="34671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SERVICE</a:t>
            </a:r>
          </a:p>
        </p:txBody>
      </p:sp>
      <p:sp>
        <p:nvSpPr>
          <p:cNvPr id="15" name="AI gradient rule 364-328">
            <a:extLst>
              <a:ext uri="{FF2B5EF4-FFF2-40B4-BE49-F238E27FC236}">
                <a16:creationId xmlns:a16="http://schemas.microsoft.com/office/drawing/2014/main" id="{F347030A-663B-4E98-8067-D84041E8385F}"/>
              </a:ext>
            </a:extLst>
          </p:cNvPr>
          <p:cNvSpPr>
            <a:spLocks noGrp="1"/>
          </p:cNvSpPr>
          <p:nvPr/>
        </p:nvSpPr>
        <p:spPr>
          <a:xfrm>
            <a:off x="34671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roof desc 2">
            <a:extLst>
              <a:ext uri="{FF2B5EF4-FFF2-40B4-BE49-F238E27FC236}">
                <a16:creationId xmlns:a16="http://schemas.microsoft.com/office/drawing/2014/main" id="{2D66C27B-3D63-489B-8BDF-76216D627791}"/>
              </a:ext>
            </a:extLst>
          </p:cNvPr>
          <p:cNvSpPr>
            <a:spLocks noGrp="1"/>
          </p:cNvSpPr>
          <p:nvPr/>
        </p:nvSpPr>
        <p:spPr>
          <a:xfrm>
            <a:off x="34671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Contract and performance tests</a:t>
            </a:r>
          </a:p>
        </p:txBody>
      </p:sp>
      <p:sp>
        <p:nvSpPr>
          <p:cNvPr id="17" name="Proof verb 3">
            <a:extLst>
              <a:ext uri="{FF2B5EF4-FFF2-40B4-BE49-F238E27FC236}">
                <a16:creationId xmlns:a16="http://schemas.microsoft.com/office/drawing/2014/main" id="{F3D4D07F-BE89-4C18-890A-E081361ED02B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POLICY</a:t>
            </a:r>
          </a:p>
        </p:txBody>
      </p:sp>
      <p:sp>
        <p:nvSpPr>
          <p:cNvPr id="18" name="AI gradient rule 656-328">
            <a:extLst>
              <a:ext uri="{FF2B5EF4-FFF2-40B4-BE49-F238E27FC236}">
                <a16:creationId xmlns:a16="http://schemas.microsoft.com/office/drawing/2014/main" id="{7130CC54-1330-424C-87F3-A28E152F601A}"/>
              </a:ext>
            </a:extLst>
          </p:cNvPr>
          <p:cNvSpPr>
            <a:spLocks noGrp="1"/>
          </p:cNvSpPr>
          <p:nvPr/>
        </p:nvSpPr>
        <p:spPr>
          <a:xfrm>
            <a:off x="62484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of desc 3">
            <a:extLst>
              <a:ext uri="{FF2B5EF4-FFF2-40B4-BE49-F238E27FC236}">
                <a16:creationId xmlns:a16="http://schemas.microsoft.com/office/drawing/2014/main" id="{B0AC40EC-EAB0-4211-8950-791B3D4DDBBD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Configuration and compliance gates</a:t>
            </a:r>
          </a:p>
        </p:txBody>
      </p:sp>
      <p:sp>
        <p:nvSpPr>
          <p:cNvPr id="20" name="Proof verb 4">
            <a:extLst>
              <a:ext uri="{FF2B5EF4-FFF2-40B4-BE49-F238E27FC236}">
                <a16:creationId xmlns:a16="http://schemas.microsoft.com/office/drawing/2014/main" id="{5DA56CDE-8888-4A48-B652-17254CE26D6B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RECOVERY</a:t>
            </a:r>
          </a:p>
        </p:txBody>
      </p:sp>
      <p:sp>
        <p:nvSpPr>
          <p:cNvPr id="21" name="AI gradient rule 948-328">
            <a:extLst>
              <a:ext uri="{FF2B5EF4-FFF2-40B4-BE49-F238E27FC236}">
                <a16:creationId xmlns:a16="http://schemas.microsoft.com/office/drawing/2014/main" id="{3796C288-C094-4A3C-9A73-FED970AC385A}"/>
              </a:ext>
            </a:extLst>
          </p:cNvPr>
          <p:cNvSpPr>
            <a:spLocks noGrp="1"/>
          </p:cNvSpPr>
          <p:nvPr/>
        </p:nvSpPr>
        <p:spPr>
          <a:xfrm>
            <a:off x="90297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roof desc 4">
            <a:extLst>
              <a:ext uri="{FF2B5EF4-FFF2-40B4-BE49-F238E27FC236}">
                <a16:creationId xmlns:a16="http://schemas.microsoft.com/office/drawing/2014/main" id="{BD18DF03-CA04-4AF9-81F7-325C8A22A8EB}"/>
              </a:ext>
            </a:extLst>
          </p:cNvPr>
          <p:cNvSpPr>
            <a:spLocks noGrp="1"/>
          </p:cNvSpPr>
          <p:nvPr/>
        </p:nvSpPr>
        <p:spPr>
          <a:xfrm>
            <a:off x="90297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Rollback, failover, and restore drills</a:t>
            </a:r>
          </a:p>
        </p:txBody>
      </p:sp>
      <p:sp>
        <p:nvSpPr>
          <p:cNvPr id="23" name="Closing quote rule">
            <a:extLst>
              <a:ext uri="{FF2B5EF4-FFF2-40B4-BE49-F238E27FC236}">
                <a16:creationId xmlns:a16="http://schemas.microsoft.com/office/drawing/2014/main" id="{2850741F-D68A-480E-B58A-05794DDA505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66675" cy="1066800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losing quote">
            <a:extLst>
              <a:ext uri="{FF2B5EF4-FFF2-40B4-BE49-F238E27FC236}">
                <a16:creationId xmlns:a16="http://schemas.microsoft.com/office/drawing/2014/main" id="{AE722875-617C-477E-8AA9-A87A00CAED85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10477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85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 green test supports the decision. It can</a:t>
            </a:r>
            <a:r>
              <a:rPr lang="en-US"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 never</a:t>
            </a:r>
            <a:r>
              <a:rPr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 rule out failure.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7D1011A-6993-E451-6E3A-80C593A28A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5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 3">
            <a:extLst>
              <a:ext uri="{FF2B5EF4-FFF2-40B4-BE49-F238E27FC236}">
                <a16:creationId xmlns:a16="http://schemas.microsoft.com/office/drawing/2014/main" id="{DD35D373-8A79-44EB-B625-A8A23E1BF6C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506CDB-4976-489D-8445-BC4A3ACC57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Deploy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hrough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mall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roduction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Changes</a:t>
            </a:r>
            <a:endParaRPr sz="3000" b="0" dirty="0">
              <a:solidFill>
                <a:srgbClr val="07090F"/>
              </a:solidFill>
              <a:latin typeface="Optima"/>
              <a:ea typeface="Optima"/>
              <a:cs typeface="Optima"/>
            </a:endParaRP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11F7E8D8-815C-4BA9-B593-A5CCBC21740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630936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3">
            <a:extLst>
              <a:ext uri="{FF2B5EF4-FFF2-40B4-BE49-F238E27FC236}">
                <a16:creationId xmlns:a16="http://schemas.microsoft.com/office/drawing/2014/main" id="{6399394E-FF73-4792-AA59-94A1CA033BCC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3">
            <a:extLst>
              <a:ext uri="{FF2B5EF4-FFF2-40B4-BE49-F238E27FC236}">
                <a16:creationId xmlns:a16="http://schemas.microsoft.com/office/drawing/2014/main" id="{6401229C-BD11-4194-AB3B-7BBA7B9196F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3">
            <a:extLst>
              <a:ext uri="{FF2B5EF4-FFF2-40B4-BE49-F238E27FC236}">
                <a16:creationId xmlns:a16="http://schemas.microsoft.com/office/drawing/2014/main" id="{57A46509-5008-4DAC-AF94-A631EDF1B44A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19</a:t>
            </a:r>
          </a:p>
        </p:txBody>
      </p:sp>
      <p:sp>
        <p:nvSpPr>
          <p:cNvPr id="10" name="Process line">
            <a:extLst>
              <a:ext uri="{FF2B5EF4-FFF2-40B4-BE49-F238E27FC236}">
                <a16:creationId xmlns:a16="http://schemas.microsoft.com/office/drawing/2014/main" id="{3CEDC550-06F4-45A9-861D-9BB8844BDEC2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10477500" cy="28575"/>
          </a:xfrm>
          <a:prstGeom prst="roundRect">
            <a:avLst>
              <a:gd name="adj" fmla="val 50000"/>
            </a:avLst>
          </a:prstGeom>
          <a:solidFill>
            <a:srgbClr val="0044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node 1">
            <a:extLst>
              <a:ext uri="{FF2B5EF4-FFF2-40B4-BE49-F238E27FC236}">
                <a16:creationId xmlns:a16="http://schemas.microsoft.com/office/drawing/2014/main" id="{942620B4-8233-4815-870B-30E85FCFC985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date 1">
            <a:extLst>
              <a:ext uri="{FF2B5EF4-FFF2-40B4-BE49-F238E27FC236}">
                <a16:creationId xmlns:a16="http://schemas.microsoft.com/office/drawing/2014/main" id="{F6FDBC9D-B8D8-4D6A-B89A-8AD12D3DA93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3" name="Step head 1">
            <a:extLst>
              <a:ext uri="{FF2B5EF4-FFF2-40B4-BE49-F238E27FC236}">
                <a16:creationId xmlns:a16="http://schemas.microsoft.com/office/drawing/2014/main" id="{251F7326-3D5C-42B9-8A59-931E8FAB81D4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Sign</a:t>
            </a:r>
          </a:p>
        </p:txBody>
      </p:sp>
      <p:sp>
        <p:nvSpPr>
          <p:cNvPr id="14" name="Step desc 1">
            <a:extLst>
              <a:ext uri="{FF2B5EF4-FFF2-40B4-BE49-F238E27FC236}">
                <a16:creationId xmlns:a16="http://schemas.microsoft.com/office/drawing/2014/main" id="{7D170694-C6E8-4D80-B40E-D6379445E0A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Versioned, signed artifact</a:t>
            </a:r>
          </a:p>
        </p:txBody>
      </p:sp>
      <p:sp>
        <p:nvSpPr>
          <p:cNvPr id="15" name="Step node 2">
            <a:extLst>
              <a:ext uri="{FF2B5EF4-FFF2-40B4-BE49-F238E27FC236}">
                <a16:creationId xmlns:a16="http://schemas.microsoft.com/office/drawing/2014/main" id="{15F4FA38-7EEC-4C84-86E8-7CA5439BDFFE}"/>
              </a:ext>
            </a:extLst>
          </p:cNvPr>
          <p:cNvSpPr>
            <a:spLocks noGrp="1"/>
          </p:cNvSpPr>
          <p:nvPr/>
        </p:nvSpPr>
        <p:spPr>
          <a:xfrm>
            <a:off x="29337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date 2">
            <a:extLst>
              <a:ext uri="{FF2B5EF4-FFF2-40B4-BE49-F238E27FC236}">
                <a16:creationId xmlns:a16="http://schemas.microsoft.com/office/drawing/2014/main" id="{011CC186-CB72-45B9-939D-7C9EC0533E0E}"/>
              </a:ext>
            </a:extLst>
          </p:cNvPr>
          <p:cNvSpPr>
            <a:spLocks noGrp="1"/>
          </p:cNvSpPr>
          <p:nvPr/>
        </p:nvSpPr>
        <p:spPr>
          <a:xfrm>
            <a:off x="28956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Step head 2">
            <a:extLst>
              <a:ext uri="{FF2B5EF4-FFF2-40B4-BE49-F238E27FC236}">
                <a16:creationId xmlns:a16="http://schemas.microsoft.com/office/drawing/2014/main" id="{957EEE9E-6378-4457-AA53-995587537568}"/>
              </a:ext>
            </a:extLst>
          </p:cNvPr>
          <p:cNvSpPr>
            <a:spLocks noGrp="1"/>
          </p:cNvSpPr>
          <p:nvPr/>
        </p:nvSpPr>
        <p:spPr>
          <a:xfrm>
            <a:off x="28956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lang="en-US"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Verify</a:t>
            </a:r>
            <a:endParaRPr sz="1650" b="1" dirty="0">
              <a:solidFill>
                <a:srgbClr val="07090F"/>
              </a:solidFill>
              <a:latin typeface="Optima"/>
              <a:ea typeface="Optima"/>
              <a:cs typeface="Optima"/>
            </a:endParaRPr>
          </a:p>
        </p:txBody>
      </p:sp>
      <p:sp>
        <p:nvSpPr>
          <p:cNvPr id="18" name="Step desc 2">
            <a:extLst>
              <a:ext uri="{FF2B5EF4-FFF2-40B4-BE49-F238E27FC236}">
                <a16:creationId xmlns:a16="http://schemas.microsoft.com/office/drawing/2014/main" id="{B65A9520-4EC6-4E1D-9241-15D73101ADA0}"/>
              </a:ext>
            </a:extLst>
          </p:cNvPr>
          <p:cNvSpPr>
            <a:spLocks noGrp="1"/>
          </p:cNvSpPr>
          <p:nvPr/>
        </p:nvSpPr>
        <p:spPr>
          <a:xfrm>
            <a:off x="28956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Representative production slice</a:t>
            </a:r>
          </a:p>
        </p:txBody>
      </p:sp>
      <p:sp>
        <p:nvSpPr>
          <p:cNvPr id="19" name="Step node 3">
            <a:extLst>
              <a:ext uri="{FF2B5EF4-FFF2-40B4-BE49-F238E27FC236}">
                <a16:creationId xmlns:a16="http://schemas.microsoft.com/office/drawing/2014/main" id="{171F8043-6EDF-4138-B92A-1132F30C408A}"/>
              </a:ext>
            </a:extLst>
          </p:cNvPr>
          <p:cNvSpPr>
            <a:spLocks noGrp="1"/>
          </p:cNvSpPr>
          <p:nvPr/>
        </p:nvSpPr>
        <p:spPr>
          <a:xfrm>
            <a:off x="51435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 date 3">
            <a:extLst>
              <a:ext uri="{FF2B5EF4-FFF2-40B4-BE49-F238E27FC236}">
                <a16:creationId xmlns:a16="http://schemas.microsoft.com/office/drawing/2014/main" id="{BC6B0691-AC7F-4895-B5E3-98CEC553B472}"/>
              </a:ext>
            </a:extLst>
          </p:cNvPr>
          <p:cNvSpPr>
            <a:spLocks noGrp="1"/>
          </p:cNvSpPr>
          <p:nvPr/>
        </p:nvSpPr>
        <p:spPr>
          <a:xfrm>
            <a:off x="51054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1" name="Step head 3">
            <a:extLst>
              <a:ext uri="{FF2B5EF4-FFF2-40B4-BE49-F238E27FC236}">
                <a16:creationId xmlns:a16="http://schemas.microsoft.com/office/drawing/2014/main" id="{69E4BC9A-5B31-46E4-8A3C-B326D2AB0EC0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Observe</a:t>
            </a:r>
          </a:p>
        </p:txBody>
      </p:sp>
      <p:sp>
        <p:nvSpPr>
          <p:cNvPr id="22" name="Step desc 3">
            <a:extLst>
              <a:ext uri="{FF2B5EF4-FFF2-40B4-BE49-F238E27FC236}">
                <a16:creationId xmlns:a16="http://schemas.microsoft.com/office/drawing/2014/main" id="{5D25248B-8985-4786-B3A3-01224E670186}"/>
              </a:ext>
            </a:extLst>
          </p:cNvPr>
          <p:cNvSpPr>
            <a:spLocks noGrp="1"/>
          </p:cNvSpPr>
          <p:nvPr/>
        </p:nvSpPr>
        <p:spPr>
          <a:xfrm>
            <a:off x="51054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User, security, and service signals</a:t>
            </a:r>
          </a:p>
        </p:txBody>
      </p:sp>
      <p:sp>
        <p:nvSpPr>
          <p:cNvPr id="23" name="Step node 4">
            <a:extLst>
              <a:ext uri="{FF2B5EF4-FFF2-40B4-BE49-F238E27FC236}">
                <a16:creationId xmlns:a16="http://schemas.microsoft.com/office/drawing/2014/main" id="{06DD33A5-425B-4FDB-A163-B8619A801B87}"/>
              </a:ext>
            </a:extLst>
          </p:cNvPr>
          <p:cNvSpPr>
            <a:spLocks noGrp="1"/>
          </p:cNvSpPr>
          <p:nvPr/>
        </p:nvSpPr>
        <p:spPr>
          <a:xfrm>
            <a:off x="73533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 date 4">
            <a:extLst>
              <a:ext uri="{FF2B5EF4-FFF2-40B4-BE49-F238E27FC236}">
                <a16:creationId xmlns:a16="http://schemas.microsoft.com/office/drawing/2014/main" id="{10E06447-AA87-44EB-91DA-C5D64EF94955}"/>
              </a:ext>
            </a:extLst>
          </p:cNvPr>
          <p:cNvSpPr>
            <a:spLocks noGrp="1"/>
          </p:cNvSpPr>
          <p:nvPr/>
        </p:nvSpPr>
        <p:spPr>
          <a:xfrm>
            <a:off x="73152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5" name="Step head 4">
            <a:extLst>
              <a:ext uri="{FF2B5EF4-FFF2-40B4-BE49-F238E27FC236}">
                <a16:creationId xmlns:a16="http://schemas.microsoft.com/office/drawing/2014/main" id="{972C2385-AD6C-440A-9BF2-B320F4456CE6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Expand</a:t>
            </a:r>
          </a:p>
        </p:txBody>
      </p:sp>
      <p:sp>
        <p:nvSpPr>
          <p:cNvPr id="26" name="Step desc 4">
            <a:extLst>
              <a:ext uri="{FF2B5EF4-FFF2-40B4-BE49-F238E27FC236}">
                <a16:creationId xmlns:a16="http://schemas.microsoft.com/office/drawing/2014/main" id="{DF60AAEB-8953-476D-9C4C-3316CDAE0B07}"/>
              </a:ext>
            </a:extLst>
          </p:cNvPr>
          <p:cNvSpPr>
            <a:spLocks noGrp="1"/>
          </p:cNvSpPr>
          <p:nvPr/>
        </p:nvSpPr>
        <p:spPr>
          <a:xfrm>
            <a:off x="73152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Wider rings, one at a time</a:t>
            </a:r>
          </a:p>
        </p:txBody>
      </p:sp>
      <p:sp>
        <p:nvSpPr>
          <p:cNvPr id="27" name="Step node 5">
            <a:extLst>
              <a:ext uri="{FF2B5EF4-FFF2-40B4-BE49-F238E27FC236}">
                <a16:creationId xmlns:a16="http://schemas.microsoft.com/office/drawing/2014/main" id="{9B0C406E-25B8-4EF8-A86D-14EE47400AB7}"/>
              </a:ext>
            </a:extLst>
          </p:cNvPr>
          <p:cNvSpPr>
            <a:spLocks noGrp="1"/>
          </p:cNvSpPr>
          <p:nvPr/>
        </p:nvSpPr>
        <p:spPr>
          <a:xfrm>
            <a:off x="9563100" y="2495550"/>
            <a:ext cx="323850" cy="323850"/>
          </a:xfrm>
          <a:prstGeom prst="ellipse">
            <a:avLst/>
          </a:prstGeom>
          <a:solidFill>
            <a:srgbClr val="E86027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ep date 5">
            <a:extLst>
              <a:ext uri="{FF2B5EF4-FFF2-40B4-BE49-F238E27FC236}">
                <a16:creationId xmlns:a16="http://schemas.microsoft.com/office/drawing/2014/main" id="{5DB32D24-96E8-45F8-AA70-72051FB4473E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29" name="Step head 5">
            <a:extLst>
              <a:ext uri="{FF2B5EF4-FFF2-40B4-BE49-F238E27FC236}">
                <a16:creationId xmlns:a16="http://schemas.microsoft.com/office/drawing/2014/main" id="{3EB2130C-D535-4215-B5B5-6E85DDB08F09}"/>
              </a:ext>
            </a:extLst>
          </p:cNvPr>
          <p:cNvSpPr>
            <a:spLocks noGrp="1"/>
          </p:cNvSpPr>
          <p:nvPr/>
        </p:nvSpPr>
        <p:spPr>
          <a:xfrm>
            <a:off x="95250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Close</a:t>
            </a:r>
          </a:p>
        </p:txBody>
      </p:sp>
      <p:sp>
        <p:nvSpPr>
          <p:cNvPr id="30" name="Step desc 5">
            <a:extLst>
              <a:ext uri="{FF2B5EF4-FFF2-40B4-BE49-F238E27FC236}">
                <a16:creationId xmlns:a16="http://schemas.microsoft.com/office/drawing/2014/main" id="{8329A093-43FF-4329-AAFD-16E0DD295EDC}"/>
              </a:ext>
            </a:extLst>
          </p:cNvPr>
          <p:cNvSpPr>
            <a:spLocks noGrp="1"/>
          </p:cNvSpPr>
          <p:nvPr/>
        </p:nvSpPr>
        <p:spPr>
          <a:xfrm>
            <a:off x="95250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Coverage and exceptions verified</a:t>
            </a:r>
          </a:p>
        </p:txBody>
      </p:sp>
      <p:sp>
        <p:nvSpPr>
          <p:cNvPr id="31" name="Timeline lesson">
            <a:extLst>
              <a:ext uri="{FF2B5EF4-FFF2-40B4-BE49-F238E27FC236}">
                <a16:creationId xmlns:a16="http://schemas.microsoft.com/office/drawing/2014/main" id="{42A2ED21-7077-4917-A81B-5AD333391B8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33350" tIns="0" rIns="0" bIns="0" anchor="ctr">
            <a:noAutofit/>
          </a:bodyPr>
          <a:lstStyle/>
          <a:p>
            <a:pPr algn="l">
              <a:buNone/>
              <a:defRPr sz="1950">
                <a:solidFill>
                  <a:srgbClr val="00446F"/>
                </a:solidFill>
                <a:latin typeface="Optima"/>
                <a:ea typeface="Optima"/>
                <a:cs typeface="Optima"/>
              </a:defRPr>
            </a:pPr>
            <a:r>
              <a:rPr sz="1950">
                <a:solidFill>
                  <a:srgbClr val="00446F"/>
                </a:solidFill>
                <a:latin typeface="Optima"/>
                <a:ea typeface="Optima"/>
                <a:cs typeface="Optima"/>
              </a:rPr>
              <a:t>Stop when health degrades.</a:t>
            </a:r>
          </a:p>
        </p:txBody>
      </p:sp>
      <p:sp>
        <p:nvSpPr>
          <p:cNvPr id="32" name="Lesson accent">
            <a:extLst>
              <a:ext uri="{FF2B5EF4-FFF2-40B4-BE49-F238E27FC236}">
                <a16:creationId xmlns:a16="http://schemas.microsoft.com/office/drawing/2014/main" id="{2068FAC1-7448-4377-A302-062AB48DC24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47625" cy="714375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 4">
            <a:extLst>
              <a:ext uri="{FF2B5EF4-FFF2-40B4-BE49-F238E27FC236}">
                <a16:creationId xmlns:a16="http://schemas.microsoft.com/office/drawing/2014/main" id="{90D680A5-313F-4F4A-92A9-70863E6370D5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25" name="Graphic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ED6CDCD-BB4F-48D0-BD6B-0C5B2C6D6429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Choose 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ecovery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ath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B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efore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eployment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08B5AC51-A267-4383-B5C6-EEC53FB9123E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740664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4">
            <a:extLst>
              <a:ext uri="{FF2B5EF4-FFF2-40B4-BE49-F238E27FC236}">
                <a16:creationId xmlns:a16="http://schemas.microsoft.com/office/drawing/2014/main" id="{F08B979C-2A4D-44DF-8D2C-216D236244D7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4">
            <a:extLst>
              <a:ext uri="{FF2B5EF4-FFF2-40B4-BE49-F238E27FC236}">
                <a16:creationId xmlns:a16="http://schemas.microsoft.com/office/drawing/2014/main" id="{2693ADCA-69C2-4414-9520-26EB81769981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4">
            <a:extLst>
              <a:ext uri="{FF2B5EF4-FFF2-40B4-BE49-F238E27FC236}">
                <a16:creationId xmlns:a16="http://schemas.microsoft.com/office/drawing/2014/main" id="{96F73543-E3C8-43A2-BF36-BA018EFAB80E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20</a:t>
            </a:r>
          </a:p>
        </p:txBody>
      </p:sp>
      <p:sp>
        <p:nvSpPr>
          <p:cNvPr id="10" name="Two day metric">
            <a:extLst>
              <a:ext uri="{FF2B5EF4-FFF2-40B4-BE49-F238E27FC236}">
                <a16:creationId xmlns:a16="http://schemas.microsoft.com/office/drawing/2014/main" id="{12A0E9F8-9544-43AB-B07B-746B5BE52139}"/>
              </a:ext>
            </a:extLst>
          </p:cNvPr>
          <p:cNvSpPr>
            <a:spLocks noGrp="1"/>
          </p:cNvSpPr>
          <p:nvPr/>
        </p:nvSpPr>
        <p:spPr>
          <a:xfrm>
            <a:off x="4762500" y="2190750"/>
            <a:ext cx="2667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54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40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EXIT PLAN</a:t>
            </a:r>
          </a:p>
        </p:txBody>
      </p:sp>
      <p:sp>
        <p:nvSpPr>
          <p:cNvPr id="11" name="Two day label">
            <a:extLst>
              <a:ext uri="{FF2B5EF4-FFF2-40B4-BE49-F238E27FC236}">
                <a16:creationId xmlns:a16="http://schemas.microsoft.com/office/drawing/2014/main" id="{7E54FBDE-4D06-418A-B0EB-AD84E689A738}"/>
              </a:ext>
            </a:extLst>
          </p:cNvPr>
          <p:cNvSpPr>
            <a:spLocks noGrp="1"/>
          </p:cNvSpPr>
          <p:nvPr/>
        </p:nvSpPr>
        <p:spPr>
          <a:xfrm>
            <a:off x="3943350" y="3143250"/>
            <a:ext cx="4305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676869"/>
                </a:solidFill>
                <a:latin typeface="Inter"/>
                <a:ea typeface="Inter"/>
                <a:cs typeface="Inter"/>
              </a:rPr>
              <a:t>chosen before production</a:t>
            </a:r>
          </a:p>
        </p:txBody>
      </p:sp>
      <p:sp>
        <p:nvSpPr>
          <p:cNvPr id="12" name="July 6 lane">
            <a:extLst>
              <a:ext uri="{FF2B5EF4-FFF2-40B4-BE49-F238E27FC236}">
                <a16:creationId xmlns:a16="http://schemas.microsoft.com/office/drawing/2014/main" id="{794D9C1A-124E-4836-BDC9-EA53C0773EEF}"/>
              </a:ext>
            </a:extLst>
          </p:cNvPr>
          <p:cNvSpPr>
            <a:spLocks noGrp="1"/>
          </p:cNvSpPr>
          <p:nvPr/>
        </p:nvSpPr>
        <p:spPr>
          <a:xfrm>
            <a:off x="685800" y="2162175"/>
            <a:ext cx="32194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9525">
            <a:solidFill>
              <a:srgbClr val="C8C7C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228600" tIns="228600" rIns="228600" bIns="228600" anchor="ctr">
            <a:noAutofit/>
          </a:bodyPr>
          <a:lstStyle/>
          <a:p>
            <a:r>
              <a:rPr b="1" u="sng" dirty="0"/>
              <a:t>ROLL BACK</a:t>
            </a:r>
          </a:p>
          <a:p>
            <a:r>
              <a:rPr b="1" dirty="0"/>
              <a:t>Return to known good</a:t>
            </a:r>
          </a:p>
          <a:p>
            <a:r>
              <a:rPr dirty="0"/>
              <a:t>Versioned artifact, reversible configuration, compatible data.</a:t>
            </a:r>
          </a:p>
        </p:txBody>
      </p:sp>
      <p:sp>
        <p:nvSpPr>
          <p:cNvPr id="13" name="July 8 lane">
            <a:extLst>
              <a:ext uri="{FF2B5EF4-FFF2-40B4-BE49-F238E27FC236}">
                <a16:creationId xmlns:a16="http://schemas.microsoft.com/office/drawing/2014/main" id="{120E04D5-626F-48E3-942F-671AC8788EF7}"/>
              </a:ext>
            </a:extLst>
          </p:cNvPr>
          <p:cNvSpPr>
            <a:spLocks noGrp="1"/>
          </p:cNvSpPr>
          <p:nvPr/>
        </p:nvSpPr>
        <p:spPr>
          <a:xfrm>
            <a:off x="8286750" y="2162175"/>
            <a:ext cx="3219450" cy="2152650"/>
          </a:xfrm>
          <a:prstGeom prst="roundRect">
            <a:avLst>
              <a:gd name="adj" fmla="val 3540"/>
            </a:avLst>
          </a:prstGeom>
          <a:solidFill>
            <a:srgbClr val="FCE9E1"/>
          </a:solidFill>
          <a:ln w="9525">
            <a:solidFill>
              <a:srgbClr val="E86027"/>
            </a:solidFill>
            <a:prstDash val="solid"/>
          </a:ln>
        </p:spPr>
        <p:txBody>
          <a:bodyPr wrap="square" lIns="228600" tIns="228600" rIns="228600" bIns="228600" anchor="ctr">
            <a:noAutofit/>
          </a:bodyPr>
          <a:lstStyle/>
          <a:p>
            <a:r>
              <a:rPr b="1" u="sng" dirty="0"/>
              <a:t>ROLL FORWARD</a:t>
            </a:r>
          </a:p>
          <a:p>
            <a:r>
              <a:rPr b="1" dirty="0"/>
              <a:t>Repair in place</a:t>
            </a:r>
          </a:p>
          <a:p>
            <a:r>
              <a:rPr dirty="0"/>
              <a:t>Hotfix, failover, or replacement when reversal is unsafe.</a:t>
            </a:r>
          </a:p>
        </p:txBody>
      </p:sp>
      <p:sp>
        <p:nvSpPr>
          <p:cNvPr id="14" name="Milestone date 1">
            <a:extLst>
              <a:ext uri="{FF2B5EF4-FFF2-40B4-BE49-F238E27FC236}">
                <a16:creationId xmlns:a16="http://schemas.microsoft.com/office/drawing/2014/main" id="{FF29DABB-E789-4918-A76E-40AF6EBADBA0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ARTIFACT</a:t>
            </a:r>
          </a:p>
        </p:txBody>
      </p:sp>
      <p:sp>
        <p:nvSpPr>
          <p:cNvPr id="15" name="Milestone text 1">
            <a:extLst>
              <a:ext uri="{FF2B5EF4-FFF2-40B4-BE49-F238E27FC236}">
                <a16:creationId xmlns:a16="http://schemas.microsoft.com/office/drawing/2014/main" id="{6B7AB528-C643-44AE-A346-6C900DC0B431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signed known-good version</a:t>
            </a:r>
          </a:p>
        </p:txBody>
      </p:sp>
      <p:sp>
        <p:nvSpPr>
          <p:cNvPr id="16" name="Milestone date 2">
            <a:extLst>
              <a:ext uri="{FF2B5EF4-FFF2-40B4-BE49-F238E27FC236}">
                <a16:creationId xmlns:a16="http://schemas.microsoft.com/office/drawing/2014/main" id="{E6A45427-CDFA-4C9C-A460-96A1CA7502BE}"/>
              </a:ext>
            </a:extLst>
          </p:cNvPr>
          <p:cNvSpPr>
            <a:spLocks noGrp="1"/>
          </p:cNvSpPr>
          <p:nvPr/>
        </p:nvSpPr>
        <p:spPr>
          <a:xfrm>
            <a:off x="344805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CONFIGURATION</a:t>
            </a:r>
          </a:p>
        </p:txBody>
      </p:sp>
      <p:sp>
        <p:nvSpPr>
          <p:cNvPr id="17" name="Milestone text 2">
            <a:extLst>
              <a:ext uri="{FF2B5EF4-FFF2-40B4-BE49-F238E27FC236}">
                <a16:creationId xmlns:a16="http://schemas.microsoft.com/office/drawing/2014/main" id="{97F886C3-1F22-427C-8D4C-FDEDF0257957}"/>
              </a:ext>
            </a:extLst>
          </p:cNvPr>
          <p:cNvSpPr>
            <a:spLocks noGrp="1"/>
          </p:cNvSpPr>
          <p:nvPr/>
        </p:nvSpPr>
        <p:spPr>
          <a:xfrm>
            <a:off x="344805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reversible or behind a flag</a:t>
            </a:r>
          </a:p>
        </p:txBody>
      </p:sp>
      <p:sp>
        <p:nvSpPr>
          <p:cNvPr id="18" name="Milestone date 3">
            <a:extLst>
              <a:ext uri="{FF2B5EF4-FFF2-40B4-BE49-F238E27FC236}">
                <a16:creationId xmlns:a16="http://schemas.microsoft.com/office/drawing/2014/main" id="{0EA9BB33-C4E5-44BA-82FF-EDD992EB4EB0}"/>
              </a:ext>
            </a:extLst>
          </p:cNvPr>
          <p:cNvSpPr>
            <a:spLocks noGrp="1"/>
          </p:cNvSpPr>
          <p:nvPr/>
        </p:nvSpPr>
        <p:spPr>
          <a:xfrm>
            <a:off x="621030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DATA</a:t>
            </a:r>
          </a:p>
        </p:txBody>
      </p:sp>
      <p:sp>
        <p:nvSpPr>
          <p:cNvPr id="19" name="Milestone text 3">
            <a:extLst>
              <a:ext uri="{FF2B5EF4-FFF2-40B4-BE49-F238E27FC236}">
                <a16:creationId xmlns:a16="http://schemas.microsoft.com/office/drawing/2014/main" id="{D8E6AD0A-4D48-44DB-9DB8-06953A6A0746}"/>
              </a:ext>
            </a:extLst>
          </p:cNvPr>
          <p:cNvSpPr>
            <a:spLocks noGrp="1"/>
          </p:cNvSpPr>
          <p:nvPr/>
        </p:nvSpPr>
        <p:spPr>
          <a:xfrm>
            <a:off x="621030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compatible schema + recovery point</a:t>
            </a:r>
          </a:p>
        </p:txBody>
      </p:sp>
      <p:sp>
        <p:nvSpPr>
          <p:cNvPr id="20" name="Milestone date 4">
            <a:extLst>
              <a:ext uri="{FF2B5EF4-FFF2-40B4-BE49-F238E27FC236}">
                <a16:creationId xmlns:a16="http://schemas.microsoft.com/office/drawing/2014/main" id="{B9ACCA9A-0359-443D-8AA8-52F6BE7173B9}"/>
              </a:ext>
            </a:extLst>
          </p:cNvPr>
          <p:cNvSpPr>
            <a:spLocks noGrp="1"/>
          </p:cNvSpPr>
          <p:nvPr/>
        </p:nvSpPr>
        <p:spPr>
          <a:xfrm>
            <a:off x="8972550" y="4857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0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SIDE EFFECTS</a:t>
            </a:r>
          </a:p>
        </p:txBody>
      </p:sp>
      <p:sp>
        <p:nvSpPr>
          <p:cNvPr id="21" name="Milestone text 4">
            <a:extLst>
              <a:ext uri="{FF2B5EF4-FFF2-40B4-BE49-F238E27FC236}">
                <a16:creationId xmlns:a16="http://schemas.microsoft.com/office/drawing/2014/main" id="{38DDC977-1B75-4D62-8098-F773E1BC9221}"/>
              </a:ext>
            </a:extLst>
          </p:cNvPr>
          <p:cNvSpPr>
            <a:spLocks noGrp="1"/>
          </p:cNvSpPr>
          <p:nvPr/>
        </p:nvSpPr>
        <p:spPr>
          <a:xfrm>
            <a:off x="8972550" y="51625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76869"/>
                </a:solidFill>
                <a:latin typeface="Inter"/>
                <a:ea typeface="Inter"/>
                <a:cs typeface="Inter"/>
              </a:rPr>
              <a:t>compensate, isolate, or fail over</a:t>
            </a:r>
          </a:p>
        </p:txBody>
      </p:sp>
    </p:spTree>
    <p:extLst>
      <p:ext uri="{BB962C8B-B14F-4D97-AF65-F5344CB8AC3E}">
        <p14:creationId xmlns:p14="http://schemas.microsoft.com/office/powerpoint/2010/main" val="1620104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 10">
            <a:extLst>
              <a:ext uri="{FF2B5EF4-FFF2-40B4-BE49-F238E27FC236}">
                <a16:creationId xmlns:a16="http://schemas.microsoft.com/office/drawing/2014/main" id="{8249FA6C-A2BC-4607-A36A-F193B95458E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1E22148-C895-4D64-89D4-FBFA73DBFC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Close the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hange with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vidence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086B123C-D090-4F7B-863D-CECB566DE5A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530352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10">
            <a:extLst>
              <a:ext uri="{FF2B5EF4-FFF2-40B4-BE49-F238E27FC236}">
                <a16:creationId xmlns:a16="http://schemas.microsoft.com/office/drawing/2014/main" id="{5E374189-58B9-4265-A797-1A5C34CDDCF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10">
            <a:extLst>
              <a:ext uri="{FF2B5EF4-FFF2-40B4-BE49-F238E27FC236}">
                <a16:creationId xmlns:a16="http://schemas.microsoft.com/office/drawing/2014/main" id="{94DDE23F-B933-4617-A499-29332006FAD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10">
            <a:extLst>
              <a:ext uri="{FF2B5EF4-FFF2-40B4-BE49-F238E27FC236}">
                <a16:creationId xmlns:a16="http://schemas.microsoft.com/office/drawing/2014/main" id="{F10212AA-0140-455C-B383-662A8064BB70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21</a:t>
            </a:r>
          </a:p>
        </p:txBody>
      </p:sp>
      <p:sp>
        <p:nvSpPr>
          <p:cNvPr id="11" name="Proof verb 1">
            <a:extLst>
              <a:ext uri="{FF2B5EF4-FFF2-40B4-BE49-F238E27FC236}">
                <a16:creationId xmlns:a16="http://schemas.microsoft.com/office/drawing/2014/main" id="{A775B0C0-EA7D-4138-8B88-220FEA70853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CHANGE</a:t>
            </a:r>
          </a:p>
        </p:txBody>
      </p:sp>
      <p:sp>
        <p:nvSpPr>
          <p:cNvPr id="12" name="AI gradient rule 72-328">
            <a:extLst>
              <a:ext uri="{FF2B5EF4-FFF2-40B4-BE49-F238E27FC236}">
                <a16:creationId xmlns:a16="http://schemas.microsoft.com/office/drawing/2014/main" id="{33FE6B42-BBAB-472B-AC64-0001A3B17653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roof desc 1">
            <a:extLst>
              <a:ext uri="{FF2B5EF4-FFF2-40B4-BE49-F238E27FC236}">
                <a16:creationId xmlns:a16="http://schemas.microsoft.com/office/drawing/2014/main" id="{D71769AE-F4DE-452F-ABEE-52E0C1F7301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What changed, where, and when?</a:t>
            </a:r>
          </a:p>
        </p:txBody>
      </p:sp>
      <p:sp>
        <p:nvSpPr>
          <p:cNvPr id="14" name="Proof verb 2">
            <a:extLst>
              <a:ext uri="{FF2B5EF4-FFF2-40B4-BE49-F238E27FC236}">
                <a16:creationId xmlns:a16="http://schemas.microsoft.com/office/drawing/2014/main" id="{05A6157C-6E61-4B07-9924-293B6FDACCAF}"/>
              </a:ext>
            </a:extLst>
          </p:cNvPr>
          <p:cNvSpPr>
            <a:spLocks noGrp="1"/>
          </p:cNvSpPr>
          <p:nvPr/>
        </p:nvSpPr>
        <p:spPr>
          <a:xfrm>
            <a:off x="34671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SECURITY</a:t>
            </a:r>
          </a:p>
        </p:txBody>
      </p:sp>
      <p:sp>
        <p:nvSpPr>
          <p:cNvPr id="15" name="AI gradient rule 364-328">
            <a:extLst>
              <a:ext uri="{FF2B5EF4-FFF2-40B4-BE49-F238E27FC236}">
                <a16:creationId xmlns:a16="http://schemas.microsoft.com/office/drawing/2014/main" id="{F347030A-663B-4E98-8067-D84041E8385F}"/>
              </a:ext>
            </a:extLst>
          </p:cNvPr>
          <p:cNvSpPr>
            <a:spLocks noGrp="1"/>
          </p:cNvSpPr>
          <p:nvPr/>
        </p:nvSpPr>
        <p:spPr>
          <a:xfrm>
            <a:off x="34671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roof desc 2">
            <a:extLst>
              <a:ext uri="{FF2B5EF4-FFF2-40B4-BE49-F238E27FC236}">
                <a16:creationId xmlns:a16="http://schemas.microsoft.com/office/drawing/2014/main" id="{2D66C27B-3D63-489B-8BDF-76216D627791}"/>
              </a:ext>
            </a:extLst>
          </p:cNvPr>
          <p:cNvSpPr>
            <a:spLocks noGrp="1"/>
          </p:cNvSpPr>
          <p:nvPr/>
        </p:nvSpPr>
        <p:spPr>
          <a:xfrm>
            <a:off x="34671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Did exploit and identity signals match the plan?</a:t>
            </a:r>
          </a:p>
        </p:txBody>
      </p:sp>
      <p:sp>
        <p:nvSpPr>
          <p:cNvPr id="17" name="Proof verb 3">
            <a:extLst>
              <a:ext uri="{FF2B5EF4-FFF2-40B4-BE49-F238E27FC236}">
                <a16:creationId xmlns:a16="http://schemas.microsoft.com/office/drawing/2014/main" id="{F3D4D07F-BE89-4C18-890A-E081361ED02B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SERVICE</a:t>
            </a:r>
          </a:p>
        </p:txBody>
      </p:sp>
      <p:sp>
        <p:nvSpPr>
          <p:cNvPr id="18" name="AI gradient rule 656-328">
            <a:extLst>
              <a:ext uri="{FF2B5EF4-FFF2-40B4-BE49-F238E27FC236}">
                <a16:creationId xmlns:a16="http://schemas.microsoft.com/office/drawing/2014/main" id="{7130CC54-1330-424C-87F3-A28E152F601A}"/>
              </a:ext>
            </a:extLst>
          </p:cNvPr>
          <p:cNvSpPr>
            <a:spLocks noGrp="1"/>
          </p:cNvSpPr>
          <p:nvPr/>
        </p:nvSpPr>
        <p:spPr>
          <a:xfrm>
            <a:off x="62484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of desc 3">
            <a:extLst>
              <a:ext uri="{FF2B5EF4-FFF2-40B4-BE49-F238E27FC236}">
                <a16:creationId xmlns:a16="http://schemas.microsoft.com/office/drawing/2014/main" id="{B0AC40EC-EAB0-4211-8950-791B3D4DDBBD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Did latency, errors, and dependencies stay healthy?</a:t>
            </a:r>
          </a:p>
        </p:txBody>
      </p:sp>
      <p:sp>
        <p:nvSpPr>
          <p:cNvPr id="20" name="Proof verb 4">
            <a:extLst>
              <a:ext uri="{FF2B5EF4-FFF2-40B4-BE49-F238E27FC236}">
                <a16:creationId xmlns:a16="http://schemas.microsoft.com/office/drawing/2014/main" id="{5DA56CDE-8888-4A48-B652-17254CE26D6B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BUSINESS</a:t>
            </a:r>
          </a:p>
        </p:txBody>
      </p:sp>
      <p:sp>
        <p:nvSpPr>
          <p:cNvPr id="21" name="AI gradient rule 948-328">
            <a:extLst>
              <a:ext uri="{FF2B5EF4-FFF2-40B4-BE49-F238E27FC236}">
                <a16:creationId xmlns:a16="http://schemas.microsoft.com/office/drawing/2014/main" id="{3796C288-C094-4A3C-9A73-FED970AC385A}"/>
              </a:ext>
            </a:extLst>
          </p:cNvPr>
          <p:cNvSpPr>
            <a:spLocks noGrp="1"/>
          </p:cNvSpPr>
          <p:nvPr/>
        </p:nvSpPr>
        <p:spPr>
          <a:xfrm>
            <a:off x="90297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roof desc 4">
            <a:extLst>
              <a:ext uri="{FF2B5EF4-FFF2-40B4-BE49-F238E27FC236}">
                <a16:creationId xmlns:a16="http://schemas.microsoft.com/office/drawing/2014/main" id="{BD18DF03-CA04-4AF9-81F7-325C8A22A8EB}"/>
              </a:ext>
            </a:extLst>
          </p:cNvPr>
          <p:cNvSpPr>
            <a:spLocks noGrp="1"/>
          </p:cNvSpPr>
          <p:nvPr/>
        </p:nvSpPr>
        <p:spPr>
          <a:xfrm>
            <a:off x="90297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Did the customer or mission outcome hold?</a:t>
            </a:r>
          </a:p>
        </p:txBody>
      </p:sp>
      <p:sp>
        <p:nvSpPr>
          <p:cNvPr id="23" name="Closing quote rule">
            <a:extLst>
              <a:ext uri="{FF2B5EF4-FFF2-40B4-BE49-F238E27FC236}">
                <a16:creationId xmlns:a16="http://schemas.microsoft.com/office/drawing/2014/main" id="{2850741F-D68A-480E-B58A-05794DDA505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66675" cy="1066800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losing quote">
            <a:extLst>
              <a:ext uri="{FF2B5EF4-FFF2-40B4-BE49-F238E27FC236}">
                <a16:creationId xmlns:a16="http://schemas.microsoft.com/office/drawing/2014/main" id="{AE722875-617C-477E-8AA9-A87A00CAED85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962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85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85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What remains exposed?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CD589D-0B76-3912-DD72-5F67A6955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5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 3">
            <a:extLst>
              <a:ext uri="{FF2B5EF4-FFF2-40B4-BE49-F238E27FC236}">
                <a16:creationId xmlns:a16="http://schemas.microsoft.com/office/drawing/2014/main" id="{DD35D373-8A79-44EB-B625-A8A23E1BF6C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506CDB-4976-489D-8445-BC4A3ACC57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Measure from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Discovery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 to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ecovery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11F7E8D8-815C-4BA9-B593-A5CCBC21740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603504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3">
            <a:extLst>
              <a:ext uri="{FF2B5EF4-FFF2-40B4-BE49-F238E27FC236}">
                <a16:creationId xmlns:a16="http://schemas.microsoft.com/office/drawing/2014/main" id="{6399394E-FF73-4792-AA59-94A1CA033BCC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3">
            <a:extLst>
              <a:ext uri="{FF2B5EF4-FFF2-40B4-BE49-F238E27FC236}">
                <a16:creationId xmlns:a16="http://schemas.microsoft.com/office/drawing/2014/main" id="{6401229C-BD11-4194-AB3B-7BBA7B9196F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3">
            <a:extLst>
              <a:ext uri="{FF2B5EF4-FFF2-40B4-BE49-F238E27FC236}">
                <a16:creationId xmlns:a16="http://schemas.microsoft.com/office/drawing/2014/main" id="{57A46509-5008-4DAC-AF94-A631EDF1B44A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22</a:t>
            </a:r>
          </a:p>
        </p:txBody>
      </p:sp>
      <p:sp>
        <p:nvSpPr>
          <p:cNvPr id="10" name="Process line">
            <a:extLst>
              <a:ext uri="{FF2B5EF4-FFF2-40B4-BE49-F238E27FC236}">
                <a16:creationId xmlns:a16="http://schemas.microsoft.com/office/drawing/2014/main" id="{3CEDC550-06F4-45A9-861D-9BB8844BDEC2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10477500" cy="28575"/>
          </a:xfrm>
          <a:prstGeom prst="roundRect">
            <a:avLst>
              <a:gd name="adj" fmla="val 50000"/>
            </a:avLst>
          </a:prstGeom>
          <a:solidFill>
            <a:srgbClr val="0044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node 1">
            <a:extLst>
              <a:ext uri="{FF2B5EF4-FFF2-40B4-BE49-F238E27FC236}">
                <a16:creationId xmlns:a16="http://schemas.microsoft.com/office/drawing/2014/main" id="{942620B4-8233-4815-870B-30E85FCFC985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date 1">
            <a:extLst>
              <a:ext uri="{FF2B5EF4-FFF2-40B4-BE49-F238E27FC236}">
                <a16:creationId xmlns:a16="http://schemas.microsoft.com/office/drawing/2014/main" id="{F6FDBC9D-B8D8-4D6A-B89A-8AD12D3DA93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3" name="Step head 1">
            <a:extLst>
              <a:ext uri="{FF2B5EF4-FFF2-40B4-BE49-F238E27FC236}">
                <a16:creationId xmlns:a16="http://schemas.microsoft.com/office/drawing/2014/main" id="{251F7326-3D5C-42B9-8A59-931E8FAB81D4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Detect</a:t>
            </a:r>
          </a:p>
        </p:txBody>
      </p:sp>
      <p:sp>
        <p:nvSpPr>
          <p:cNvPr id="14" name="Step desc 1">
            <a:extLst>
              <a:ext uri="{FF2B5EF4-FFF2-40B4-BE49-F238E27FC236}">
                <a16:creationId xmlns:a16="http://schemas.microsoft.com/office/drawing/2014/main" id="{7D170694-C6E8-4D80-B40E-D6379445E0A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Discovery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 → </a:t>
            </a: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O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wner</a:t>
            </a:r>
          </a:p>
        </p:txBody>
      </p:sp>
      <p:sp>
        <p:nvSpPr>
          <p:cNvPr id="15" name="Step node 2">
            <a:extLst>
              <a:ext uri="{FF2B5EF4-FFF2-40B4-BE49-F238E27FC236}">
                <a16:creationId xmlns:a16="http://schemas.microsoft.com/office/drawing/2014/main" id="{15F4FA38-7EEC-4C84-86E8-7CA5439BDFFE}"/>
              </a:ext>
            </a:extLst>
          </p:cNvPr>
          <p:cNvSpPr>
            <a:spLocks noGrp="1"/>
          </p:cNvSpPr>
          <p:nvPr/>
        </p:nvSpPr>
        <p:spPr>
          <a:xfrm>
            <a:off x="29337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date 2">
            <a:extLst>
              <a:ext uri="{FF2B5EF4-FFF2-40B4-BE49-F238E27FC236}">
                <a16:creationId xmlns:a16="http://schemas.microsoft.com/office/drawing/2014/main" id="{011CC186-CB72-45B9-939D-7C9EC0533E0E}"/>
              </a:ext>
            </a:extLst>
          </p:cNvPr>
          <p:cNvSpPr>
            <a:spLocks noGrp="1"/>
          </p:cNvSpPr>
          <p:nvPr/>
        </p:nvSpPr>
        <p:spPr>
          <a:xfrm>
            <a:off x="28956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Step head 2">
            <a:extLst>
              <a:ext uri="{FF2B5EF4-FFF2-40B4-BE49-F238E27FC236}">
                <a16:creationId xmlns:a16="http://schemas.microsoft.com/office/drawing/2014/main" id="{957EEE9E-6378-4457-AA53-995587537568}"/>
              </a:ext>
            </a:extLst>
          </p:cNvPr>
          <p:cNvSpPr>
            <a:spLocks noGrp="1"/>
          </p:cNvSpPr>
          <p:nvPr/>
        </p:nvSpPr>
        <p:spPr>
          <a:xfrm>
            <a:off x="28956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Decide</a:t>
            </a:r>
          </a:p>
        </p:txBody>
      </p:sp>
      <p:sp>
        <p:nvSpPr>
          <p:cNvPr id="18" name="Step desc 2">
            <a:extLst>
              <a:ext uri="{FF2B5EF4-FFF2-40B4-BE49-F238E27FC236}">
                <a16:creationId xmlns:a16="http://schemas.microsoft.com/office/drawing/2014/main" id="{B65A9520-4EC6-4E1D-9241-15D73101ADA0}"/>
              </a:ext>
            </a:extLst>
          </p:cNvPr>
          <p:cNvSpPr>
            <a:spLocks noGrp="1"/>
          </p:cNvSpPr>
          <p:nvPr/>
        </p:nvSpPr>
        <p:spPr>
          <a:xfrm>
            <a:off x="28956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Owner → </a:t>
            </a: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R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esponse</a:t>
            </a:r>
          </a:p>
        </p:txBody>
      </p:sp>
      <p:sp>
        <p:nvSpPr>
          <p:cNvPr id="19" name="Step node 3">
            <a:extLst>
              <a:ext uri="{FF2B5EF4-FFF2-40B4-BE49-F238E27FC236}">
                <a16:creationId xmlns:a16="http://schemas.microsoft.com/office/drawing/2014/main" id="{171F8043-6EDF-4138-B92A-1132F30C408A}"/>
              </a:ext>
            </a:extLst>
          </p:cNvPr>
          <p:cNvSpPr>
            <a:spLocks noGrp="1"/>
          </p:cNvSpPr>
          <p:nvPr/>
        </p:nvSpPr>
        <p:spPr>
          <a:xfrm>
            <a:off x="51435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 date 3">
            <a:extLst>
              <a:ext uri="{FF2B5EF4-FFF2-40B4-BE49-F238E27FC236}">
                <a16:creationId xmlns:a16="http://schemas.microsoft.com/office/drawing/2014/main" id="{BC6B0691-AC7F-4895-B5E3-98CEC553B472}"/>
              </a:ext>
            </a:extLst>
          </p:cNvPr>
          <p:cNvSpPr>
            <a:spLocks noGrp="1"/>
          </p:cNvSpPr>
          <p:nvPr/>
        </p:nvSpPr>
        <p:spPr>
          <a:xfrm>
            <a:off x="51054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1" name="Step head 3">
            <a:extLst>
              <a:ext uri="{FF2B5EF4-FFF2-40B4-BE49-F238E27FC236}">
                <a16:creationId xmlns:a16="http://schemas.microsoft.com/office/drawing/2014/main" id="{69E4BC9A-5B31-46E4-8A3C-B326D2AB0EC0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Contain</a:t>
            </a:r>
          </a:p>
        </p:txBody>
      </p:sp>
      <p:sp>
        <p:nvSpPr>
          <p:cNvPr id="22" name="Step desc 3">
            <a:extLst>
              <a:ext uri="{FF2B5EF4-FFF2-40B4-BE49-F238E27FC236}">
                <a16:creationId xmlns:a16="http://schemas.microsoft.com/office/drawing/2014/main" id="{5D25248B-8985-4786-B3A3-01224E670186}"/>
              </a:ext>
            </a:extLst>
          </p:cNvPr>
          <p:cNvSpPr>
            <a:spLocks noGrp="1"/>
          </p:cNvSpPr>
          <p:nvPr/>
        </p:nvSpPr>
        <p:spPr>
          <a:xfrm>
            <a:off x="51054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Response → </a:t>
            </a: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L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ower </a:t>
            </a: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E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xposure</a:t>
            </a:r>
          </a:p>
        </p:txBody>
      </p:sp>
      <p:sp>
        <p:nvSpPr>
          <p:cNvPr id="23" name="Step node 4">
            <a:extLst>
              <a:ext uri="{FF2B5EF4-FFF2-40B4-BE49-F238E27FC236}">
                <a16:creationId xmlns:a16="http://schemas.microsoft.com/office/drawing/2014/main" id="{06DD33A5-425B-4FDB-A163-B8619A801B87}"/>
              </a:ext>
            </a:extLst>
          </p:cNvPr>
          <p:cNvSpPr>
            <a:spLocks noGrp="1"/>
          </p:cNvSpPr>
          <p:nvPr/>
        </p:nvSpPr>
        <p:spPr>
          <a:xfrm>
            <a:off x="73533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 date 4">
            <a:extLst>
              <a:ext uri="{FF2B5EF4-FFF2-40B4-BE49-F238E27FC236}">
                <a16:creationId xmlns:a16="http://schemas.microsoft.com/office/drawing/2014/main" id="{10E06447-AA87-44EB-91DA-C5D64EF94955}"/>
              </a:ext>
            </a:extLst>
          </p:cNvPr>
          <p:cNvSpPr>
            <a:spLocks noGrp="1"/>
          </p:cNvSpPr>
          <p:nvPr/>
        </p:nvSpPr>
        <p:spPr>
          <a:xfrm>
            <a:off x="73152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5" name="Step head 4">
            <a:extLst>
              <a:ext uri="{FF2B5EF4-FFF2-40B4-BE49-F238E27FC236}">
                <a16:creationId xmlns:a16="http://schemas.microsoft.com/office/drawing/2014/main" id="{972C2385-AD6C-440A-9BF2-B320F4456CE6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Deploy</a:t>
            </a:r>
          </a:p>
        </p:txBody>
      </p:sp>
      <p:sp>
        <p:nvSpPr>
          <p:cNvPr id="26" name="Step desc 4">
            <a:extLst>
              <a:ext uri="{FF2B5EF4-FFF2-40B4-BE49-F238E27FC236}">
                <a16:creationId xmlns:a16="http://schemas.microsoft.com/office/drawing/2014/main" id="{DF60AAEB-8953-476D-9C4C-3316CDAE0B07}"/>
              </a:ext>
            </a:extLst>
          </p:cNvPr>
          <p:cNvSpPr>
            <a:spLocks noGrp="1"/>
          </p:cNvSpPr>
          <p:nvPr/>
        </p:nvSpPr>
        <p:spPr>
          <a:xfrm>
            <a:off x="73152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Approval → </a:t>
            </a: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Verify</a:t>
            </a:r>
            <a:endParaRPr sz="1200" dirty="0">
              <a:solidFill>
                <a:srgbClr val="67686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" name="Step node 5">
            <a:extLst>
              <a:ext uri="{FF2B5EF4-FFF2-40B4-BE49-F238E27FC236}">
                <a16:creationId xmlns:a16="http://schemas.microsoft.com/office/drawing/2014/main" id="{9B0C406E-25B8-4EF8-A86D-14EE47400AB7}"/>
              </a:ext>
            </a:extLst>
          </p:cNvPr>
          <p:cNvSpPr>
            <a:spLocks noGrp="1"/>
          </p:cNvSpPr>
          <p:nvPr/>
        </p:nvSpPr>
        <p:spPr>
          <a:xfrm>
            <a:off x="9563100" y="2495550"/>
            <a:ext cx="323850" cy="323850"/>
          </a:xfrm>
          <a:prstGeom prst="ellipse">
            <a:avLst/>
          </a:prstGeom>
          <a:solidFill>
            <a:srgbClr val="E86027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ep date 5">
            <a:extLst>
              <a:ext uri="{FF2B5EF4-FFF2-40B4-BE49-F238E27FC236}">
                <a16:creationId xmlns:a16="http://schemas.microsoft.com/office/drawing/2014/main" id="{5DB32D24-96E8-45F8-AA70-72051FB4473E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29" name="Step head 5">
            <a:extLst>
              <a:ext uri="{FF2B5EF4-FFF2-40B4-BE49-F238E27FC236}">
                <a16:creationId xmlns:a16="http://schemas.microsoft.com/office/drawing/2014/main" id="{3EB2130C-D535-4215-B5B5-6E85DDB08F09}"/>
              </a:ext>
            </a:extLst>
          </p:cNvPr>
          <p:cNvSpPr>
            <a:spLocks noGrp="1"/>
          </p:cNvSpPr>
          <p:nvPr/>
        </p:nvSpPr>
        <p:spPr>
          <a:xfrm>
            <a:off x="95250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Verify &amp; </a:t>
            </a:r>
            <a:r>
              <a:rPr lang="en-US"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</a:t>
            </a:r>
            <a:r>
              <a:rPr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ecover</a:t>
            </a:r>
          </a:p>
        </p:txBody>
      </p:sp>
      <p:sp>
        <p:nvSpPr>
          <p:cNvPr id="30" name="Step desc 5">
            <a:extLst>
              <a:ext uri="{FF2B5EF4-FFF2-40B4-BE49-F238E27FC236}">
                <a16:creationId xmlns:a16="http://schemas.microsoft.com/office/drawing/2014/main" id="{8329A093-43FF-4329-AAFD-16E0DD295EDC}"/>
              </a:ext>
            </a:extLst>
          </p:cNvPr>
          <p:cNvSpPr>
            <a:spLocks noGrp="1"/>
          </p:cNvSpPr>
          <p:nvPr/>
        </p:nvSpPr>
        <p:spPr>
          <a:xfrm>
            <a:off x="95250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Verify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 → </a:t>
            </a: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C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overage and </a:t>
            </a:r>
            <a:r>
              <a:rPr lang="en-US"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H</a:t>
            </a:r>
            <a:r>
              <a:rPr sz="120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ealth</a:t>
            </a:r>
          </a:p>
        </p:txBody>
      </p:sp>
      <p:sp>
        <p:nvSpPr>
          <p:cNvPr id="31" name="Timeline lesson">
            <a:extLst>
              <a:ext uri="{FF2B5EF4-FFF2-40B4-BE49-F238E27FC236}">
                <a16:creationId xmlns:a16="http://schemas.microsoft.com/office/drawing/2014/main" id="{42A2ED21-7077-4917-A81B-5AD333391B8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33350" tIns="0" rIns="0" bIns="0" anchor="ctr">
            <a:noAutofit/>
          </a:bodyPr>
          <a:lstStyle/>
          <a:p>
            <a:pPr algn="l">
              <a:buNone/>
              <a:defRPr sz="1950">
                <a:solidFill>
                  <a:srgbClr val="00446F"/>
                </a:solidFill>
                <a:latin typeface="Optima"/>
                <a:ea typeface="Optima"/>
                <a:cs typeface="Optima"/>
              </a:defRPr>
            </a:pPr>
            <a:r>
              <a:rPr sz="1950">
                <a:solidFill>
                  <a:srgbClr val="00446F"/>
                </a:solidFill>
                <a:latin typeface="Optima"/>
                <a:ea typeface="Optima"/>
                <a:cs typeface="Optima"/>
              </a:rPr>
              <a:t>Track percentiles. Averages hide delay.</a:t>
            </a:r>
          </a:p>
        </p:txBody>
      </p:sp>
      <p:sp>
        <p:nvSpPr>
          <p:cNvPr id="32" name="Lesson accent">
            <a:extLst>
              <a:ext uri="{FF2B5EF4-FFF2-40B4-BE49-F238E27FC236}">
                <a16:creationId xmlns:a16="http://schemas.microsoft.com/office/drawing/2014/main" id="{2068FAC1-7448-4377-A302-062AB48DC24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47625" cy="714375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yebrow 9">
            <a:extLst>
              <a:ext uri="{FF2B5EF4-FFF2-40B4-BE49-F238E27FC236}">
                <a16:creationId xmlns:a16="http://schemas.microsoft.com/office/drawing/2014/main" id="{F0C40A05-7E47-4B18-9D2D-AF262E45283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8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9">
            <a:extLst>
              <a:ext uri="{FF2B5EF4-FFF2-40B4-BE49-F238E27FC236}">
                <a16:creationId xmlns:a16="http://schemas.microsoft.com/office/drawing/2014/main" id="{F5B4AB32-7ACC-4447-A913-483EAC01BA2C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Name 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wner of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ach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D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ecision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7256E6D2-ED2D-4295-B074-95EC2223CA74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576072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9">
            <a:extLst>
              <a:ext uri="{FF2B5EF4-FFF2-40B4-BE49-F238E27FC236}">
                <a16:creationId xmlns:a16="http://schemas.microsoft.com/office/drawing/2014/main" id="{A5615038-A2A4-49A3-8891-78CCA8054BA8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9">
            <a:extLst>
              <a:ext uri="{FF2B5EF4-FFF2-40B4-BE49-F238E27FC236}">
                <a16:creationId xmlns:a16="http://schemas.microsoft.com/office/drawing/2014/main" id="{92DF811F-C8C6-4A73-A9A9-7644830B63E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9">
            <a:extLst>
              <a:ext uri="{FF2B5EF4-FFF2-40B4-BE49-F238E27FC236}">
                <a16:creationId xmlns:a16="http://schemas.microsoft.com/office/drawing/2014/main" id="{EF2F7BD4-83E5-4B4A-B73B-CA3586CAA375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23</a:t>
            </a:r>
          </a:p>
        </p:txBody>
      </p:sp>
      <p:sp>
        <p:nvSpPr>
          <p:cNvPr id="10" name="Design intent qualifier">
            <a:extLst>
              <a:ext uri="{FF2B5EF4-FFF2-40B4-BE49-F238E27FC236}">
                <a16:creationId xmlns:a16="http://schemas.microsoft.com/office/drawing/2014/main" id="{803A04D4-4A4B-4B2D-8C75-21C71D23B99D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i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 i="1">
                <a:solidFill>
                  <a:srgbClr val="676869"/>
                </a:solidFill>
                <a:latin typeface="Inter"/>
                <a:ea typeface="Inter"/>
                <a:cs typeface="Inter"/>
              </a:rPr>
              <a:t>The incident commander coordinates the work. Each role owns its decision.</a:t>
            </a:r>
          </a:p>
        </p:txBody>
      </p:sp>
      <p:sp>
        <p:nvSpPr>
          <p:cNvPr id="11" name="Mapping num 1">
            <a:extLst>
              <a:ext uri="{FF2B5EF4-FFF2-40B4-BE49-F238E27FC236}">
                <a16:creationId xmlns:a16="http://schemas.microsoft.com/office/drawing/2014/main" id="{501A61B0-E4AC-4D1E-9460-D1A4B21CBABF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2" name="Mapping failure 1">
            <a:extLst>
              <a:ext uri="{FF2B5EF4-FFF2-40B4-BE49-F238E27FC236}">
                <a16:creationId xmlns:a16="http://schemas.microsoft.com/office/drawing/2014/main" id="{22D732FA-4C71-4260-9F14-9300E00593AA}"/>
              </a:ext>
            </a:extLst>
          </p:cNvPr>
          <p:cNvSpPr>
            <a:spLocks noGrp="1"/>
          </p:cNvSpPr>
          <p:nvPr/>
        </p:nvSpPr>
        <p:spPr>
          <a:xfrm>
            <a:off x="1333500" y="24765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Service owner</a:t>
            </a:r>
          </a:p>
        </p:txBody>
      </p:sp>
      <p:sp>
        <p:nvSpPr>
          <p:cNvPr id="13" name="Mapping arrow 1">
            <a:extLst>
              <a:ext uri="{FF2B5EF4-FFF2-40B4-BE49-F238E27FC236}">
                <a16:creationId xmlns:a16="http://schemas.microsoft.com/office/drawing/2014/main" id="{C3ECD60A-9D8D-4D32-9A59-C4A11062A610}"/>
              </a:ext>
            </a:extLst>
          </p:cNvPr>
          <p:cNvSpPr>
            <a:spLocks noGrp="1"/>
          </p:cNvSpPr>
          <p:nvPr/>
        </p:nvSpPr>
        <p:spPr>
          <a:xfrm>
            <a:off x="5581650" y="24765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4" name="Mapping response 1">
            <a:extLst>
              <a:ext uri="{FF2B5EF4-FFF2-40B4-BE49-F238E27FC236}">
                <a16:creationId xmlns:a16="http://schemas.microsoft.com/office/drawing/2014/main" id="{1D10A7AB-9467-4CA1-9294-2BEE4E1814C9}"/>
              </a:ext>
            </a:extLst>
          </p:cNvPr>
          <p:cNvSpPr>
            <a:spLocks noGrp="1"/>
          </p:cNvSpPr>
          <p:nvPr/>
        </p:nvSpPr>
        <p:spPr>
          <a:xfrm>
            <a:off x="6267450" y="24765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Outcome, risk, priority</a:t>
            </a:r>
          </a:p>
        </p:txBody>
      </p:sp>
      <p:sp>
        <p:nvSpPr>
          <p:cNvPr id="15" name="Mapping rule 1">
            <a:extLst>
              <a:ext uri="{FF2B5EF4-FFF2-40B4-BE49-F238E27FC236}">
                <a16:creationId xmlns:a16="http://schemas.microsoft.com/office/drawing/2014/main" id="{CCF4BDAD-527F-40E3-BE08-7D115059D8C1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apping num 2">
            <a:extLst>
              <a:ext uri="{FF2B5EF4-FFF2-40B4-BE49-F238E27FC236}">
                <a16:creationId xmlns:a16="http://schemas.microsoft.com/office/drawing/2014/main" id="{DE8ACA02-0129-4087-AA6E-0495856A9A5B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Mapping failure 2">
            <a:extLst>
              <a:ext uri="{FF2B5EF4-FFF2-40B4-BE49-F238E27FC236}">
                <a16:creationId xmlns:a16="http://schemas.microsoft.com/office/drawing/2014/main" id="{A935E96F-AB8A-4369-BFAF-4F34A97B10AE}"/>
              </a:ext>
            </a:extLst>
          </p:cNvPr>
          <p:cNvSpPr>
            <a:spLocks noGrp="1"/>
          </p:cNvSpPr>
          <p:nvPr/>
        </p:nvSpPr>
        <p:spPr>
          <a:xfrm>
            <a:off x="1333500" y="32004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Platform engineering</a:t>
            </a:r>
          </a:p>
        </p:txBody>
      </p:sp>
      <p:sp>
        <p:nvSpPr>
          <p:cNvPr id="18" name="Mapping arrow 2">
            <a:extLst>
              <a:ext uri="{FF2B5EF4-FFF2-40B4-BE49-F238E27FC236}">
                <a16:creationId xmlns:a16="http://schemas.microsoft.com/office/drawing/2014/main" id="{A5E6EBC3-5E38-4DB2-AE8B-2DE8564C60CE}"/>
              </a:ext>
            </a:extLst>
          </p:cNvPr>
          <p:cNvSpPr>
            <a:spLocks noGrp="1"/>
          </p:cNvSpPr>
          <p:nvPr/>
        </p:nvSpPr>
        <p:spPr>
          <a:xfrm>
            <a:off x="5581650" y="32004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9" name="Mapping response 2">
            <a:extLst>
              <a:ext uri="{FF2B5EF4-FFF2-40B4-BE49-F238E27FC236}">
                <a16:creationId xmlns:a16="http://schemas.microsoft.com/office/drawing/2014/main" id="{2BF83328-B59B-4C75-BBC2-606CFA5410E3}"/>
              </a:ext>
            </a:extLst>
          </p:cNvPr>
          <p:cNvSpPr>
            <a:spLocks noGrp="1"/>
          </p:cNvSpPr>
          <p:nvPr/>
        </p:nvSpPr>
        <p:spPr>
          <a:xfrm>
            <a:off x="6267450" y="32004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Pipeline and runtime</a:t>
            </a:r>
          </a:p>
        </p:txBody>
      </p:sp>
      <p:sp>
        <p:nvSpPr>
          <p:cNvPr id="20" name="Mapping rule 2">
            <a:extLst>
              <a:ext uri="{FF2B5EF4-FFF2-40B4-BE49-F238E27FC236}">
                <a16:creationId xmlns:a16="http://schemas.microsoft.com/office/drawing/2014/main" id="{BC76816A-9650-4A7E-A063-36D05ED5C23E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Mapping num 3">
            <a:extLst>
              <a:ext uri="{FF2B5EF4-FFF2-40B4-BE49-F238E27FC236}">
                <a16:creationId xmlns:a16="http://schemas.microsoft.com/office/drawing/2014/main" id="{2DEB4A60-721F-4DC4-B9A8-1CD2C0DB093F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2" name="Mapping failure 3">
            <a:extLst>
              <a:ext uri="{FF2B5EF4-FFF2-40B4-BE49-F238E27FC236}">
                <a16:creationId xmlns:a16="http://schemas.microsoft.com/office/drawing/2014/main" id="{BC94F08F-3F8A-4B06-9D88-3BDDC4315EB2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Security</a:t>
            </a:r>
          </a:p>
        </p:txBody>
      </p:sp>
      <p:sp>
        <p:nvSpPr>
          <p:cNvPr id="23" name="Mapping arrow 3">
            <a:extLst>
              <a:ext uri="{FF2B5EF4-FFF2-40B4-BE49-F238E27FC236}">
                <a16:creationId xmlns:a16="http://schemas.microsoft.com/office/drawing/2014/main" id="{6F486987-E85A-49C8-B4D2-8704BD237B68}"/>
              </a:ext>
            </a:extLst>
          </p:cNvPr>
          <p:cNvSpPr>
            <a:spLocks noGrp="1"/>
          </p:cNvSpPr>
          <p:nvPr/>
        </p:nvSpPr>
        <p:spPr>
          <a:xfrm>
            <a:off x="5581650" y="39243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4" name="Mapping response 3">
            <a:extLst>
              <a:ext uri="{FF2B5EF4-FFF2-40B4-BE49-F238E27FC236}">
                <a16:creationId xmlns:a16="http://schemas.microsoft.com/office/drawing/2014/main" id="{C3295158-A20A-47E7-80ED-367545559C8C}"/>
              </a:ext>
            </a:extLst>
          </p:cNvPr>
          <p:cNvSpPr>
            <a:spLocks noGrp="1"/>
          </p:cNvSpPr>
          <p:nvPr/>
        </p:nvSpPr>
        <p:spPr>
          <a:xfrm>
            <a:off x="6267450" y="39243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Threat, containment, verification</a:t>
            </a:r>
          </a:p>
        </p:txBody>
      </p:sp>
      <p:sp>
        <p:nvSpPr>
          <p:cNvPr id="25" name="Mapping rule 3">
            <a:extLst>
              <a:ext uri="{FF2B5EF4-FFF2-40B4-BE49-F238E27FC236}">
                <a16:creationId xmlns:a16="http://schemas.microsoft.com/office/drawing/2014/main" id="{DD74DCF2-FEDF-4EA2-AECB-B15F4D71A9A7}"/>
              </a:ext>
            </a:extLst>
          </p:cNvPr>
          <p:cNvSpPr>
            <a:spLocks noGrp="1"/>
          </p:cNvSpPr>
          <p:nvPr/>
        </p:nvSpPr>
        <p:spPr>
          <a:xfrm>
            <a:off x="685800" y="44672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Mapping num 4">
            <a:extLst>
              <a:ext uri="{FF2B5EF4-FFF2-40B4-BE49-F238E27FC236}">
                <a16:creationId xmlns:a16="http://schemas.microsoft.com/office/drawing/2014/main" id="{44953651-6D94-45F4-9D95-2E06168307F7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7" name="Mapping failure 4">
            <a:extLst>
              <a:ext uri="{FF2B5EF4-FFF2-40B4-BE49-F238E27FC236}">
                <a16:creationId xmlns:a16="http://schemas.microsoft.com/office/drawing/2014/main" id="{BD905A1B-C427-4E41-BB29-03C9B012B8D3}"/>
              </a:ext>
            </a:extLst>
          </p:cNvPr>
          <p:cNvSpPr>
            <a:spLocks noGrp="1"/>
          </p:cNvSpPr>
          <p:nvPr/>
        </p:nvSpPr>
        <p:spPr>
          <a:xfrm>
            <a:off x="1333500" y="46482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SRE or operations</a:t>
            </a:r>
          </a:p>
        </p:txBody>
      </p:sp>
      <p:sp>
        <p:nvSpPr>
          <p:cNvPr id="28" name="Mapping arrow 4">
            <a:extLst>
              <a:ext uri="{FF2B5EF4-FFF2-40B4-BE49-F238E27FC236}">
                <a16:creationId xmlns:a16="http://schemas.microsoft.com/office/drawing/2014/main" id="{EA3D3D19-404D-4DF9-B271-602C86A70BAE}"/>
              </a:ext>
            </a:extLst>
          </p:cNvPr>
          <p:cNvSpPr>
            <a:spLocks noGrp="1"/>
          </p:cNvSpPr>
          <p:nvPr/>
        </p:nvSpPr>
        <p:spPr>
          <a:xfrm>
            <a:off x="5581650" y="46482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E86027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E86027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9" name="Mapping response 4">
            <a:extLst>
              <a:ext uri="{FF2B5EF4-FFF2-40B4-BE49-F238E27FC236}">
                <a16:creationId xmlns:a16="http://schemas.microsoft.com/office/drawing/2014/main" id="{1B761B6D-A137-492D-BBED-97BB563D9663}"/>
              </a:ext>
            </a:extLst>
          </p:cNvPr>
          <p:cNvSpPr>
            <a:spLocks noGrp="1"/>
          </p:cNvSpPr>
          <p:nvPr/>
        </p:nvSpPr>
        <p:spPr>
          <a:xfrm>
            <a:off x="6267450" y="46482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Health, deployment, recovery</a:t>
            </a:r>
          </a:p>
        </p:txBody>
      </p:sp>
      <p:sp>
        <p:nvSpPr>
          <p:cNvPr id="30" name="Mapping rule 4">
            <a:extLst>
              <a:ext uri="{FF2B5EF4-FFF2-40B4-BE49-F238E27FC236}">
                <a16:creationId xmlns:a16="http://schemas.microsoft.com/office/drawing/2014/main" id="{73A6CB6A-2A0A-405A-9E50-03F150F29A94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Mapping num 5">
            <a:extLst>
              <a:ext uri="{FF2B5EF4-FFF2-40B4-BE49-F238E27FC236}">
                <a16:creationId xmlns:a16="http://schemas.microsoft.com/office/drawing/2014/main" id="{697AF490-CB85-4969-9EAA-AB3D5D9644D6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32" name="Mapping failure 5">
            <a:extLst>
              <a:ext uri="{FF2B5EF4-FFF2-40B4-BE49-F238E27FC236}">
                <a16:creationId xmlns:a16="http://schemas.microsoft.com/office/drawing/2014/main" id="{251EA5C7-89E2-4079-9A3E-76E8904B7AD6}"/>
              </a:ext>
            </a:extLst>
          </p:cNvPr>
          <p:cNvSpPr>
            <a:spLocks noGrp="1"/>
          </p:cNvSpPr>
          <p:nvPr/>
        </p:nvSpPr>
        <p:spPr>
          <a:xfrm>
            <a:off x="1333500" y="53721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Risk / safety / legal / vendor</a:t>
            </a:r>
          </a:p>
        </p:txBody>
      </p:sp>
      <p:sp>
        <p:nvSpPr>
          <p:cNvPr id="33" name="Mapping arrow 5">
            <a:extLst>
              <a:ext uri="{FF2B5EF4-FFF2-40B4-BE49-F238E27FC236}">
                <a16:creationId xmlns:a16="http://schemas.microsoft.com/office/drawing/2014/main" id="{3BC2A1EF-F0F3-4942-A57D-9293568C8814}"/>
              </a:ext>
            </a:extLst>
          </p:cNvPr>
          <p:cNvSpPr>
            <a:spLocks noGrp="1"/>
          </p:cNvSpPr>
          <p:nvPr/>
        </p:nvSpPr>
        <p:spPr>
          <a:xfrm>
            <a:off x="5581650" y="53721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4" name="Mapping response 5">
            <a:extLst>
              <a:ext uri="{FF2B5EF4-FFF2-40B4-BE49-F238E27FC236}">
                <a16:creationId xmlns:a16="http://schemas.microsoft.com/office/drawing/2014/main" id="{42FA6391-AB34-4E7F-805B-41714EA81C33}"/>
              </a:ext>
            </a:extLst>
          </p:cNvPr>
          <p:cNvSpPr>
            <a:spLocks noGrp="1"/>
          </p:cNvSpPr>
          <p:nvPr/>
        </p:nvSpPr>
        <p:spPr>
          <a:xfrm>
            <a:off x="6267450" y="53721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6869"/>
                </a:solidFill>
                <a:latin typeface="Inter"/>
                <a:ea typeface="Inter"/>
                <a:cs typeface="Inter"/>
              </a:rPr>
              <a:t>Exceptions and external decisions</a:t>
            </a:r>
          </a:p>
        </p:txBody>
      </p:sp>
    </p:spTree>
    <p:extLst>
      <p:ext uri="{BB962C8B-B14F-4D97-AF65-F5344CB8AC3E}">
        <p14:creationId xmlns:p14="http://schemas.microsoft.com/office/powerpoint/2010/main" val="808795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yebrow 9">
            <a:extLst>
              <a:ext uri="{FF2B5EF4-FFF2-40B4-BE49-F238E27FC236}">
                <a16:creationId xmlns:a16="http://schemas.microsoft.com/office/drawing/2014/main" id="{F0C40A05-7E47-4B18-9D2D-AF262E45283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8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9">
            <a:extLst>
              <a:ext uri="{FF2B5EF4-FFF2-40B4-BE49-F238E27FC236}">
                <a16:creationId xmlns:a16="http://schemas.microsoft.com/office/drawing/2014/main" id="{F5B4AB32-7ACC-4447-A913-483EAC01BA2C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tructure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aps to the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F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ailure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odes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7256E6D2-ED2D-4295-B074-95EC2223CA74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658368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9">
            <a:extLst>
              <a:ext uri="{FF2B5EF4-FFF2-40B4-BE49-F238E27FC236}">
                <a16:creationId xmlns:a16="http://schemas.microsoft.com/office/drawing/2014/main" id="{A5615038-A2A4-49A3-8891-78CCA8054BA8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9">
            <a:extLst>
              <a:ext uri="{FF2B5EF4-FFF2-40B4-BE49-F238E27FC236}">
                <a16:creationId xmlns:a16="http://schemas.microsoft.com/office/drawing/2014/main" id="{92DF811F-C8C6-4A73-A9A9-7644830B63E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9">
            <a:extLst>
              <a:ext uri="{FF2B5EF4-FFF2-40B4-BE49-F238E27FC236}">
                <a16:creationId xmlns:a16="http://schemas.microsoft.com/office/drawing/2014/main" id="{EF2F7BD4-83E5-4B4A-B73B-CA3586CAA375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25</a:t>
            </a:r>
          </a:p>
        </p:txBody>
      </p:sp>
      <p:sp>
        <p:nvSpPr>
          <p:cNvPr id="10" name="Design intent qualifier">
            <a:extLst>
              <a:ext uri="{FF2B5EF4-FFF2-40B4-BE49-F238E27FC236}">
                <a16:creationId xmlns:a16="http://schemas.microsoft.com/office/drawing/2014/main" id="{803A04D4-4A4B-4B2D-8C75-21C71D23B99D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i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125" i="1">
                <a:solidFill>
                  <a:srgbClr val="676869"/>
                </a:solidFill>
                <a:latin typeface="Inter"/>
                <a:ea typeface="Inter"/>
                <a:cs typeface="Inter"/>
              </a:rPr>
              <a:t>Inferred design intent. Delivery still needs evidence.</a:t>
            </a:r>
          </a:p>
        </p:txBody>
      </p:sp>
      <p:sp>
        <p:nvSpPr>
          <p:cNvPr id="11" name="Mapping num 1">
            <a:extLst>
              <a:ext uri="{FF2B5EF4-FFF2-40B4-BE49-F238E27FC236}">
                <a16:creationId xmlns:a16="http://schemas.microsoft.com/office/drawing/2014/main" id="{501A61B0-E4AC-4D1E-9460-D1A4B21CBABF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2" name="Mapping failure 1">
            <a:extLst>
              <a:ext uri="{FF2B5EF4-FFF2-40B4-BE49-F238E27FC236}">
                <a16:creationId xmlns:a16="http://schemas.microsoft.com/office/drawing/2014/main" id="{22D732FA-4C71-4260-9F14-9300E00593AA}"/>
              </a:ext>
            </a:extLst>
          </p:cNvPr>
          <p:cNvSpPr>
            <a:spLocks noGrp="1"/>
          </p:cNvSpPr>
          <p:nvPr/>
        </p:nvSpPr>
        <p:spPr>
          <a:xfrm>
            <a:off x="1333500" y="24765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Fragmented ownership</a:t>
            </a:r>
          </a:p>
        </p:txBody>
      </p:sp>
      <p:sp>
        <p:nvSpPr>
          <p:cNvPr id="13" name="Mapping arrow 1">
            <a:extLst>
              <a:ext uri="{FF2B5EF4-FFF2-40B4-BE49-F238E27FC236}">
                <a16:creationId xmlns:a16="http://schemas.microsoft.com/office/drawing/2014/main" id="{C3ECD60A-9D8D-4D32-9A59-C4A11062A610}"/>
              </a:ext>
            </a:extLst>
          </p:cNvPr>
          <p:cNvSpPr>
            <a:spLocks noGrp="1"/>
          </p:cNvSpPr>
          <p:nvPr/>
        </p:nvSpPr>
        <p:spPr>
          <a:xfrm>
            <a:off x="5581650" y="24765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4" name="Mapping response 1">
            <a:extLst>
              <a:ext uri="{FF2B5EF4-FFF2-40B4-BE49-F238E27FC236}">
                <a16:creationId xmlns:a16="http://schemas.microsoft.com/office/drawing/2014/main" id="{1D10A7AB-9467-4CA1-9294-2BEE4E1814C9}"/>
              </a:ext>
            </a:extLst>
          </p:cNvPr>
          <p:cNvSpPr>
            <a:spLocks noGrp="1"/>
          </p:cNvSpPr>
          <p:nvPr/>
        </p:nvSpPr>
        <p:spPr>
          <a:xfrm>
            <a:off x="6267450" y="24765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Program </a:t>
            </a:r>
            <a:r>
              <a:rPr lang="en-US"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G</a:t>
            </a: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overnance +</a:t>
            </a:r>
            <a:r>
              <a:rPr lang="en-US"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 A</a:t>
            </a: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ccountability</a:t>
            </a:r>
          </a:p>
        </p:txBody>
      </p:sp>
      <p:sp>
        <p:nvSpPr>
          <p:cNvPr id="15" name="Mapping rule 1">
            <a:extLst>
              <a:ext uri="{FF2B5EF4-FFF2-40B4-BE49-F238E27FC236}">
                <a16:creationId xmlns:a16="http://schemas.microsoft.com/office/drawing/2014/main" id="{CCF4BDAD-527F-40E3-BE08-7D115059D8C1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apping num 2">
            <a:extLst>
              <a:ext uri="{FF2B5EF4-FFF2-40B4-BE49-F238E27FC236}">
                <a16:creationId xmlns:a16="http://schemas.microsoft.com/office/drawing/2014/main" id="{DE8ACA02-0129-4087-AA6E-0495856A9A5B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Mapping failure 2">
            <a:extLst>
              <a:ext uri="{FF2B5EF4-FFF2-40B4-BE49-F238E27FC236}">
                <a16:creationId xmlns:a16="http://schemas.microsoft.com/office/drawing/2014/main" id="{A935E96F-AB8A-4369-BFAF-4F34A97B10AE}"/>
              </a:ext>
            </a:extLst>
          </p:cNvPr>
          <p:cNvSpPr>
            <a:spLocks noGrp="1"/>
          </p:cNvSpPr>
          <p:nvPr/>
        </p:nvSpPr>
        <p:spPr>
          <a:xfrm>
            <a:off x="1333500" y="32004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Unknown provenance</a:t>
            </a:r>
          </a:p>
        </p:txBody>
      </p:sp>
      <p:sp>
        <p:nvSpPr>
          <p:cNvPr id="18" name="Mapping arrow 2">
            <a:extLst>
              <a:ext uri="{FF2B5EF4-FFF2-40B4-BE49-F238E27FC236}">
                <a16:creationId xmlns:a16="http://schemas.microsoft.com/office/drawing/2014/main" id="{A5E6EBC3-5E38-4DB2-AE8B-2DE8564C60CE}"/>
              </a:ext>
            </a:extLst>
          </p:cNvPr>
          <p:cNvSpPr>
            <a:spLocks noGrp="1"/>
          </p:cNvSpPr>
          <p:nvPr/>
        </p:nvSpPr>
        <p:spPr>
          <a:xfrm>
            <a:off x="5581650" y="32004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9" name="Mapping response 2">
            <a:extLst>
              <a:ext uri="{FF2B5EF4-FFF2-40B4-BE49-F238E27FC236}">
                <a16:creationId xmlns:a16="http://schemas.microsoft.com/office/drawing/2014/main" id="{2BF83328-B59B-4C75-BBC2-606CFA5410E3}"/>
              </a:ext>
            </a:extLst>
          </p:cNvPr>
          <p:cNvSpPr>
            <a:spLocks noGrp="1"/>
          </p:cNvSpPr>
          <p:nvPr/>
        </p:nvSpPr>
        <p:spPr>
          <a:xfrm>
            <a:off x="6267450" y="32004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Provenance</a:t>
            </a:r>
          </a:p>
        </p:txBody>
      </p:sp>
      <p:sp>
        <p:nvSpPr>
          <p:cNvPr id="20" name="Mapping rule 2">
            <a:extLst>
              <a:ext uri="{FF2B5EF4-FFF2-40B4-BE49-F238E27FC236}">
                <a16:creationId xmlns:a16="http://schemas.microsoft.com/office/drawing/2014/main" id="{BC76816A-9650-4A7E-A063-36D05ED5C23E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Mapping num 3">
            <a:extLst>
              <a:ext uri="{FF2B5EF4-FFF2-40B4-BE49-F238E27FC236}">
                <a16:creationId xmlns:a16="http://schemas.microsoft.com/office/drawing/2014/main" id="{2DEB4A60-721F-4DC4-B9A8-1CD2C0DB093F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2" name="Mapping failure 3">
            <a:extLst>
              <a:ext uri="{FF2B5EF4-FFF2-40B4-BE49-F238E27FC236}">
                <a16:creationId xmlns:a16="http://schemas.microsoft.com/office/drawing/2014/main" id="{BC94F08F-3F8A-4B06-9D88-3BDDC4315EB2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Ungoverned agent action</a:t>
            </a:r>
          </a:p>
        </p:txBody>
      </p:sp>
      <p:sp>
        <p:nvSpPr>
          <p:cNvPr id="23" name="Mapping arrow 3">
            <a:extLst>
              <a:ext uri="{FF2B5EF4-FFF2-40B4-BE49-F238E27FC236}">
                <a16:creationId xmlns:a16="http://schemas.microsoft.com/office/drawing/2014/main" id="{6F486987-E85A-49C8-B4D2-8704BD237B68}"/>
              </a:ext>
            </a:extLst>
          </p:cNvPr>
          <p:cNvSpPr>
            <a:spLocks noGrp="1"/>
          </p:cNvSpPr>
          <p:nvPr/>
        </p:nvSpPr>
        <p:spPr>
          <a:xfrm>
            <a:off x="5581650" y="39243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4" name="Mapping response 3">
            <a:extLst>
              <a:ext uri="{FF2B5EF4-FFF2-40B4-BE49-F238E27FC236}">
                <a16:creationId xmlns:a16="http://schemas.microsoft.com/office/drawing/2014/main" id="{C3295158-A20A-47E7-80ED-367545559C8C}"/>
              </a:ext>
            </a:extLst>
          </p:cNvPr>
          <p:cNvSpPr>
            <a:spLocks noGrp="1"/>
          </p:cNvSpPr>
          <p:nvPr/>
        </p:nvSpPr>
        <p:spPr>
          <a:xfrm>
            <a:off x="6267450" y="39243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lang="en-US"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D</a:t>
            </a: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elivery + agent harness</a:t>
            </a:r>
          </a:p>
        </p:txBody>
      </p:sp>
      <p:sp>
        <p:nvSpPr>
          <p:cNvPr id="25" name="Mapping rule 3">
            <a:extLst>
              <a:ext uri="{FF2B5EF4-FFF2-40B4-BE49-F238E27FC236}">
                <a16:creationId xmlns:a16="http://schemas.microsoft.com/office/drawing/2014/main" id="{DD74DCF2-FEDF-4EA2-AECB-B15F4D71A9A7}"/>
              </a:ext>
            </a:extLst>
          </p:cNvPr>
          <p:cNvSpPr>
            <a:spLocks noGrp="1"/>
          </p:cNvSpPr>
          <p:nvPr/>
        </p:nvSpPr>
        <p:spPr>
          <a:xfrm>
            <a:off x="685800" y="44672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Mapping num 4">
            <a:extLst>
              <a:ext uri="{FF2B5EF4-FFF2-40B4-BE49-F238E27FC236}">
                <a16:creationId xmlns:a16="http://schemas.microsoft.com/office/drawing/2014/main" id="{44953651-6D94-45F4-9D95-2E06168307F7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7" name="Mapping failure 4">
            <a:extLst>
              <a:ext uri="{FF2B5EF4-FFF2-40B4-BE49-F238E27FC236}">
                <a16:creationId xmlns:a16="http://schemas.microsoft.com/office/drawing/2014/main" id="{BD905A1B-C427-4E41-BB29-03C9B012B8D3}"/>
              </a:ext>
            </a:extLst>
          </p:cNvPr>
          <p:cNvSpPr>
            <a:spLocks noGrp="1"/>
          </p:cNvSpPr>
          <p:nvPr/>
        </p:nvSpPr>
        <p:spPr>
          <a:xfrm>
            <a:off x="1333500" y="46482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Speed without assurance</a:t>
            </a:r>
          </a:p>
        </p:txBody>
      </p:sp>
      <p:sp>
        <p:nvSpPr>
          <p:cNvPr id="28" name="Mapping arrow 4">
            <a:extLst>
              <a:ext uri="{FF2B5EF4-FFF2-40B4-BE49-F238E27FC236}">
                <a16:creationId xmlns:a16="http://schemas.microsoft.com/office/drawing/2014/main" id="{EA3D3D19-404D-4DF9-B271-602C86A70BAE}"/>
              </a:ext>
            </a:extLst>
          </p:cNvPr>
          <p:cNvSpPr>
            <a:spLocks noGrp="1"/>
          </p:cNvSpPr>
          <p:nvPr/>
        </p:nvSpPr>
        <p:spPr>
          <a:xfrm>
            <a:off x="5581650" y="46482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E86027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E86027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9" name="Mapping response 4">
            <a:extLst>
              <a:ext uri="{FF2B5EF4-FFF2-40B4-BE49-F238E27FC236}">
                <a16:creationId xmlns:a16="http://schemas.microsoft.com/office/drawing/2014/main" id="{1B761B6D-A137-492D-BBED-97BB563D9663}"/>
              </a:ext>
            </a:extLst>
          </p:cNvPr>
          <p:cNvSpPr>
            <a:spLocks noGrp="1"/>
          </p:cNvSpPr>
          <p:nvPr/>
        </p:nvSpPr>
        <p:spPr>
          <a:xfrm>
            <a:off x="6267450" y="46482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lang="en-US"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S</a:t>
            </a: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ecurity + test harnesses</a:t>
            </a:r>
          </a:p>
        </p:txBody>
      </p:sp>
      <p:sp>
        <p:nvSpPr>
          <p:cNvPr id="30" name="Mapping rule 4">
            <a:extLst>
              <a:ext uri="{FF2B5EF4-FFF2-40B4-BE49-F238E27FC236}">
                <a16:creationId xmlns:a16="http://schemas.microsoft.com/office/drawing/2014/main" id="{73A6CB6A-2A0A-405A-9E50-03F150F29A94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1053465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Mapping num 5">
            <a:extLst>
              <a:ext uri="{FF2B5EF4-FFF2-40B4-BE49-F238E27FC236}">
                <a16:creationId xmlns:a16="http://schemas.microsoft.com/office/drawing/2014/main" id="{697AF490-CB85-4969-9EAA-AB3D5D9644D6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1050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32" name="Mapping failure 5">
            <a:extLst>
              <a:ext uri="{FF2B5EF4-FFF2-40B4-BE49-F238E27FC236}">
                <a16:creationId xmlns:a16="http://schemas.microsoft.com/office/drawing/2014/main" id="{251EA5C7-89E2-4079-9A3E-76E8904B7AD6}"/>
              </a:ext>
            </a:extLst>
          </p:cNvPr>
          <p:cNvSpPr>
            <a:spLocks noGrp="1"/>
          </p:cNvSpPr>
          <p:nvPr/>
        </p:nvSpPr>
        <p:spPr>
          <a:xfrm>
            <a:off x="1333500" y="53721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575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Fragile runtime</a:t>
            </a:r>
          </a:p>
        </p:txBody>
      </p:sp>
      <p:sp>
        <p:nvSpPr>
          <p:cNvPr id="33" name="Mapping arrow 5">
            <a:extLst>
              <a:ext uri="{FF2B5EF4-FFF2-40B4-BE49-F238E27FC236}">
                <a16:creationId xmlns:a16="http://schemas.microsoft.com/office/drawing/2014/main" id="{3BC2A1EF-F0F3-4942-A57D-9293568C8814}"/>
              </a:ext>
            </a:extLst>
          </p:cNvPr>
          <p:cNvSpPr>
            <a:spLocks noGrp="1"/>
          </p:cNvSpPr>
          <p:nvPr/>
        </p:nvSpPr>
        <p:spPr>
          <a:xfrm>
            <a:off x="5581650" y="53721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>
                <a:solidFill>
                  <a:srgbClr val="06B6D4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06B6D4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4" name="Mapping response 5">
            <a:extLst>
              <a:ext uri="{FF2B5EF4-FFF2-40B4-BE49-F238E27FC236}">
                <a16:creationId xmlns:a16="http://schemas.microsoft.com/office/drawing/2014/main" id="{42FA6391-AB34-4E7F-805B-41714EA81C33}"/>
              </a:ext>
            </a:extLst>
          </p:cNvPr>
          <p:cNvSpPr>
            <a:spLocks noGrp="1"/>
          </p:cNvSpPr>
          <p:nvPr/>
        </p:nvSpPr>
        <p:spPr>
          <a:xfrm>
            <a:off x="6267450" y="53721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lang="en-US"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S</a:t>
            </a: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ecure, observable </a:t>
            </a:r>
            <a:r>
              <a:rPr lang="en-US"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Infrastructure</a:t>
            </a:r>
            <a:r>
              <a:rPr sz="1350" dirty="0">
                <a:solidFill>
                  <a:srgbClr val="676869"/>
                </a:solidFill>
                <a:latin typeface="Inter"/>
                <a:ea typeface="Inter"/>
                <a:cs typeface="Inter"/>
              </a:rPr>
              <a:t> target</a:t>
            </a:r>
          </a:p>
        </p:txBody>
      </p:sp>
    </p:spTree>
    <p:extLst>
      <p:ext uri="{BB962C8B-B14F-4D97-AF65-F5344CB8AC3E}">
        <p14:creationId xmlns:p14="http://schemas.microsoft.com/office/powerpoint/2010/main" val="808795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 10">
            <a:extLst>
              <a:ext uri="{FF2B5EF4-FFF2-40B4-BE49-F238E27FC236}">
                <a16:creationId xmlns:a16="http://schemas.microsoft.com/office/drawing/2014/main" id="{8249FA6C-A2BC-4607-A36A-F193B95458E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1E22148-C895-4D64-89D4-FBFA73DBFC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Run the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R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esponse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B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efore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Y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ou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N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eed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I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t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086B123C-D090-4F7B-863D-CECB566DE5A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612648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10">
            <a:extLst>
              <a:ext uri="{FF2B5EF4-FFF2-40B4-BE49-F238E27FC236}">
                <a16:creationId xmlns:a16="http://schemas.microsoft.com/office/drawing/2014/main" id="{5E374189-58B9-4265-A797-1A5C34CDDCF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10">
            <a:extLst>
              <a:ext uri="{FF2B5EF4-FFF2-40B4-BE49-F238E27FC236}">
                <a16:creationId xmlns:a16="http://schemas.microsoft.com/office/drawing/2014/main" id="{94DDE23F-B933-4617-A499-29332006FAD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10">
            <a:extLst>
              <a:ext uri="{FF2B5EF4-FFF2-40B4-BE49-F238E27FC236}">
                <a16:creationId xmlns:a16="http://schemas.microsoft.com/office/drawing/2014/main" id="{F10212AA-0140-455C-B383-662A8064BB70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26</a:t>
            </a:r>
          </a:p>
        </p:txBody>
      </p:sp>
      <p:sp>
        <p:nvSpPr>
          <p:cNvPr id="11" name="Proof verb 1">
            <a:extLst>
              <a:ext uri="{FF2B5EF4-FFF2-40B4-BE49-F238E27FC236}">
                <a16:creationId xmlns:a16="http://schemas.microsoft.com/office/drawing/2014/main" id="{A775B0C0-EA7D-4138-8B88-220FEA70853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ACCESS</a:t>
            </a:r>
          </a:p>
        </p:txBody>
      </p:sp>
      <p:sp>
        <p:nvSpPr>
          <p:cNvPr id="12" name="AI gradient rule 72-328">
            <a:extLst>
              <a:ext uri="{FF2B5EF4-FFF2-40B4-BE49-F238E27FC236}">
                <a16:creationId xmlns:a16="http://schemas.microsoft.com/office/drawing/2014/main" id="{33FE6B42-BBAB-472B-AC64-0001A3B17653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roof desc 1">
            <a:extLst>
              <a:ext uri="{FF2B5EF4-FFF2-40B4-BE49-F238E27FC236}">
                <a16:creationId xmlns:a16="http://schemas.microsoft.com/office/drawing/2014/main" id="{D71769AE-F4DE-452F-ABEE-52E0C1F7301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Can responders reach the system, pipeline, and vendor channel?</a:t>
            </a:r>
          </a:p>
        </p:txBody>
      </p:sp>
      <p:sp>
        <p:nvSpPr>
          <p:cNvPr id="14" name="Proof verb 2">
            <a:extLst>
              <a:ext uri="{FF2B5EF4-FFF2-40B4-BE49-F238E27FC236}">
                <a16:creationId xmlns:a16="http://schemas.microsoft.com/office/drawing/2014/main" id="{05A6157C-6E61-4B07-9924-293B6FDACCAF}"/>
              </a:ext>
            </a:extLst>
          </p:cNvPr>
          <p:cNvSpPr>
            <a:spLocks noGrp="1"/>
          </p:cNvSpPr>
          <p:nvPr/>
        </p:nvSpPr>
        <p:spPr>
          <a:xfrm>
            <a:off x="34671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INVENTORY</a:t>
            </a:r>
          </a:p>
        </p:txBody>
      </p:sp>
      <p:sp>
        <p:nvSpPr>
          <p:cNvPr id="15" name="AI gradient rule 364-328">
            <a:extLst>
              <a:ext uri="{FF2B5EF4-FFF2-40B4-BE49-F238E27FC236}">
                <a16:creationId xmlns:a16="http://schemas.microsoft.com/office/drawing/2014/main" id="{F347030A-663B-4E98-8067-D84041E8385F}"/>
              </a:ext>
            </a:extLst>
          </p:cNvPr>
          <p:cNvSpPr>
            <a:spLocks noGrp="1"/>
          </p:cNvSpPr>
          <p:nvPr/>
        </p:nvSpPr>
        <p:spPr>
          <a:xfrm>
            <a:off x="34671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roof desc 2">
            <a:extLst>
              <a:ext uri="{FF2B5EF4-FFF2-40B4-BE49-F238E27FC236}">
                <a16:creationId xmlns:a16="http://schemas.microsoft.com/office/drawing/2014/main" id="{2D66C27B-3D63-489B-8BDF-76216D627791}"/>
              </a:ext>
            </a:extLst>
          </p:cNvPr>
          <p:cNvSpPr>
            <a:spLocks noGrp="1"/>
          </p:cNvSpPr>
          <p:nvPr/>
        </p:nvSpPr>
        <p:spPr>
          <a:xfrm>
            <a:off x="34671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Does the map match what is running?</a:t>
            </a:r>
          </a:p>
        </p:txBody>
      </p:sp>
      <p:sp>
        <p:nvSpPr>
          <p:cNvPr id="17" name="Proof verb 3">
            <a:extLst>
              <a:ext uri="{FF2B5EF4-FFF2-40B4-BE49-F238E27FC236}">
                <a16:creationId xmlns:a16="http://schemas.microsoft.com/office/drawing/2014/main" id="{F3D4D07F-BE89-4C18-890A-E081361ED02B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RECOVERY</a:t>
            </a:r>
          </a:p>
        </p:txBody>
      </p:sp>
      <p:sp>
        <p:nvSpPr>
          <p:cNvPr id="18" name="AI gradient rule 656-328">
            <a:extLst>
              <a:ext uri="{FF2B5EF4-FFF2-40B4-BE49-F238E27FC236}">
                <a16:creationId xmlns:a16="http://schemas.microsoft.com/office/drawing/2014/main" id="{7130CC54-1330-424C-87F3-A28E152F601A}"/>
              </a:ext>
            </a:extLst>
          </p:cNvPr>
          <p:cNvSpPr>
            <a:spLocks noGrp="1"/>
          </p:cNvSpPr>
          <p:nvPr/>
        </p:nvSpPr>
        <p:spPr>
          <a:xfrm>
            <a:off x="62484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of desc 3">
            <a:extLst>
              <a:ext uri="{FF2B5EF4-FFF2-40B4-BE49-F238E27FC236}">
                <a16:creationId xmlns:a16="http://schemas.microsoft.com/office/drawing/2014/main" id="{B0AC40EC-EAB0-4211-8950-791B3D4DDBBD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Do rollback, restore, and failover work?</a:t>
            </a:r>
          </a:p>
        </p:txBody>
      </p:sp>
      <p:sp>
        <p:nvSpPr>
          <p:cNvPr id="20" name="Proof verb 4">
            <a:extLst>
              <a:ext uri="{FF2B5EF4-FFF2-40B4-BE49-F238E27FC236}">
                <a16:creationId xmlns:a16="http://schemas.microsoft.com/office/drawing/2014/main" id="{5DA56CDE-8888-4A48-B652-17254CE26D6B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AUTHORITY</a:t>
            </a:r>
          </a:p>
        </p:txBody>
      </p:sp>
      <p:sp>
        <p:nvSpPr>
          <p:cNvPr id="21" name="AI gradient rule 948-328">
            <a:extLst>
              <a:ext uri="{FF2B5EF4-FFF2-40B4-BE49-F238E27FC236}">
                <a16:creationId xmlns:a16="http://schemas.microsoft.com/office/drawing/2014/main" id="{3796C288-C094-4A3C-9A73-FED970AC385A}"/>
              </a:ext>
            </a:extLst>
          </p:cNvPr>
          <p:cNvSpPr>
            <a:spLocks noGrp="1"/>
          </p:cNvSpPr>
          <p:nvPr/>
        </p:nvSpPr>
        <p:spPr>
          <a:xfrm>
            <a:off x="90297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roof desc 4">
            <a:extLst>
              <a:ext uri="{FF2B5EF4-FFF2-40B4-BE49-F238E27FC236}">
                <a16:creationId xmlns:a16="http://schemas.microsoft.com/office/drawing/2014/main" id="{BD18DF03-CA04-4AF9-81F7-325C8A22A8EB}"/>
              </a:ext>
            </a:extLst>
          </p:cNvPr>
          <p:cNvSpPr>
            <a:spLocks noGrp="1"/>
          </p:cNvSpPr>
          <p:nvPr/>
        </p:nvSpPr>
        <p:spPr>
          <a:xfrm>
            <a:off x="90297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Can the right person decide at 2 a.m.?</a:t>
            </a:r>
          </a:p>
        </p:txBody>
      </p:sp>
      <p:sp>
        <p:nvSpPr>
          <p:cNvPr id="23" name="Closing quote rule">
            <a:extLst>
              <a:ext uri="{FF2B5EF4-FFF2-40B4-BE49-F238E27FC236}">
                <a16:creationId xmlns:a16="http://schemas.microsoft.com/office/drawing/2014/main" id="{2850741F-D68A-480E-B58A-05794DDA505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66675" cy="1066800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losing quote">
            <a:extLst>
              <a:ext uri="{FF2B5EF4-FFF2-40B4-BE49-F238E27FC236}">
                <a16:creationId xmlns:a16="http://schemas.microsoft.com/office/drawing/2014/main" id="{AE722875-617C-477E-8AA9-A87A00CAED85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962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85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lang="en-US"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On</a:t>
            </a:r>
            <a:r>
              <a:rPr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 game day </a:t>
            </a:r>
            <a:r>
              <a:rPr lang="en-US"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will </a:t>
            </a:r>
            <a:r>
              <a:rPr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change code, policy, ownership, or training.</a:t>
            </a:r>
            <a:r>
              <a:rPr lang="en-US" sz="285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  You wan to just change code. </a:t>
            </a:r>
            <a:endParaRPr sz="2850" dirty="0">
              <a:solidFill>
                <a:srgbClr val="F8F6F0"/>
              </a:solidFill>
              <a:latin typeface="Optima"/>
              <a:ea typeface="Optima"/>
              <a:cs typeface="Optima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9B3A0BD-6D63-5DD7-1DC5-E2A2409B01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5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 3">
            <a:extLst>
              <a:ext uri="{FF2B5EF4-FFF2-40B4-BE49-F238E27FC236}">
                <a16:creationId xmlns:a16="http://schemas.microsoft.com/office/drawing/2014/main" id="{DD35D373-8A79-44EB-B625-A8A23E1BF6C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506CDB-4976-489D-8445-BC4A3ACC57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Build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apability in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his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O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rder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11F7E8D8-815C-4BA9-B593-A5CCBC21740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493776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3">
            <a:extLst>
              <a:ext uri="{FF2B5EF4-FFF2-40B4-BE49-F238E27FC236}">
                <a16:creationId xmlns:a16="http://schemas.microsoft.com/office/drawing/2014/main" id="{6399394E-FF73-4792-AA59-94A1CA033BCC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3">
            <a:extLst>
              <a:ext uri="{FF2B5EF4-FFF2-40B4-BE49-F238E27FC236}">
                <a16:creationId xmlns:a16="http://schemas.microsoft.com/office/drawing/2014/main" id="{6401229C-BD11-4194-AB3B-7BBA7B9196F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3">
            <a:extLst>
              <a:ext uri="{FF2B5EF4-FFF2-40B4-BE49-F238E27FC236}">
                <a16:creationId xmlns:a16="http://schemas.microsoft.com/office/drawing/2014/main" id="{57A46509-5008-4DAC-AF94-A631EDF1B44A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27</a:t>
            </a:r>
          </a:p>
        </p:txBody>
      </p:sp>
      <p:sp>
        <p:nvSpPr>
          <p:cNvPr id="10" name="Process line">
            <a:extLst>
              <a:ext uri="{FF2B5EF4-FFF2-40B4-BE49-F238E27FC236}">
                <a16:creationId xmlns:a16="http://schemas.microsoft.com/office/drawing/2014/main" id="{3CEDC550-06F4-45A9-861D-9BB8844BDEC2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10477500" cy="28575"/>
          </a:xfrm>
          <a:prstGeom prst="roundRect">
            <a:avLst>
              <a:gd name="adj" fmla="val 50000"/>
            </a:avLst>
          </a:prstGeom>
          <a:solidFill>
            <a:srgbClr val="0044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node 1">
            <a:extLst>
              <a:ext uri="{FF2B5EF4-FFF2-40B4-BE49-F238E27FC236}">
                <a16:creationId xmlns:a16="http://schemas.microsoft.com/office/drawing/2014/main" id="{942620B4-8233-4815-870B-30E85FCFC985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date 1">
            <a:extLst>
              <a:ext uri="{FF2B5EF4-FFF2-40B4-BE49-F238E27FC236}">
                <a16:creationId xmlns:a16="http://schemas.microsoft.com/office/drawing/2014/main" id="{F6FDBC9D-B8D8-4D6A-B89A-8AD12D3DA93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13" name="Step head 1">
            <a:extLst>
              <a:ext uri="{FF2B5EF4-FFF2-40B4-BE49-F238E27FC236}">
                <a16:creationId xmlns:a16="http://schemas.microsoft.com/office/drawing/2014/main" id="{251F7326-3D5C-42B9-8A59-931E8FAB81D4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Know</a:t>
            </a:r>
          </a:p>
        </p:txBody>
      </p:sp>
      <p:sp>
        <p:nvSpPr>
          <p:cNvPr id="14" name="Step desc 1">
            <a:extLst>
              <a:ext uri="{FF2B5EF4-FFF2-40B4-BE49-F238E27FC236}">
                <a16:creationId xmlns:a16="http://schemas.microsoft.com/office/drawing/2014/main" id="{7D170694-C6E8-4D80-B40E-D6379445E0A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Owner + live inventory</a:t>
            </a:r>
          </a:p>
        </p:txBody>
      </p:sp>
      <p:sp>
        <p:nvSpPr>
          <p:cNvPr id="15" name="Step node 2">
            <a:extLst>
              <a:ext uri="{FF2B5EF4-FFF2-40B4-BE49-F238E27FC236}">
                <a16:creationId xmlns:a16="http://schemas.microsoft.com/office/drawing/2014/main" id="{15F4FA38-7EEC-4C84-86E8-7CA5439BDFFE}"/>
              </a:ext>
            </a:extLst>
          </p:cNvPr>
          <p:cNvSpPr>
            <a:spLocks noGrp="1"/>
          </p:cNvSpPr>
          <p:nvPr/>
        </p:nvSpPr>
        <p:spPr>
          <a:xfrm>
            <a:off x="29337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date 2">
            <a:extLst>
              <a:ext uri="{FF2B5EF4-FFF2-40B4-BE49-F238E27FC236}">
                <a16:creationId xmlns:a16="http://schemas.microsoft.com/office/drawing/2014/main" id="{011CC186-CB72-45B9-939D-7C9EC0533E0E}"/>
              </a:ext>
            </a:extLst>
          </p:cNvPr>
          <p:cNvSpPr>
            <a:spLocks noGrp="1"/>
          </p:cNvSpPr>
          <p:nvPr/>
        </p:nvSpPr>
        <p:spPr>
          <a:xfrm>
            <a:off x="28956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7" name="Step head 2">
            <a:extLst>
              <a:ext uri="{FF2B5EF4-FFF2-40B4-BE49-F238E27FC236}">
                <a16:creationId xmlns:a16="http://schemas.microsoft.com/office/drawing/2014/main" id="{957EEE9E-6378-4457-AA53-995587537568}"/>
              </a:ext>
            </a:extLst>
          </p:cNvPr>
          <p:cNvSpPr>
            <a:spLocks noGrp="1"/>
          </p:cNvSpPr>
          <p:nvPr/>
        </p:nvSpPr>
        <p:spPr>
          <a:xfrm>
            <a:off x="28956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Prove</a:t>
            </a:r>
          </a:p>
        </p:txBody>
      </p:sp>
      <p:sp>
        <p:nvSpPr>
          <p:cNvPr id="18" name="Step desc 2">
            <a:extLst>
              <a:ext uri="{FF2B5EF4-FFF2-40B4-BE49-F238E27FC236}">
                <a16:creationId xmlns:a16="http://schemas.microsoft.com/office/drawing/2014/main" id="{B65A9520-4EC6-4E1D-9241-15D73101ADA0}"/>
              </a:ext>
            </a:extLst>
          </p:cNvPr>
          <p:cNvSpPr>
            <a:spLocks noGrp="1"/>
          </p:cNvSpPr>
          <p:nvPr/>
        </p:nvSpPr>
        <p:spPr>
          <a:xfrm>
            <a:off x="28956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Dependencies + reliable tests</a:t>
            </a:r>
          </a:p>
        </p:txBody>
      </p:sp>
      <p:sp>
        <p:nvSpPr>
          <p:cNvPr id="19" name="Step node 3">
            <a:extLst>
              <a:ext uri="{FF2B5EF4-FFF2-40B4-BE49-F238E27FC236}">
                <a16:creationId xmlns:a16="http://schemas.microsoft.com/office/drawing/2014/main" id="{171F8043-6EDF-4138-B92A-1132F30C408A}"/>
              </a:ext>
            </a:extLst>
          </p:cNvPr>
          <p:cNvSpPr>
            <a:spLocks noGrp="1"/>
          </p:cNvSpPr>
          <p:nvPr/>
        </p:nvSpPr>
        <p:spPr>
          <a:xfrm>
            <a:off x="51435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 date 3">
            <a:extLst>
              <a:ext uri="{FF2B5EF4-FFF2-40B4-BE49-F238E27FC236}">
                <a16:creationId xmlns:a16="http://schemas.microsoft.com/office/drawing/2014/main" id="{BC6B0691-AC7F-4895-B5E3-98CEC553B472}"/>
              </a:ext>
            </a:extLst>
          </p:cNvPr>
          <p:cNvSpPr>
            <a:spLocks noGrp="1"/>
          </p:cNvSpPr>
          <p:nvPr/>
        </p:nvSpPr>
        <p:spPr>
          <a:xfrm>
            <a:off x="51054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1" name="Step head 3">
            <a:extLst>
              <a:ext uri="{FF2B5EF4-FFF2-40B4-BE49-F238E27FC236}">
                <a16:creationId xmlns:a16="http://schemas.microsoft.com/office/drawing/2014/main" id="{69E4BC9A-5B31-46E4-8A3C-B326D2AB0EC0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Move</a:t>
            </a:r>
          </a:p>
        </p:txBody>
      </p:sp>
      <p:sp>
        <p:nvSpPr>
          <p:cNvPr id="22" name="Step desc 3">
            <a:extLst>
              <a:ext uri="{FF2B5EF4-FFF2-40B4-BE49-F238E27FC236}">
                <a16:creationId xmlns:a16="http://schemas.microsoft.com/office/drawing/2014/main" id="{5D25248B-8985-4786-B3A3-01224E670186}"/>
              </a:ext>
            </a:extLst>
          </p:cNvPr>
          <p:cNvSpPr>
            <a:spLocks noGrp="1"/>
          </p:cNvSpPr>
          <p:nvPr/>
        </p:nvSpPr>
        <p:spPr>
          <a:xfrm>
            <a:off x="51054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Automation + progressive delivery</a:t>
            </a:r>
          </a:p>
        </p:txBody>
      </p:sp>
      <p:sp>
        <p:nvSpPr>
          <p:cNvPr id="23" name="Step node 4">
            <a:extLst>
              <a:ext uri="{FF2B5EF4-FFF2-40B4-BE49-F238E27FC236}">
                <a16:creationId xmlns:a16="http://schemas.microsoft.com/office/drawing/2014/main" id="{06DD33A5-425B-4FDB-A163-B8619A801B87}"/>
              </a:ext>
            </a:extLst>
          </p:cNvPr>
          <p:cNvSpPr>
            <a:spLocks noGrp="1"/>
          </p:cNvSpPr>
          <p:nvPr/>
        </p:nvSpPr>
        <p:spPr>
          <a:xfrm>
            <a:off x="73533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 date 4">
            <a:extLst>
              <a:ext uri="{FF2B5EF4-FFF2-40B4-BE49-F238E27FC236}">
                <a16:creationId xmlns:a16="http://schemas.microsoft.com/office/drawing/2014/main" id="{10E06447-AA87-44EB-91DA-C5D64EF94955}"/>
              </a:ext>
            </a:extLst>
          </p:cNvPr>
          <p:cNvSpPr>
            <a:spLocks noGrp="1"/>
          </p:cNvSpPr>
          <p:nvPr/>
        </p:nvSpPr>
        <p:spPr>
          <a:xfrm>
            <a:off x="73152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5" name="Step head 4">
            <a:extLst>
              <a:ext uri="{FF2B5EF4-FFF2-40B4-BE49-F238E27FC236}">
                <a16:creationId xmlns:a16="http://schemas.microsoft.com/office/drawing/2014/main" id="{972C2385-AD6C-440A-9BF2-B320F4456CE6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Recover</a:t>
            </a:r>
          </a:p>
        </p:txBody>
      </p:sp>
      <p:sp>
        <p:nvSpPr>
          <p:cNvPr id="26" name="Step desc 4">
            <a:extLst>
              <a:ext uri="{FF2B5EF4-FFF2-40B4-BE49-F238E27FC236}">
                <a16:creationId xmlns:a16="http://schemas.microsoft.com/office/drawing/2014/main" id="{DF60AAEB-8953-476D-9C4C-3316CDAE0B07}"/>
              </a:ext>
            </a:extLst>
          </p:cNvPr>
          <p:cNvSpPr>
            <a:spLocks noGrp="1"/>
          </p:cNvSpPr>
          <p:nvPr/>
        </p:nvSpPr>
        <p:spPr>
          <a:xfrm>
            <a:off x="73152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Exit paths + observability</a:t>
            </a:r>
          </a:p>
        </p:txBody>
      </p:sp>
      <p:sp>
        <p:nvSpPr>
          <p:cNvPr id="27" name="Step node 5">
            <a:extLst>
              <a:ext uri="{FF2B5EF4-FFF2-40B4-BE49-F238E27FC236}">
                <a16:creationId xmlns:a16="http://schemas.microsoft.com/office/drawing/2014/main" id="{9B0C406E-25B8-4EF8-A86D-14EE47400AB7}"/>
              </a:ext>
            </a:extLst>
          </p:cNvPr>
          <p:cNvSpPr>
            <a:spLocks noGrp="1"/>
          </p:cNvSpPr>
          <p:nvPr/>
        </p:nvSpPr>
        <p:spPr>
          <a:xfrm>
            <a:off x="9563100" y="2495550"/>
            <a:ext cx="323850" cy="323850"/>
          </a:xfrm>
          <a:prstGeom prst="ellipse">
            <a:avLst/>
          </a:prstGeom>
          <a:solidFill>
            <a:srgbClr val="E86027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ep date 5">
            <a:extLst>
              <a:ext uri="{FF2B5EF4-FFF2-40B4-BE49-F238E27FC236}">
                <a16:creationId xmlns:a16="http://schemas.microsoft.com/office/drawing/2014/main" id="{5DB32D24-96E8-45F8-AA70-72051FB4473E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29" name="Step head 5">
            <a:extLst>
              <a:ext uri="{FF2B5EF4-FFF2-40B4-BE49-F238E27FC236}">
                <a16:creationId xmlns:a16="http://schemas.microsoft.com/office/drawing/2014/main" id="{3EB2130C-D535-4215-B5B5-6E85DDB08F09}"/>
              </a:ext>
            </a:extLst>
          </p:cNvPr>
          <p:cNvSpPr>
            <a:spLocks noGrp="1"/>
          </p:cNvSpPr>
          <p:nvPr/>
        </p:nvSpPr>
        <p:spPr>
          <a:xfrm>
            <a:off x="95250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Learn</a:t>
            </a:r>
          </a:p>
        </p:txBody>
      </p:sp>
      <p:sp>
        <p:nvSpPr>
          <p:cNvPr id="30" name="Step desc 5">
            <a:extLst>
              <a:ext uri="{FF2B5EF4-FFF2-40B4-BE49-F238E27FC236}">
                <a16:creationId xmlns:a16="http://schemas.microsoft.com/office/drawing/2014/main" id="{8329A093-43FF-4329-AAFD-16E0DD295EDC}"/>
              </a:ext>
            </a:extLst>
          </p:cNvPr>
          <p:cNvSpPr>
            <a:spLocks noGrp="1"/>
          </p:cNvSpPr>
          <p:nvPr/>
        </p:nvSpPr>
        <p:spPr>
          <a:xfrm>
            <a:off x="95250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Metrics + game days</a:t>
            </a:r>
          </a:p>
        </p:txBody>
      </p:sp>
      <p:sp>
        <p:nvSpPr>
          <p:cNvPr id="31" name="Timeline lesson">
            <a:extLst>
              <a:ext uri="{FF2B5EF4-FFF2-40B4-BE49-F238E27FC236}">
                <a16:creationId xmlns:a16="http://schemas.microsoft.com/office/drawing/2014/main" id="{42A2ED21-7077-4917-A81B-5AD333391B8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33350" tIns="0" rIns="0" bIns="0" anchor="ctr">
            <a:noAutofit/>
          </a:bodyPr>
          <a:lstStyle/>
          <a:p>
            <a:pPr algn="l">
              <a:buNone/>
              <a:defRPr sz="1950">
                <a:solidFill>
                  <a:srgbClr val="00446F"/>
                </a:solidFill>
                <a:latin typeface="Optima"/>
                <a:ea typeface="Optima"/>
                <a:cs typeface="Optima"/>
              </a:defRPr>
            </a:pPr>
            <a:r>
              <a:rPr sz="1950">
                <a:solidFill>
                  <a:srgbClr val="00446F"/>
                </a:solidFill>
                <a:latin typeface="Optima"/>
                <a:ea typeface="Optima"/>
                <a:cs typeface="Optima"/>
              </a:rPr>
              <a:t>Do not automate a mystery.</a:t>
            </a:r>
          </a:p>
        </p:txBody>
      </p:sp>
      <p:sp>
        <p:nvSpPr>
          <p:cNvPr id="32" name="Lesson accent">
            <a:extLst>
              <a:ext uri="{FF2B5EF4-FFF2-40B4-BE49-F238E27FC236}">
                <a16:creationId xmlns:a16="http://schemas.microsoft.com/office/drawing/2014/main" id="{2068FAC1-7448-4377-A302-062AB48DC24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47625" cy="714375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 10">
            <a:extLst>
              <a:ext uri="{FF2B5EF4-FFF2-40B4-BE49-F238E27FC236}">
                <a16:creationId xmlns:a16="http://schemas.microsoft.com/office/drawing/2014/main" id="{8249FA6C-A2BC-4607-A36A-F193B95458E8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AA4AD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D1E22148-C895-4D64-89D4-FBFA73DBFC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What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W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e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M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ust </a:t>
            </a:r>
            <a:r>
              <a:rPr lang="en-US"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P</a:t>
            </a:r>
            <a:r>
              <a:rPr sz="3000" b="0" dirty="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rove</a:t>
            </a:r>
          </a:p>
        </p:txBody>
      </p:sp>
      <p:sp>
        <p:nvSpPr>
          <p:cNvPr id="6" name="AI gradient rule 68-172">
            <a:extLst>
              <a:ext uri="{FF2B5EF4-FFF2-40B4-BE49-F238E27FC236}">
                <a16:creationId xmlns:a16="http://schemas.microsoft.com/office/drawing/2014/main" id="{086B123C-D090-4F7B-863D-CECB566DE5A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347472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rule 10">
            <a:extLst>
              <a:ext uri="{FF2B5EF4-FFF2-40B4-BE49-F238E27FC236}">
                <a16:creationId xmlns:a16="http://schemas.microsoft.com/office/drawing/2014/main" id="{5E374189-58B9-4265-A797-1A5C34CDDCF1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2A35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left 10">
            <a:extLst>
              <a:ext uri="{FF2B5EF4-FFF2-40B4-BE49-F238E27FC236}">
                <a16:creationId xmlns:a16="http://schemas.microsoft.com/office/drawing/2014/main" id="{94DDE23F-B933-4617-A499-29332006FAD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AA4AD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10" name="Footer number 10">
            <a:extLst>
              <a:ext uri="{FF2B5EF4-FFF2-40B4-BE49-F238E27FC236}">
                <a16:creationId xmlns:a16="http://schemas.microsoft.com/office/drawing/2014/main" id="{F10212AA-0140-455C-B383-662A8064BB70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9AA4AD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9AA4AD"/>
                </a:solidFill>
                <a:latin typeface="Fira Code"/>
                <a:ea typeface="Fira Code"/>
                <a:cs typeface="Fira Code"/>
              </a:rPr>
              <a:t>28</a:t>
            </a:r>
          </a:p>
        </p:txBody>
      </p:sp>
      <p:sp>
        <p:nvSpPr>
          <p:cNvPr id="11" name="Proof verb 1">
            <a:extLst>
              <a:ext uri="{FF2B5EF4-FFF2-40B4-BE49-F238E27FC236}">
                <a16:creationId xmlns:a16="http://schemas.microsoft.com/office/drawing/2014/main" id="{A775B0C0-EA7D-4138-8B88-220FEA70853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REACH</a:t>
            </a:r>
          </a:p>
        </p:txBody>
      </p:sp>
      <p:sp>
        <p:nvSpPr>
          <p:cNvPr id="12" name="AI gradient rule 72-328">
            <a:extLst>
              <a:ext uri="{FF2B5EF4-FFF2-40B4-BE49-F238E27FC236}">
                <a16:creationId xmlns:a16="http://schemas.microsoft.com/office/drawing/2014/main" id="{33FE6B42-BBAB-472B-AC64-0001A3B17653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roof desc 1">
            <a:extLst>
              <a:ext uri="{FF2B5EF4-FFF2-40B4-BE49-F238E27FC236}">
                <a16:creationId xmlns:a16="http://schemas.microsoft.com/office/drawing/2014/main" id="{D71769AE-F4DE-452F-ABEE-52E0C1F7301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Direct and delegated paths are mapped and tested.</a:t>
            </a:r>
          </a:p>
        </p:txBody>
      </p:sp>
      <p:sp>
        <p:nvSpPr>
          <p:cNvPr id="14" name="Proof verb 2">
            <a:extLst>
              <a:ext uri="{FF2B5EF4-FFF2-40B4-BE49-F238E27FC236}">
                <a16:creationId xmlns:a16="http://schemas.microsoft.com/office/drawing/2014/main" id="{05A6157C-6E61-4B07-9924-293B6FDACCAF}"/>
              </a:ext>
            </a:extLst>
          </p:cNvPr>
          <p:cNvSpPr>
            <a:spLocks noGrp="1"/>
          </p:cNvSpPr>
          <p:nvPr/>
        </p:nvSpPr>
        <p:spPr>
          <a:xfrm>
            <a:off x="34671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STOP</a:t>
            </a:r>
          </a:p>
        </p:txBody>
      </p:sp>
      <p:sp>
        <p:nvSpPr>
          <p:cNvPr id="15" name="AI gradient rule 364-328">
            <a:extLst>
              <a:ext uri="{FF2B5EF4-FFF2-40B4-BE49-F238E27FC236}">
                <a16:creationId xmlns:a16="http://schemas.microsoft.com/office/drawing/2014/main" id="{F347030A-663B-4E98-8067-D84041E8385F}"/>
              </a:ext>
            </a:extLst>
          </p:cNvPr>
          <p:cNvSpPr>
            <a:spLocks noGrp="1"/>
          </p:cNvSpPr>
          <p:nvPr/>
        </p:nvSpPr>
        <p:spPr>
          <a:xfrm>
            <a:off x="34671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roof desc 2">
            <a:extLst>
              <a:ext uri="{FF2B5EF4-FFF2-40B4-BE49-F238E27FC236}">
                <a16:creationId xmlns:a16="http://schemas.microsoft.com/office/drawing/2014/main" id="{2D66C27B-3D63-489B-8BDF-76216D627791}"/>
              </a:ext>
            </a:extLst>
          </p:cNvPr>
          <p:cNvSpPr>
            <a:spLocks noGrp="1"/>
          </p:cNvSpPr>
          <p:nvPr/>
        </p:nvSpPr>
        <p:spPr>
          <a:xfrm>
            <a:off x="34671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Impossible work halts or requests authorized scope.</a:t>
            </a:r>
          </a:p>
        </p:txBody>
      </p:sp>
      <p:sp>
        <p:nvSpPr>
          <p:cNvPr id="17" name="Proof verb 3">
            <a:extLst>
              <a:ext uri="{FF2B5EF4-FFF2-40B4-BE49-F238E27FC236}">
                <a16:creationId xmlns:a16="http://schemas.microsoft.com/office/drawing/2014/main" id="{F3D4D07F-BE89-4C18-890A-E081361ED02B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06B6D4"/>
                </a:solidFill>
                <a:latin typeface="Sofia Sans Extra Condensed"/>
                <a:ea typeface="Sofia Sans Extra Condensed"/>
                <a:cs typeface="Sofia Sans Extra Condensed"/>
              </a:rPr>
              <a:t>RESPOND</a:t>
            </a:r>
          </a:p>
        </p:txBody>
      </p:sp>
      <p:sp>
        <p:nvSpPr>
          <p:cNvPr id="18" name="AI gradient rule 656-328">
            <a:extLst>
              <a:ext uri="{FF2B5EF4-FFF2-40B4-BE49-F238E27FC236}">
                <a16:creationId xmlns:a16="http://schemas.microsoft.com/office/drawing/2014/main" id="{7130CC54-1330-424C-87F3-A28E152F601A}"/>
              </a:ext>
            </a:extLst>
          </p:cNvPr>
          <p:cNvSpPr>
            <a:spLocks noGrp="1"/>
          </p:cNvSpPr>
          <p:nvPr/>
        </p:nvSpPr>
        <p:spPr>
          <a:xfrm>
            <a:off x="62484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of desc 3">
            <a:extLst>
              <a:ext uri="{FF2B5EF4-FFF2-40B4-BE49-F238E27FC236}">
                <a16:creationId xmlns:a16="http://schemas.microsoft.com/office/drawing/2014/main" id="{B0AC40EC-EAB0-4211-8950-791B3D4DDBBD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Containment, patching, deployment, and recovery are measured.</a:t>
            </a:r>
          </a:p>
        </p:txBody>
      </p:sp>
      <p:sp>
        <p:nvSpPr>
          <p:cNvPr id="20" name="Proof verb 4">
            <a:extLst>
              <a:ext uri="{FF2B5EF4-FFF2-40B4-BE49-F238E27FC236}">
                <a16:creationId xmlns:a16="http://schemas.microsoft.com/office/drawing/2014/main" id="{5DA56CDE-8888-4A48-B652-17254CE26D6B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>
                <a:solidFill>
                  <a:srgbClr val="E86027"/>
                </a:solidFill>
                <a:latin typeface="Sofia Sans Extra Condensed"/>
                <a:ea typeface="Sofia Sans Extra Condensed"/>
                <a:cs typeface="Sofia Sans Extra Condensed"/>
              </a:rPr>
              <a:t>CLOSE</a:t>
            </a:r>
          </a:p>
        </p:txBody>
      </p:sp>
      <p:sp>
        <p:nvSpPr>
          <p:cNvPr id="21" name="AI gradient rule 948-328">
            <a:extLst>
              <a:ext uri="{FF2B5EF4-FFF2-40B4-BE49-F238E27FC236}">
                <a16:creationId xmlns:a16="http://schemas.microsoft.com/office/drawing/2014/main" id="{3796C288-C094-4A3C-9A73-FED970AC385A}"/>
              </a:ext>
            </a:extLst>
          </p:cNvPr>
          <p:cNvSpPr>
            <a:spLocks noGrp="1"/>
          </p:cNvSpPr>
          <p:nvPr/>
        </p:nvSpPr>
        <p:spPr>
          <a:xfrm>
            <a:off x="9029700" y="3124200"/>
            <a:ext cx="1143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roof desc 4">
            <a:extLst>
              <a:ext uri="{FF2B5EF4-FFF2-40B4-BE49-F238E27FC236}">
                <a16:creationId xmlns:a16="http://schemas.microsoft.com/office/drawing/2014/main" id="{BD18DF03-CA04-4AF9-81F7-325C8A22A8EB}"/>
              </a:ext>
            </a:extLst>
          </p:cNvPr>
          <p:cNvSpPr>
            <a:spLocks noGrp="1"/>
          </p:cNvSpPr>
          <p:nvPr/>
        </p:nvSpPr>
        <p:spPr>
          <a:xfrm>
            <a:off x="9029700" y="3390900"/>
            <a:ext cx="2381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>
                <a:solidFill>
                  <a:srgbClr val="9AA4A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9AA4AD"/>
                </a:solidFill>
                <a:latin typeface="Inter"/>
                <a:ea typeface="Inter"/>
                <a:cs typeface="Inter"/>
              </a:rPr>
              <a:t>Restoration, eradication, and resumption have separate evidence.</a:t>
            </a:r>
          </a:p>
        </p:txBody>
      </p:sp>
      <p:sp>
        <p:nvSpPr>
          <p:cNvPr id="23" name="Closing quote rule">
            <a:extLst>
              <a:ext uri="{FF2B5EF4-FFF2-40B4-BE49-F238E27FC236}">
                <a16:creationId xmlns:a16="http://schemas.microsoft.com/office/drawing/2014/main" id="{2850741F-D68A-480E-B58A-05794DDA505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66675" cy="1066800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Closing quote">
            <a:extLst>
              <a:ext uri="{FF2B5EF4-FFF2-40B4-BE49-F238E27FC236}">
                <a16:creationId xmlns:a16="http://schemas.microsoft.com/office/drawing/2014/main" id="{AE722875-617C-477E-8AA9-A87A00CAED85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962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85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85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A locked door is not a boundary</a:t>
            </a:r>
          </a:p>
          <a:p>
            <a:pPr algn="l">
              <a:lnSpc>
                <a:spcPct val="100000"/>
              </a:lnSpc>
              <a:buNone/>
              <a:defRPr sz="2850">
                <a:solidFill>
                  <a:srgbClr val="F8F6F0"/>
                </a:solidFill>
                <a:latin typeface="Optima"/>
                <a:ea typeface="Optima"/>
                <a:cs typeface="Optima"/>
              </a:defRPr>
            </a:pPr>
            <a:r>
              <a:rPr sz="2850">
                <a:solidFill>
                  <a:srgbClr val="F8F6F0"/>
                </a:solidFill>
                <a:latin typeface="Optima"/>
                <a:ea typeface="Optima"/>
                <a:cs typeface="Optima"/>
              </a:rPr>
              <a:t>if the service hatch is still open.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5097DCC-0BF7-9BC6-1999-A8E3A1A3C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5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 3">
            <a:extLst>
              <a:ext uri="{FF2B5EF4-FFF2-40B4-BE49-F238E27FC236}">
                <a16:creationId xmlns:a16="http://schemas.microsoft.com/office/drawing/2014/main" id="{DD35D373-8A79-44EB-B625-A8A23E1BF6CE}"/>
              </a:ext>
            </a:extLst>
          </p:cNvPr>
          <p:cNvSpPr>
            <a:spLocks noGrp="1"/>
          </p:cNvSpPr>
          <p:nvPr/>
        </p:nvSpPr>
        <p:spPr>
          <a:xfrm>
            <a:off x="647700" y="3048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6869"/>
                </a:solidFill>
                <a:latin typeface="Inter"/>
                <a:ea typeface="Inter"/>
                <a:cs typeface="Inter"/>
              </a:rPr>
              <a:t>AI  /  PUBLIC WORKBENCH  /  AUGUST 13, 2026</a:t>
            </a:r>
          </a:p>
        </p:txBody>
      </p:sp>
      <p:pic>
        <p:nvPicPr>
          <p:cNvPr id="36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391900" y="295275"/>
            <a:ext cx="323850" cy="4381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506CDB-4976-489D-8445-BC4A3ACC571F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3000" b="0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The AI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ge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till </a:t>
            </a:r>
            <a:r>
              <a:rPr lang="en-US" sz="300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R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uns on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echnical </a:t>
            </a:r>
            <a:r>
              <a:rPr lang="en-US"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E</a:t>
            </a:r>
            <a:r>
              <a:rPr sz="3000" b="0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xcellence</a:t>
            </a:r>
          </a:p>
        </p:txBody>
      </p:sp>
      <p:sp>
        <p:nvSpPr>
          <p:cNvPr id="5" name="AI gradient rule 68-172">
            <a:extLst>
              <a:ext uri="{FF2B5EF4-FFF2-40B4-BE49-F238E27FC236}">
                <a16:creationId xmlns:a16="http://schemas.microsoft.com/office/drawing/2014/main" id="{11F7E8D8-815C-4BA9-B593-A5CCBC21740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740664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A78BFA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 rule 3">
            <a:extLst>
              <a:ext uri="{FF2B5EF4-FFF2-40B4-BE49-F238E27FC236}">
                <a16:creationId xmlns:a16="http://schemas.microsoft.com/office/drawing/2014/main" id="{6399394E-FF73-4792-AA59-94A1CA033BCC}"/>
              </a:ext>
            </a:extLst>
          </p:cNvPr>
          <p:cNvSpPr>
            <a:spLocks noGrp="1"/>
          </p:cNvSpPr>
          <p:nvPr/>
        </p:nvSpPr>
        <p:spPr>
          <a:xfrm>
            <a:off x="647700" y="6448425"/>
            <a:ext cx="11087100" cy="9525"/>
          </a:xfrm>
          <a:prstGeom prst="rect">
            <a:avLst/>
          </a:prstGeom>
          <a:solidFill>
            <a:srgbClr val="C8C7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 left 3">
            <a:extLst>
              <a:ext uri="{FF2B5EF4-FFF2-40B4-BE49-F238E27FC236}">
                <a16:creationId xmlns:a16="http://schemas.microsoft.com/office/drawing/2014/main" id="{6401229C-BD11-4194-AB3B-7BBA7B9196F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419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75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676869"/>
                </a:solidFill>
                <a:latin typeface="Inter"/>
                <a:ea typeface="Inter"/>
                <a:cs typeface="Inter"/>
              </a:rPr>
              <a:t>tedt.org  •  The Sandbox Was Not the Boundary</a:t>
            </a:r>
          </a:p>
        </p:txBody>
      </p:sp>
      <p:sp>
        <p:nvSpPr>
          <p:cNvPr id="9" name="Footer number 3">
            <a:extLst>
              <a:ext uri="{FF2B5EF4-FFF2-40B4-BE49-F238E27FC236}">
                <a16:creationId xmlns:a16="http://schemas.microsoft.com/office/drawing/2014/main" id="{57A46509-5008-4DAC-AF94-A631EDF1B44A}"/>
              </a:ext>
            </a:extLst>
          </p:cNvPr>
          <p:cNvSpPr>
            <a:spLocks noGrp="1"/>
          </p:cNvSpPr>
          <p:nvPr/>
        </p:nvSpPr>
        <p:spPr>
          <a:xfrm>
            <a:off x="11220450" y="65341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750">
                <a:solidFill>
                  <a:srgbClr val="676869"/>
                </a:solidFill>
                <a:latin typeface="Fira Code"/>
                <a:ea typeface="Fira Code"/>
                <a:cs typeface="Fira Code"/>
              </a:defRPr>
            </a:pPr>
            <a:r>
              <a:rPr sz="750">
                <a:solidFill>
                  <a:srgbClr val="676869"/>
                </a:solidFill>
                <a:latin typeface="Fira Code"/>
                <a:ea typeface="Fira Code"/>
                <a:cs typeface="Fira Code"/>
              </a:rPr>
              <a:t>29</a:t>
            </a:r>
          </a:p>
        </p:txBody>
      </p:sp>
      <p:sp>
        <p:nvSpPr>
          <p:cNvPr id="10" name="Process line">
            <a:extLst>
              <a:ext uri="{FF2B5EF4-FFF2-40B4-BE49-F238E27FC236}">
                <a16:creationId xmlns:a16="http://schemas.microsoft.com/office/drawing/2014/main" id="{3CEDC550-06F4-45A9-861D-9BB8844BDEC2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10477500" cy="28575"/>
          </a:xfrm>
          <a:prstGeom prst="roundRect">
            <a:avLst>
              <a:gd name="adj" fmla="val 50000"/>
            </a:avLst>
          </a:prstGeom>
          <a:solidFill>
            <a:srgbClr val="0044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node 1">
            <a:extLst>
              <a:ext uri="{FF2B5EF4-FFF2-40B4-BE49-F238E27FC236}">
                <a16:creationId xmlns:a16="http://schemas.microsoft.com/office/drawing/2014/main" id="{942620B4-8233-4815-870B-30E85FCFC985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date 1">
            <a:extLst>
              <a:ext uri="{FF2B5EF4-FFF2-40B4-BE49-F238E27FC236}">
                <a16:creationId xmlns:a16="http://schemas.microsoft.com/office/drawing/2014/main" id="{F6FDBC9D-B8D8-4D6A-B89A-8AD12D3DA93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05</a:t>
            </a:r>
          </a:p>
        </p:txBody>
      </p:sp>
      <p:sp>
        <p:nvSpPr>
          <p:cNvPr id="13" name="Step head 1">
            <a:extLst>
              <a:ext uri="{FF2B5EF4-FFF2-40B4-BE49-F238E27FC236}">
                <a16:creationId xmlns:a16="http://schemas.microsoft.com/office/drawing/2014/main" id="{251F7326-3D5C-42B9-8A59-931E8FAB81D4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AI </a:t>
            </a:r>
            <a:r>
              <a:rPr lang="en-US"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</a:t>
            </a:r>
            <a:r>
              <a:rPr sz="1650" b="1" dirty="0">
                <a:solidFill>
                  <a:srgbClr val="07090F"/>
                </a:solidFill>
                <a:latin typeface="Optima"/>
                <a:ea typeface="Optima"/>
                <a:cs typeface="Optima"/>
              </a:rPr>
              <a:t>ge</a:t>
            </a:r>
          </a:p>
        </p:txBody>
      </p:sp>
      <p:sp>
        <p:nvSpPr>
          <p:cNvPr id="14" name="Step desc 1">
            <a:extLst>
              <a:ext uri="{FF2B5EF4-FFF2-40B4-BE49-F238E27FC236}">
                <a16:creationId xmlns:a16="http://schemas.microsoft.com/office/drawing/2014/main" id="{7D170694-C6E8-4D80-B40E-D6379445E0A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Agents increase the speed and reach of change.</a:t>
            </a:r>
          </a:p>
        </p:txBody>
      </p:sp>
      <p:sp>
        <p:nvSpPr>
          <p:cNvPr id="15" name="Step node 2">
            <a:extLst>
              <a:ext uri="{FF2B5EF4-FFF2-40B4-BE49-F238E27FC236}">
                <a16:creationId xmlns:a16="http://schemas.microsoft.com/office/drawing/2014/main" id="{15F4FA38-7EEC-4C84-86E8-7CA5439BDFFE}"/>
              </a:ext>
            </a:extLst>
          </p:cNvPr>
          <p:cNvSpPr>
            <a:spLocks noGrp="1"/>
          </p:cNvSpPr>
          <p:nvPr/>
        </p:nvSpPr>
        <p:spPr>
          <a:xfrm>
            <a:off x="29337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date 2">
            <a:extLst>
              <a:ext uri="{FF2B5EF4-FFF2-40B4-BE49-F238E27FC236}">
                <a16:creationId xmlns:a16="http://schemas.microsoft.com/office/drawing/2014/main" id="{011CC186-CB72-45B9-939D-7C9EC0533E0E}"/>
              </a:ext>
            </a:extLst>
          </p:cNvPr>
          <p:cNvSpPr>
            <a:spLocks noGrp="1"/>
          </p:cNvSpPr>
          <p:nvPr/>
        </p:nvSpPr>
        <p:spPr>
          <a:xfrm>
            <a:off x="28956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17" name="Step head 2">
            <a:extLst>
              <a:ext uri="{FF2B5EF4-FFF2-40B4-BE49-F238E27FC236}">
                <a16:creationId xmlns:a16="http://schemas.microsoft.com/office/drawing/2014/main" id="{957EEE9E-6378-4457-AA53-995587537568}"/>
              </a:ext>
            </a:extLst>
          </p:cNvPr>
          <p:cNvSpPr>
            <a:spLocks noGrp="1"/>
          </p:cNvSpPr>
          <p:nvPr/>
        </p:nvSpPr>
        <p:spPr>
          <a:xfrm>
            <a:off x="28956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SaaS</a:t>
            </a:r>
          </a:p>
        </p:txBody>
      </p:sp>
      <p:sp>
        <p:nvSpPr>
          <p:cNvPr id="18" name="Step desc 2">
            <a:extLst>
              <a:ext uri="{FF2B5EF4-FFF2-40B4-BE49-F238E27FC236}">
                <a16:creationId xmlns:a16="http://schemas.microsoft.com/office/drawing/2014/main" id="{B65A9520-4EC6-4E1D-9241-15D73101ADA0}"/>
              </a:ext>
            </a:extLst>
          </p:cNvPr>
          <p:cNvSpPr>
            <a:spLocks noGrp="1"/>
          </p:cNvSpPr>
          <p:nvPr/>
        </p:nvSpPr>
        <p:spPr>
          <a:xfrm>
            <a:off x="28956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Services change while they run.</a:t>
            </a:r>
          </a:p>
        </p:txBody>
      </p:sp>
      <p:sp>
        <p:nvSpPr>
          <p:cNvPr id="19" name="Step node 3">
            <a:extLst>
              <a:ext uri="{FF2B5EF4-FFF2-40B4-BE49-F238E27FC236}">
                <a16:creationId xmlns:a16="http://schemas.microsoft.com/office/drawing/2014/main" id="{171F8043-6EDF-4138-B92A-1132F30C408A}"/>
              </a:ext>
            </a:extLst>
          </p:cNvPr>
          <p:cNvSpPr>
            <a:spLocks noGrp="1"/>
          </p:cNvSpPr>
          <p:nvPr/>
        </p:nvSpPr>
        <p:spPr>
          <a:xfrm>
            <a:off x="51435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 date 3">
            <a:extLst>
              <a:ext uri="{FF2B5EF4-FFF2-40B4-BE49-F238E27FC236}">
                <a16:creationId xmlns:a16="http://schemas.microsoft.com/office/drawing/2014/main" id="{BC6B0691-AC7F-4895-B5E3-98CEC553B472}"/>
              </a:ext>
            </a:extLst>
          </p:cNvPr>
          <p:cNvSpPr>
            <a:spLocks noGrp="1"/>
          </p:cNvSpPr>
          <p:nvPr/>
        </p:nvSpPr>
        <p:spPr>
          <a:xfrm>
            <a:off x="51054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21" name="Step head 3">
            <a:extLst>
              <a:ext uri="{FF2B5EF4-FFF2-40B4-BE49-F238E27FC236}">
                <a16:creationId xmlns:a16="http://schemas.microsoft.com/office/drawing/2014/main" id="{69E4BC9A-5B31-46E4-8A3C-B326D2AB0EC0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Cloud</a:t>
            </a:r>
          </a:p>
        </p:txBody>
      </p:sp>
      <p:sp>
        <p:nvSpPr>
          <p:cNvPr id="22" name="Step desc 3">
            <a:extLst>
              <a:ext uri="{FF2B5EF4-FFF2-40B4-BE49-F238E27FC236}">
                <a16:creationId xmlns:a16="http://schemas.microsoft.com/office/drawing/2014/main" id="{5D25248B-8985-4786-B3A3-01224E670186}"/>
              </a:ext>
            </a:extLst>
          </p:cNvPr>
          <p:cNvSpPr>
            <a:spLocks noGrp="1"/>
          </p:cNvSpPr>
          <p:nvPr/>
        </p:nvSpPr>
        <p:spPr>
          <a:xfrm>
            <a:off x="51054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Infrastructure is programmable.</a:t>
            </a:r>
          </a:p>
        </p:txBody>
      </p:sp>
      <p:sp>
        <p:nvSpPr>
          <p:cNvPr id="23" name="Step node 4">
            <a:extLst>
              <a:ext uri="{FF2B5EF4-FFF2-40B4-BE49-F238E27FC236}">
                <a16:creationId xmlns:a16="http://schemas.microsoft.com/office/drawing/2014/main" id="{06DD33A5-425B-4FDB-A163-B8619A801B87}"/>
              </a:ext>
            </a:extLst>
          </p:cNvPr>
          <p:cNvSpPr>
            <a:spLocks noGrp="1"/>
          </p:cNvSpPr>
          <p:nvPr/>
        </p:nvSpPr>
        <p:spPr>
          <a:xfrm>
            <a:off x="7353300" y="2495550"/>
            <a:ext cx="323850" cy="323850"/>
          </a:xfrm>
          <a:prstGeom prst="ellipse">
            <a:avLst/>
          </a:prstGeom>
          <a:solidFill>
            <a:srgbClr val="00446F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 date 4">
            <a:extLst>
              <a:ext uri="{FF2B5EF4-FFF2-40B4-BE49-F238E27FC236}">
                <a16:creationId xmlns:a16="http://schemas.microsoft.com/office/drawing/2014/main" id="{10E06447-AA87-44EB-91DA-C5D64EF94955}"/>
              </a:ext>
            </a:extLst>
          </p:cNvPr>
          <p:cNvSpPr>
            <a:spLocks noGrp="1"/>
          </p:cNvSpPr>
          <p:nvPr/>
        </p:nvSpPr>
        <p:spPr>
          <a:xfrm>
            <a:off x="73152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00446F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25" name="Step head 4">
            <a:extLst>
              <a:ext uri="{FF2B5EF4-FFF2-40B4-BE49-F238E27FC236}">
                <a16:creationId xmlns:a16="http://schemas.microsoft.com/office/drawing/2014/main" id="{972C2385-AD6C-440A-9BF2-B320F4456CE6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Agile</a:t>
            </a:r>
          </a:p>
        </p:txBody>
      </p:sp>
      <p:sp>
        <p:nvSpPr>
          <p:cNvPr id="26" name="Step desc 4">
            <a:extLst>
              <a:ext uri="{FF2B5EF4-FFF2-40B4-BE49-F238E27FC236}">
                <a16:creationId xmlns:a16="http://schemas.microsoft.com/office/drawing/2014/main" id="{DF60AAEB-8953-476D-9C4C-3316CDAE0B07}"/>
              </a:ext>
            </a:extLst>
          </p:cNvPr>
          <p:cNvSpPr>
            <a:spLocks noGrp="1"/>
          </p:cNvSpPr>
          <p:nvPr/>
        </p:nvSpPr>
        <p:spPr>
          <a:xfrm>
            <a:off x="73152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Work moves in small batches.</a:t>
            </a:r>
          </a:p>
        </p:txBody>
      </p:sp>
      <p:sp>
        <p:nvSpPr>
          <p:cNvPr id="27" name="Step node 5">
            <a:extLst>
              <a:ext uri="{FF2B5EF4-FFF2-40B4-BE49-F238E27FC236}">
                <a16:creationId xmlns:a16="http://schemas.microsoft.com/office/drawing/2014/main" id="{9B0C406E-25B8-4EF8-A86D-14EE47400AB7}"/>
              </a:ext>
            </a:extLst>
          </p:cNvPr>
          <p:cNvSpPr>
            <a:spLocks noGrp="1"/>
          </p:cNvSpPr>
          <p:nvPr/>
        </p:nvSpPr>
        <p:spPr>
          <a:xfrm>
            <a:off x="9563100" y="2495550"/>
            <a:ext cx="323850" cy="323850"/>
          </a:xfrm>
          <a:prstGeom prst="ellipse">
            <a:avLst/>
          </a:prstGeom>
          <a:solidFill>
            <a:srgbClr val="E86027"/>
          </a:solidFill>
          <a:ln w="28575">
            <a:solidFill>
              <a:srgbClr val="F8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ep date 5">
            <a:extLst>
              <a:ext uri="{FF2B5EF4-FFF2-40B4-BE49-F238E27FC236}">
                <a16:creationId xmlns:a16="http://schemas.microsoft.com/office/drawing/2014/main" id="{5DB32D24-96E8-45F8-AA70-72051FB4473E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defRPr>
            </a:pPr>
            <a:r>
              <a:rPr sz="975" b="1">
                <a:solidFill>
                  <a:srgbClr val="E86027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29" name="Step head 5">
            <a:extLst>
              <a:ext uri="{FF2B5EF4-FFF2-40B4-BE49-F238E27FC236}">
                <a16:creationId xmlns:a16="http://schemas.microsoft.com/office/drawing/2014/main" id="{3EB2130C-D535-4215-B5B5-6E85DDB08F09}"/>
              </a:ext>
            </a:extLst>
          </p:cNvPr>
          <p:cNvSpPr>
            <a:spLocks noGrp="1"/>
          </p:cNvSpPr>
          <p:nvPr/>
        </p:nvSpPr>
        <p:spPr>
          <a:xfrm>
            <a:off x="9525000" y="310515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650" b="1">
                <a:solidFill>
                  <a:srgbClr val="07090F"/>
                </a:solidFill>
                <a:latin typeface="Optima"/>
                <a:ea typeface="Optima"/>
                <a:cs typeface="Optima"/>
              </a:defRPr>
            </a:pPr>
            <a:r>
              <a:rPr sz="1650" b="1">
                <a:solidFill>
                  <a:srgbClr val="07090F"/>
                </a:solidFill>
                <a:latin typeface="Optima"/>
                <a:ea typeface="Optima"/>
                <a:cs typeface="Optima"/>
              </a:rPr>
              <a:t>Technical excellence</a:t>
            </a:r>
          </a:p>
        </p:txBody>
      </p:sp>
      <p:sp>
        <p:nvSpPr>
          <p:cNvPr id="30" name="Step desc 5">
            <a:extLst>
              <a:ext uri="{FF2B5EF4-FFF2-40B4-BE49-F238E27FC236}">
                <a16:creationId xmlns:a16="http://schemas.microsoft.com/office/drawing/2014/main" id="{8329A093-43FF-4329-AAFD-16E0DD295EDC}"/>
              </a:ext>
            </a:extLst>
          </p:cNvPr>
          <p:cNvSpPr>
            <a:spLocks noGrp="1"/>
          </p:cNvSpPr>
          <p:nvPr/>
        </p:nvSpPr>
        <p:spPr>
          <a:xfrm>
            <a:off x="9525000" y="37338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00">
                <a:solidFill>
                  <a:srgbClr val="6768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6869"/>
                </a:solidFill>
                <a:latin typeface="Inter"/>
                <a:ea typeface="Inter"/>
                <a:cs typeface="Inter"/>
              </a:rPr>
              <a:t>Reliable build, test, deployment, and recovery.</a:t>
            </a:r>
          </a:p>
        </p:txBody>
      </p:sp>
      <p:sp>
        <p:nvSpPr>
          <p:cNvPr id="31" name="Timeline lesson">
            <a:extLst>
              <a:ext uri="{FF2B5EF4-FFF2-40B4-BE49-F238E27FC236}">
                <a16:creationId xmlns:a16="http://schemas.microsoft.com/office/drawing/2014/main" id="{42A2ED21-7077-4917-A81B-5AD333391B8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33350" tIns="0" rIns="0" bIns="0" anchor="ctr">
            <a:noAutofit/>
          </a:bodyPr>
          <a:lstStyle/>
          <a:p>
            <a:pPr algn="l">
              <a:buNone/>
              <a:defRPr sz="1950">
                <a:solidFill>
                  <a:srgbClr val="00446F"/>
                </a:solidFill>
                <a:latin typeface="Optima"/>
                <a:ea typeface="Optima"/>
                <a:cs typeface="Optima"/>
              </a:defRPr>
            </a:pPr>
            <a:r>
              <a:rPr sz="1950">
                <a:solidFill>
                  <a:srgbClr val="00446F"/>
                </a:solidFill>
                <a:latin typeface="Optima"/>
                <a:ea typeface="Optima"/>
                <a:cs typeface="Optima"/>
              </a:rPr>
              <a:t>Each layer depends on the disciplines below it.</a:t>
            </a:r>
          </a:p>
        </p:txBody>
      </p:sp>
      <p:sp>
        <p:nvSpPr>
          <p:cNvPr id="32" name="Lesson accent">
            <a:extLst>
              <a:ext uri="{FF2B5EF4-FFF2-40B4-BE49-F238E27FC236}">
                <a16:creationId xmlns:a16="http://schemas.microsoft.com/office/drawing/2014/main" id="{2068FAC1-7448-4377-A302-062AB48DC24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47625" cy="714375"/>
          </a:xfrm>
          <a:prstGeom prst="rect">
            <a:avLst/>
          </a:prstGeom>
          <a:solidFill>
            <a:srgbClr val="E860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3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4200</Words>
  <Application>Microsoft Macintosh PowerPoint</Application>
  <DocSecurity>0</DocSecurity>
  <PresentationFormat>Widescreen</PresentationFormat>
  <Paragraphs>636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Fira Code</vt:lpstr>
      <vt:lpstr>Inter</vt:lpstr>
      <vt:lpstr>Optima</vt:lpstr>
      <vt:lpstr>Sofia Sans Extra Condensed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Ted Tschopp</cp:lastModifiedBy>
  <cp:revision>2</cp:revision>
  <dcterms:created xsi:type="dcterms:W3CDTF">2026-08-13T15:02:25Z</dcterms:created>
  <dcterms:modified xsi:type="dcterms:W3CDTF">2026-08-13T15:54:36Z</dcterms:modified>
</cp:coreProperties>
</file>